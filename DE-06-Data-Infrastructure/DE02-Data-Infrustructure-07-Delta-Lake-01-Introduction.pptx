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2" r:id="rId1"/>
  </p:sldMasterIdLst>
  <p:notesMasterIdLst>
    <p:notesMasterId r:id="rId44"/>
  </p:notesMasterIdLst>
  <p:sldIdLst>
    <p:sldId id="256" r:id="rId2"/>
    <p:sldId id="352" r:id="rId3"/>
    <p:sldId id="401" r:id="rId4"/>
    <p:sldId id="442" r:id="rId5"/>
    <p:sldId id="443" r:id="rId6"/>
    <p:sldId id="445" r:id="rId7"/>
    <p:sldId id="388" r:id="rId8"/>
    <p:sldId id="337" r:id="rId9"/>
    <p:sldId id="402" r:id="rId10"/>
    <p:sldId id="404" r:id="rId11"/>
    <p:sldId id="410" r:id="rId12"/>
    <p:sldId id="425" r:id="rId13"/>
    <p:sldId id="431" r:id="rId14"/>
    <p:sldId id="405" r:id="rId15"/>
    <p:sldId id="406" r:id="rId16"/>
    <p:sldId id="420" r:id="rId17"/>
    <p:sldId id="419" r:id="rId18"/>
    <p:sldId id="428" r:id="rId19"/>
    <p:sldId id="427" r:id="rId20"/>
    <p:sldId id="418" r:id="rId21"/>
    <p:sldId id="422" r:id="rId22"/>
    <p:sldId id="430" r:id="rId23"/>
    <p:sldId id="417" r:id="rId24"/>
    <p:sldId id="421" r:id="rId25"/>
    <p:sldId id="423" r:id="rId26"/>
    <p:sldId id="429" r:id="rId27"/>
    <p:sldId id="432" r:id="rId28"/>
    <p:sldId id="440" r:id="rId29"/>
    <p:sldId id="433" r:id="rId30"/>
    <p:sldId id="434" r:id="rId31"/>
    <p:sldId id="438" r:id="rId32"/>
    <p:sldId id="435" r:id="rId33"/>
    <p:sldId id="444" r:id="rId34"/>
    <p:sldId id="437" r:id="rId35"/>
    <p:sldId id="436" r:id="rId36"/>
    <p:sldId id="415" r:id="rId37"/>
    <p:sldId id="416" r:id="rId38"/>
    <p:sldId id="439" r:id="rId39"/>
    <p:sldId id="407" r:id="rId40"/>
    <p:sldId id="441" r:id="rId41"/>
    <p:sldId id="403" r:id="rId42"/>
    <p:sldId id="356" r:id="rId43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813" autoAdjust="0"/>
    <p:restoredTop sz="71362" autoAdjust="0"/>
  </p:normalViewPr>
  <p:slideViewPr>
    <p:cSldViewPr>
      <p:cViewPr varScale="1">
        <p:scale>
          <a:sx n="168" d="100"/>
          <a:sy n="168" d="100"/>
        </p:scale>
        <p:origin x="200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25B3A00F-F8A9-B8DD-43A6-98F3665466C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6859F83C-8D8A-EE3B-3393-1972B211DAE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B2211BD4-1332-8324-CAF2-4236E230EEC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0965" name="Rectangle 5">
            <a:extLst>
              <a:ext uri="{FF2B5EF4-FFF2-40B4-BE49-F238E27FC236}">
                <a16:creationId xmlns:a16="http://schemas.microsoft.com/office/drawing/2014/main" id="{9D503056-15F8-20D4-494E-9CF020D907A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40966" name="Rectangle 6">
            <a:extLst>
              <a:ext uri="{FF2B5EF4-FFF2-40B4-BE49-F238E27FC236}">
                <a16:creationId xmlns:a16="http://schemas.microsoft.com/office/drawing/2014/main" id="{DF69935F-63F3-1CC7-7448-639F96E9F0C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967" name="Rectangle 7">
            <a:extLst>
              <a:ext uri="{FF2B5EF4-FFF2-40B4-BE49-F238E27FC236}">
                <a16:creationId xmlns:a16="http://schemas.microsoft.com/office/drawing/2014/main" id="{CE8128F0-4C3E-ADCD-D47C-5C3E06874E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2F69CD7-781D-CD44-A39C-4BB5881CCE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1CAB3484-8549-FE71-291B-74D47B6F90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95FCB614-B530-9A46-9789-8021002BC741}" type="slidenum"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ED6CDFE8-F7DC-60E9-D4B2-0C8C6C9909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6A8A9E10-6451-F2FF-61A9-D74DCEB126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Notes for title slide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3">
            <a:extLst>
              <a:ext uri="{FF2B5EF4-FFF2-40B4-BE49-F238E27FC236}">
                <a16:creationId xmlns:a16="http://schemas.microsoft.com/office/drawing/2014/main" id="{15AD8771-D86C-1558-E96A-DDA2D46495F6}"/>
              </a:ext>
            </a:extLst>
          </p:cNvPr>
          <p:cNvSpPr>
            <a:spLocks/>
          </p:cNvSpPr>
          <p:nvPr/>
        </p:nvSpPr>
        <p:spPr bwMode="auto">
          <a:xfrm>
            <a:off x="-31750" y="4321175"/>
            <a:ext cx="1395413" cy="781050"/>
          </a:xfrm>
          <a:custGeom>
            <a:avLst/>
            <a:gdLst>
              <a:gd name="T0" fmla="*/ 2147483646 w 8042"/>
              <a:gd name="T1" fmla="*/ 2147483646 h 10000"/>
              <a:gd name="T2" fmla="*/ 2147483646 w 8042"/>
              <a:gd name="T3" fmla="*/ 2147483646 h 10000"/>
              <a:gd name="T4" fmla="*/ 2147483646 w 8042"/>
              <a:gd name="T5" fmla="*/ 2147483646 h 10000"/>
              <a:gd name="T6" fmla="*/ 2147483646 w 8042"/>
              <a:gd name="T7" fmla="*/ 2147483646 h 10000"/>
              <a:gd name="T8" fmla="*/ 2147483646 w 8042"/>
              <a:gd name="T9" fmla="*/ 2147483646 h 10000"/>
              <a:gd name="T10" fmla="*/ 2147483646 w 8042"/>
              <a:gd name="T11" fmla="*/ 2147483646 h 10000"/>
              <a:gd name="T12" fmla="*/ 2147483646 w 8042"/>
              <a:gd name="T13" fmla="*/ 2147483646 h 10000"/>
              <a:gd name="T14" fmla="*/ 2147483646 w 8042"/>
              <a:gd name="T15" fmla="*/ 2147483646 h 10000"/>
              <a:gd name="T16" fmla="*/ 2147483646 w 8042"/>
              <a:gd name="T17" fmla="*/ 0 h 10000"/>
              <a:gd name="T18" fmla="*/ 0 w 8042"/>
              <a:gd name="T19" fmla="*/ 2147483646 h 10000"/>
              <a:gd name="T20" fmla="*/ 2147483646 w 8042"/>
              <a:gd name="T21" fmla="*/ 2147483646 h 100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5A00017-4023-5CED-29AC-3550A0351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B2E4571-524C-94A6-AB75-D550D9EC2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F0507E5-AE96-7EEB-88EB-8E0E90E93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4529138"/>
            <a:ext cx="584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A50E9A-9CEF-1E4E-889A-63E563B3EF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1189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288F7671-5D25-E308-92DD-F4403C53B398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0A9BFEE-89C3-3A52-7B2B-C35D3C411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7E760F-39D6-2123-DACF-90CCB6011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B5B6678-7A13-87F2-159C-F6C80544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E7298E-056C-9C4E-874F-B5D368316F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8937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436651B8-60FD-65A2-EFFD-E843722AE835}"/>
              </a:ext>
            </a:extLst>
          </p:cNvPr>
          <p:cNvSpPr>
            <a:spLocks/>
          </p:cNvSpPr>
          <p:nvPr/>
        </p:nvSpPr>
        <p:spPr bwMode="auto">
          <a:xfrm flipV="1">
            <a:off x="0" y="3167063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DCFBDDB-36F6-498B-F627-B411804F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2984E59-ADDC-674D-5A35-847CDA600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6C82CA-D7A8-A48D-2F07-115A1AB45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175" y="3244850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A5ECA6-1B7B-874B-A936-86D990DCCA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5867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18165DE8-8AD1-51A6-13E2-F92EED277870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A5425-24C1-B357-C1C9-5798C8F39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67F47-7EE0-26D3-6298-C4EFF584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BFA3714-C0C1-EBA1-262B-543DE147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25037F-4EA1-A546-85E9-699C3F5EBB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4141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C7A39835-0896-65F1-6C82-66838C8D9B2A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73D159-6DB3-1C62-279E-BC21BEDA2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4AF2E7-3CFB-8FD6-1B9C-B694D3471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DC37E13-A4A9-C6BE-671A-67AF52FFA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11AA2B-1181-0248-AADF-A236DF3E62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9696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7E5CCCD1-6D34-DAD8-AEC2-4545A4AC7188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E114B31-C1A7-F772-E456-DFBD83840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BB47AB3-3ADF-F34D-3794-D51B9F029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52A2680E-5C55-2CFA-5309-E24910A09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F1E50F-B5A3-034B-82CF-599479501A8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5609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2AD86483-220E-F743-1FAC-37EE432D7D9A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AA54A30E-1011-158F-A171-F0E33313F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38177BB3-77B1-B8CF-25AA-4E1D4AAF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701F796-06FD-D9F1-BC8A-94A9C5FFB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A57ED1-2E37-B84A-88F6-8746634792E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0132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>
            <a:extLst>
              <a:ext uri="{FF2B5EF4-FFF2-40B4-BE49-F238E27FC236}">
                <a16:creationId xmlns:a16="http://schemas.microsoft.com/office/drawing/2014/main" id="{D2AC32D7-4AA1-F48A-90FC-15320E6D8A49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977D361D-9BD4-26A1-0F7C-C19CBCFAB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E8A5B31B-D1A7-106F-8345-7534D9B00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585E06BC-18B7-474B-9D0C-5B79B0658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B92A7A-23C7-FB44-8CE5-C1C242FC7A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8734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>
            <a:extLst>
              <a:ext uri="{FF2B5EF4-FFF2-40B4-BE49-F238E27FC236}">
                <a16:creationId xmlns:a16="http://schemas.microsoft.com/office/drawing/2014/main" id="{D7A8E882-7338-4CFA-3205-1C72AC535C34}"/>
              </a:ext>
            </a:extLst>
          </p:cNvPr>
          <p:cNvSpPr>
            <a:spLocks/>
          </p:cNvSpPr>
          <p:nvPr/>
        </p:nvSpPr>
        <p:spPr bwMode="auto">
          <a:xfrm flipV="1">
            <a:off x="0" y="4910138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8F8443BC-08CF-0EB1-278C-EE4A5E252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51AA6B8A-7B77-66D1-74A6-05FE38B8D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91E22D99-7764-49B8-B4FE-0E4C2DA46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175" y="4983163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2ED3E7-CC74-2F41-A431-FB93138DCC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4267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30A3F5F6-E412-E304-E422-B1EBD1554562}"/>
              </a:ext>
            </a:extLst>
          </p:cNvPr>
          <p:cNvSpPr>
            <a:spLocks/>
          </p:cNvSpPr>
          <p:nvPr/>
        </p:nvSpPr>
        <p:spPr bwMode="auto">
          <a:xfrm flipV="1">
            <a:off x="0" y="3167063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88FA50E-7636-84F6-7F25-9E2AB8672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12D747C-A85D-BCC2-8A00-D96B23F2B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DEDC538-11F0-14F6-3C4F-C7B3EFEA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175" y="3244850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C34F13-D1C4-B743-BF89-099BA07C79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4839249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C5709DD1-AB8B-97AA-7402-A9C5E812DC03}"/>
              </a:ext>
            </a:extLst>
          </p:cNvPr>
          <p:cNvSpPr>
            <a:spLocks/>
          </p:cNvSpPr>
          <p:nvPr/>
        </p:nvSpPr>
        <p:spPr bwMode="auto">
          <a:xfrm flipV="1">
            <a:off x="0" y="3167063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CD498A-F730-F1DA-0EB4-0B929213E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8163" y="647700"/>
            <a:ext cx="457200" cy="5857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</a:rPr>
              <a:t>“</a:t>
            </a:r>
          </a:p>
        </p:txBody>
      </p:sp>
      <p:sp>
        <p:nvSpPr>
          <p:cNvPr id="6" name="TextBox 62">
            <a:extLst>
              <a:ext uri="{FF2B5EF4-FFF2-40B4-BE49-F238E27FC236}">
                <a16:creationId xmlns:a16="http://schemas.microsoft.com/office/drawing/2014/main" id="{667DAE39-B9B8-B800-D41C-CCF61E0F3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9275" y="2905125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FFB9E6B-665F-EA66-02F0-6384B87E16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048BE39-905A-7927-A3E0-6B0A9018099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4AD7407-93F4-51C7-0B21-A4662E4977A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11175" y="3244850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2D0091-C18B-7641-B7A1-2D83D6886F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8246139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2F4CCD67-18B0-DE89-919E-0B663EB1FD48}"/>
              </a:ext>
            </a:extLst>
          </p:cNvPr>
          <p:cNvSpPr>
            <a:spLocks/>
          </p:cNvSpPr>
          <p:nvPr/>
        </p:nvSpPr>
        <p:spPr bwMode="auto">
          <a:xfrm flipV="1">
            <a:off x="0" y="4910138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21557B-F124-EFBF-22F3-6DB0D62FF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B72C7-CD27-8AAC-73EF-356CE3D13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A37C1E-B6EC-8F86-7B7E-66651AB27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175" y="4983163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F944F7-71B2-7E48-9C10-52EF99C323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6999627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75D47D4E-4230-8172-2DB7-168748026C52}"/>
              </a:ext>
            </a:extLst>
          </p:cNvPr>
          <p:cNvSpPr>
            <a:spLocks/>
          </p:cNvSpPr>
          <p:nvPr/>
        </p:nvSpPr>
        <p:spPr bwMode="auto">
          <a:xfrm flipV="1">
            <a:off x="0" y="4910138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15AB3E-A9D4-EA94-4F7D-7DA6BD3C0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8163" y="647700"/>
            <a:ext cx="457200" cy="58578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</a:rPr>
              <a:t>“</a:t>
            </a:r>
          </a:p>
        </p:txBody>
      </p:sp>
      <p:sp>
        <p:nvSpPr>
          <p:cNvPr id="5" name="TextBox 62">
            <a:extLst>
              <a:ext uri="{FF2B5EF4-FFF2-40B4-BE49-F238E27FC236}">
                <a16:creationId xmlns:a16="http://schemas.microsoft.com/office/drawing/2014/main" id="{D11C54F5-4958-08D8-C994-EC194620A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9275" y="2905125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</a:rPr>
              <a:t>”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C9C3486D-AFCD-7AF8-E914-062D8D08C95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0A74468D-7AD4-C844-D7EB-A2886D037FF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F56003BA-4112-4929-02D2-EA0B2B7141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11175" y="4983163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D286AB-A613-B84C-B469-FC1DB5D45C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1126636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F689B294-8F97-ABED-7FCF-3218072B8C54}"/>
              </a:ext>
            </a:extLst>
          </p:cNvPr>
          <p:cNvSpPr>
            <a:spLocks/>
          </p:cNvSpPr>
          <p:nvPr/>
        </p:nvSpPr>
        <p:spPr bwMode="auto">
          <a:xfrm flipV="1">
            <a:off x="0" y="4910138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415AF-D639-14CD-43F7-507664285B1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DC213-A1AC-4C2F-0D1B-6802CDAA48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F29E4-1C3E-B190-D7AC-C1F07AF2A5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11175" y="4983163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E369C9-2271-4945-9251-3D7F226C2C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5677586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93822C34-F31C-5CC8-F8CC-689C83A79798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53F6D47-E9B4-6FC7-7BFE-2EB2C6D10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D4676BC-9673-D9CF-2698-EA3035615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801BEE-3D2B-6161-D066-64ED692ED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3C952A-F765-4B4D-9F23-B74A527DCB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73041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EDE8A87A-0DD3-682C-FEB6-668584EFF131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CB311F7-56F7-5183-BC72-F4B695991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78752F9-4A92-37C1-9727-BAE36241E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355E0E8-2825-BAA3-BD88-2994682A1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1C8F46-BDCA-F349-A27A-11710374CCF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1355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5">
            <a:extLst>
              <a:ext uri="{FF2B5EF4-FFF2-40B4-BE49-F238E27FC236}">
                <a16:creationId xmlns:a16="http://schemas.microsoft.com/office/drawing/2014/main" id="{322E0054-98B0-AE8B-5FEC-EDAE07AA6EAD}"/>
              </a:ext>
            </a:extLst>
          </p:cNvPr>
          <p:cNvGrpSpPr>
            <a:grpSpLocks/>
          </p:cNvGrpSpPr>
          <p:nvPr/>
        </p:nvGrpSpPr>
        <p:grpSpPr bwMode="auto"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046" name="Freeform 11">
              <a:extLst>
                <a:ext uri="{FF2B5EF4-FFF2-40B4-BE49-F238E27FC236}">
                  <a16:creationId xmlns:a16="http://schemas.microsoft.com/office/drawing/2014/main" id="{1170728A-C192-6AF9-6451-EB0739D66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>
                <a:gd name="T0" fmla="*/ 2147483646 w 22"/>
                <a:gd name="T1" fmla="*/ 2147483646 h 136"/>
                <a:gd name="T2" fmla="*/ 2147483646 w 22"/>
                <a:gd name="T3" fmla="*/ 2147483646 h 136"/>
                <a:gd name="T4" fmla="*/ 0 w 22"/>
                <a:gd name="T5" fmla="*/ 0 h 136"/>
                <a:gd name="T6" fmla="*/ 0 w 22"/>
                <a:gd name="T7" fmla="*/ 2147483646 h 136"/>
                <a:gd name="T8" fmla="*/ 2147483646 w 22"/>
                <a:gd name="T9" fmla="*/ 2147483646 h 136"/>
                <a:gd name="T10" fmla="*/ 2147483646 w 22"/>
                <a:gd name="T11" fmla="*/ 2147483646 h 1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7" name="Freeform 12">
              <a:extLst>
                <a:ext uri="{FF2B5EF4-FFF2-40B4-BE49-F238E27FC236}">
                  <a16:creationId xmlns:a16="http://schemas.microsoft.com/office/drawing/2014/main" id="{F35CA695-F24E-E47A-4E8B-72FBD0E86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>
                <a:gd name="T0" fmla="*/ 2147483646 w 140"/>
                <a:gd name="T1" fmla="*/ 2147483646 h 504"/>
                <a:gd name="T2" fmla="*/ 2147483646 w 140"/>
                <a:gd name="T3" fmla="*/ 2147483646 h 504"/>
                <a:gd name="T4" fmla="*/ 2147483646 w 140"/>
                <a:gd name="T5" fmla="*/ 2147483646 h 504"/>
                <a:gd name="T6" fmla="*/ 2147483646 w 140"/>
                <a:gd name="T7" fmla="*/ 2147483646 h 504"/>
                <a:gd name="T8" fmla="*/ 0 w 140"/>
                <a:gd name="T9" fmla="*/ 0 h 504"/>
                <a:gd name="T10" fmla="*/ 2147483646 w 140"/>
                <a:gd name="T11" fmla="*/ 2147483646 h 504"/>
                <a:gd name="T12" fmla="*/ 2147483646 w 140"/>
                <a:gd name="T13" fmla="*/ 2147483646 h 5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8" name="Freeform 13">
              <a:extLst>
                <a:ext uri="{FF2B5EF4-FFF2-40B4-BE49-F238E27FC236}">
                  <a16:creationId xmlns:a16="http://schemas.microsoft.com/office/drawing/2014/main" id="{A91C7D58-BAE1-060B-43B7-0EB399302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>
                <a:gd name="T0" fmla="*/ 2147483646 w 132"/>
                <a:gd name="T1" fmla="*/ 2147483646 h 308"/>
                <a:gd name="T2" fmla="*/ 0 w 132"/>
                <a:gd name="T3" fmla="*/ 0 h 308"/>
                <a:gd name="T4" fmla="*/ 0 w 132"/>
                <a:gd name="T5" fmla="*/ 2147483646 h 308"/>
                <a:gd name="T6" fmla="*/ 2147483646 w 132"/>
                <a:gd name="T7" fmla="*/ 2147483646 h 308"/>
                <a:gd name="T8" fmla="*/ 2147483646 w 132"/>
                <a:gd name="T9" fmla="*/ 2147483646 h 308"/>
                <a:gd name="T10" fmla="*/ 2147483646 w 132"/>
                <a:gd name="T11" fmla="*/ 2147483646 h 308"/>
                <a:gd name="T12" fmla="*/ 2147483646 w 132"/>
                <a:gd name="T13" fmla="*/ 2147483646 h 308"/>
                <a:gd name="T14" fmla="*/ 2147483646 w 132"/>
                <a:gd name="T15" fmla="*/ 2147483646 h 30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9" name="Freeform 14">
              <a:extLst>
                <a:ext uri="{FF2B5EF4-FFF2-40B4-BE49-F238E27FC236}">
                  <a16:creationId xmlns:a16="http://schemas.microsoft.com/office/drawing/2014/main" id="{116D91B6-1D96-6F60-5604-3C935B5ED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>
                <a:gd name="T0" fmla="*/ 2147483646 w 37"/>
                <a:gd name="T1" fmla="*/ 2147483646 h 79"/>
                <a:gd name="T2" fmla="*/ 2147483646 w 37"/>
                <a:gd name="T3" fmla="*/ 2147483646 h 79"/>
                <a:gd name="T4" fmla="*/ 0 w 37"/>
                <a:gd name="T5" fmla="*/ 0 h 79"/>
                <a:gd name="T6" fmla="*/ 2147483646 w 37"/>
                <a:gd name="T7" fmla="*/ 2147483646 h 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0" name="Freeform 15">
              <a:extLst>
                <a:ext uri="{FF2B5EF4-FFF2-40B4-BE49-F238E27FC236}">
                  <a16:creationId xmlns:a16="http://schemas.microsoft.com/office/drawing/2014/main" id="{B8060E9C-917B-69CB-D2A2-FC0FC7D538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>
                <a:gd name="T0" fmla="*/ 2147483646 w 178"/>
                <a:gd name="T1" fmla="*/ 2147483646 h 722"/>
                <a:gd name="T2" fmla="*/ 2147483646 w 178"/>
                <a:gd name="T3" fmla="*/ 2147483646 h 722"/>
                <a:gd name="T4" fmla="*/ 2147483646 w 178"/>
                <a:gd name="T5" fmla="*/ 2147483646 h 722"/>
                <a:gd name="T6" fmla="*/ 2147483646 w 178"/>
                <a:gd name="T7" fmla="*/ 2147483646 h 722"/>
                <a:gd name="T8" fmla="*/ 0 w 178"/>
                <a:gd name="T9" fmla="*/ 0 h 722"/>
                <a:gd name="T10" fmla="*/ 2147483646 w 178"/>
                <a:gd name="T11" fmla="*/ 2147483646 h 722"/>
                <a:gd name="T12" fmla="*/ 2147483646 w 178"/>
                <a:gd name="T13" fmla="*/ 2147483646 h 722"/>
                <a:gd name="T14" fmla="*/ 2147483646 w 178"/>
                <a:gd name="T15" fmla="*/ 2147483646 h 722"/>
                <a:gd name="T16" fmla="*/ 2147483646 w 178"/>
                <a:gd name="T17" fmla="*/ 2147483646 h 722"/>
                <a:gd name="T18" fmla="*/ 2147483646 w 178"/>
                <a:gd name="T19" fmla="*/ 2147483646 h 722"/>
                <a:gd name="T20" fmla="*/ 2147483646 w 178"/>
                <a:gd name="T21" fmla="*/ 2147483646 h 7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1" name="Freeform 16">
              <a:extLst>
                <a:ext uri="{FF2B5EF4-FFF2-40B4-BE49-F238E27FC236}">
                  <a16:creationId xmlns:a16="http://schemas.microsoft.com/office/drawing/2014/main" id="{795DE7A4-27F1-5623-0B93-319EADE06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>
                <a:gd name="T0" fmla="*/ 2147483646 w 23"/>
                <a:gd name="T1" fmla="*/ 2147483646 h 635"/>
                <a:gd name="T2" fmla="*/ 2147483646 w 23"/>
                <a:gd name="T3" fmla="*/ 2147483646 h 635"/>
                <a:gd name="T4" fmla="*/ 2147483646 w 23"/>
                <a:gd name="T5" fmla="*/ 2147483646 h 635"/>
                <a:gd name="T6" fmla="*/ 2147483646 w 23"/>
                <a:gd name="T7" fmla="*/ 2147483646 h 635"/>
                <a:gd name="T8" fmla="*/ 2147483646 w 23"/>
                <a:gd name="T9" fmla="*/ 2147483646 h 635"/>
                <a:gd name="T10" fmla="*/ 2147483646 w 23"/>
                <a:gd name="T11" fmla="*/ 2147483646 h 635"/>
                <a:gd name="T12" fmla="*/ 2147483646 w 23"/>
                <a:gd name="T13" fmla="*/ 0 h 635"/>
                <a:gd name="T14" fmla="*/ 2147483646 w 23"/>
                <a:gd name="T15" fmla="*/ 0 h 635"/>
                <a:gd name="T16" fmla="*/ 2147483646 w 23"/>
                <a:gd name="T17" fmla="*/ 2147483646 h 635"/>
                <a:gd name="T18" fmla="*/ 2147483646 w 23"/>
                <a:gd name="T19" fmla="*/ 2147483646 h 6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2" name="Freeform 17">
              <a:extLst>
                <a:ext uri="{FF2B5EF4-FFF2-40B4-BE49-F238E27FC236}">
                  <a16:creationId xmlns:a16="http://schemas.microsoft.com/office/drawing/2014/main" id="{D76A1613-30E5-039B-86FB-317FAA4A2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>
                <a:gd name="T0" fmla="*/ 0 w 17"/>
                <a:gd name="T1" fmla="*/ 0 h 107"/>
                <a:gd name="T2" fmla="*/ 2147483646 w 17"/>
                <a:gd name="T3" fmla="*/ 2147483646 h 107"/>
                <a:gd name="T4" fmla="*/ 2147483646 w 17"/>
                <a:gd name="T5" fmla="*/ 2147483646 h 107"/>
                <a:gd name="T6" fmla="*/ 2147483646 w 17"/>
                <a:gd name="T7" fmla="*/ 2147483646 h 107"/>
                <a:gd name="T8" fmla="*/ 2147483646 w 17"/>
                <a:gd name="T9" fmla="*/ 2147483646 h 107"/>
                <a:gd name="T10" fmla="*/ 0 w 17"/>
                <a:gd name="T11" fmla="*/ 0 h 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3" name="Freeform 18">
              <a:extLst>
                <a:ext uri="{FF2B5EF4-FFF2-40B4-BE49-F238E27FC236}">
                  <a16:creationId xmlns:a16="http://schemas.microsoft.com/office/drawing/2014/main" id="{6C7DB79B-F04B-A3C3-C5A7-D3050705A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>
                <a:gd name="T0" fmla="*/ 0 w 41"/>
                <a:gd name="T1" fmla="*/ 0 h 222"/>
                <a:gd name="T2" fmla="*/ 2147483646 w 41"/>
                <a:gd name="T3" fmla="*/ 2147483646 h 222"/>
                <a:gd name="T4" fmla="*/ 2147483646 w 41"/>
                <a:gd name="T5" fmla="*/ 2147483646 h 222"/>
                <a:gd name="T6" fmla="*/ 2147483646 w 41"/>
                <a:gd name="T7" fmla="*/ 2147483646 h 222"/>
                <a:gd name="T8" fmla="*/ 2147483646 w 41"/>
                <a:gd name="T9" fmla="*/ 2147483646 h 222"/>
                <a:gd name="T10" fmla="*/ 2147483646 w 41"/>
                <a:gd name="T11" fmla="*/ 2147483646 h 222"/>
                <a:gd name="T12" fmla="*/ 2147483646 w 41"/>
                <a:gd name="T13" fmla="*/ 2147483646 h 222"/>
                <a:gd name="T14" fmla="*/ 2147483646 w 41"/>
                <a:gd name="T15" fmla="*/ 2147483646 h 222"/>
                <a:gd name="T16" fmla="*/ 2147483646 w 41"/>
                <a:gd name="T17" fmla="*/ 2147483646 h 222"/>
                <a:gd name="T18" fmla="*/ 0 w 41"/>
                <a:gd name="T19" fmla="*/ 0 h 2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4" name="Freeform 19">
              <a:extLst>
                <a:ext uri="{FF2B5EF4-FFF2-40B4-BE49-F238E27FC236}">
                  <a16:creationId xmlns:a16="http://schemas.microsoft.com/office/drawing/2014/main" id="{8A9E7700-8437-662A-2F21-B38199A05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>
                <a:gd name="T0" fmla="*/ 2147483646 w 450"/>
                <a:gd name="T1" fmla="*/ 2147483646 h 878"/>
                <a:gd name="T2" fmla="*/ 2147483646 w 450"/>
                <a:gd name="T3" fmla="*/ 2147483646 h 878"/>
                <a:gd name="T4" fmla="*/ 2147483646 w 450"/>
                <a:gd name="T5" fmla="*/ 2147483646 h 878"/>
                <a:gd name="T6" fmla="*/ 2147483646 w 450"/>
                <a:gd name="T7" fmla="*/ 2147483646 h 878"/>
                <a:gd name="T8" fmla="*/ 2147483646 w 450"/>
                <a:gd name="T9" fmla="*/ 2147483646 h 878"/>
                <a:gd name="T10" fmla="*/ 2147483646 w 450"/>
                <a:gd name="T11" fmla="*/ 2147483646 h 878"/>
                <a:gd name="T12" fmla="*/ 2147483646 w 450"/>
                <a:gd name="T13" fmla="*/ 2147483646 h 878"/>
                <a:gd name="T14" fmla="*/ 2147483646 w 450"/>
                <a:gd name="T15" fmla="*/ 0 h 878"/>
                <a:gd name="T16" fmla="*/ 2147483646 w 450"/>
                <a:gd name="T17" fmla="*/ 2147483646 h 878"/>
                <a:gd name="T18" fmla="*/ 2147483646 w 450"/>
                <a:gd name="T19" fmla="*/ 2147483646 h 878"/>
                <a:gd name="T20" fmla="*/ 2147483646 w 450"/>
                <a:gd name="T21" fmla="*/ 2147483646 h 878"/>
                <a:gd name="T22" fmla="*/ 2147483646 w 450"/>
                <a:gd name="T23" fmla="*/ 2147483646 h 878"/>
                <a:gd name="T24" fmla="*/ 2147483646 w 450"/>
                <a:gd name="T25" fmla="*/ 2147483646 h 878"/>
                <a:gd name="T26" fmla="*/ 0 w 450"/>
                <a:gd name="T27" fmla="*/ 2147483646 h 878"/>
                <a:gd name="T28" fmla="*/ 0 w 450"/>
                <a:gd name="T29" fmla="*/ 2147483646 h 878"/>
                <a:gd name="T30" fmla="*/ 2147483646 w 450"/>
                <a:gd name="T31" fmla="*/ 2147483646 h 878"/>
                <a:gd name="T32" fmla="*/ 2147483646 w 450"/>
                <a:gd name="T33" fmla="*/ 2147483646 h 87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5" name="Freeform 20">
              <a:extLst>
                <a:ext uri="{FF2B5EF4-FFF2-40B4-BE49-F238E27FC236}">
                  <a16:creationId xmlns:a16="http://schemas.microsoft.com/office/drawing/2014/main" id="{7773D77B-C7AC-2CB8-260F-30BFE0E219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>
                <a:gd name="T0" fmla="*/ 0 w 35"/>
                <a:gd name="T1" fmla="*/ 0 h 73"/>
                <a:gd name="T2" fmla="*/ 2147483646 w 35"/>
                <a:gd name="T3" fmla="*/ 2147483646 h 73"/>
                <a:gd name="T4" fmla="*/ 2147483646 w 35"/>
                <a:gd name="T5" fmla="*/ 2147483646 h 73"/>
                <a:gd name="T6" fmla="*/ 0 w 35"/>
                <a:gd name="T7" fmla="*/ 0 h 7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6" name="Freeform 21">
              <a:extLst>
                <a:ext uri="{FF2B5EF4-FFF2-40B4-BE49-F238E27FC236}">
                  <a16:creationId xmlns:a16="http://schemas.microsoft.com/office/drawing/2014/main" id="{77232249-B27D-B97B-15C6-CCB641A884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>
                <a:gd name="T0" fmla="*/ 2147483646 w 8"/>
                <a:gd name="T1" fmla="*/ 2147483646 h 48"/>
                <a:gd name="T2" fmla="*/ 2147483646 w 8"/>
                <a:gd name="T3" fmla="*/ 2147483646 h 48"/>
                <a:gd name="T4" fmla="*/ 2147483646 w 8"/>
                <a:gd name="T5" fmla="*/ 2147483646 h 48"/>
                <a:gd name="T6" fmla="*/ 2147483646 w 8"/>
                <a:gd name="T7" fmla="*/ 0 h 48"/>
                <a:gd name="T8" fmla="*/ 0 w 8"/>
                <a:gd name="T9" fmla="*/ 2147483646 h 48"/>
                <a:gd name="T10" fmla="*/ 2147483646 w 8"/>
                <a:gd name="T11" fmla="*/ 2147483646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7" name="Freeform 22">
              <a:extLst>
                <a:ext uri="{FF2B5EF4-FFF2-40B4-BE49-F238E27FC236}">
                  <a16:creationId xmlns:a16="http://schemas.microsoft.com/office/drawing/2014/main" id="{728CB0BC-4F63-EBCC-2CF1-2AA037E82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>
                <a:gd name="T0" fmla="*/ 2147483646 w 52"/>
                <a:gd name="T1" fmla="*/ 2147483646 h 135"/>
                <a:gd name="T2" fmla="*/ 0 w 52"/>
                <a:gd name="T3" fmla="*/ 0 h 135"/>
                <a:gd name="T4" fmla="*/ 2147483646 w 52"/>
                <a:gd name="T5" fmla="*/ 2147483646 h 135"/>
                <a:gd name="T6" fmla="*/ 2147483646 w 52"/>
                <a:gd name="T7" fmla="*/ 2147483646 h 135"/>
                <a:gd name="T8" fmla="*/ 2147483646 w 52"/>
                <a:gd name="T9" fmla="*/ 2147483646 h 135"/>
                <a:gd name="T10" fmla="*/ 2147483646 w 52"/>
                <a:gd name="T11" fmla="*/ 2147483646 h 135"/>
                <a:gd name="T12" fmla="*/ 2147483646 w 52"/>
                <a:gd name="T13" fmla="*/ 2147483646 h 135"/>
                <a:gd name="T14" fmla="*/ 2147483646 w 52"/>
                <a:gd name="T15" fmla="*/ 2147483646 h 1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7" name="Group 48">
            <a:extLst>
              <a:ext uri="{FF2B5EF4-FFF2-40B4-BE49-F238E27FC236}">
                <a16:creationId xmlns:a16="http://schemas.microsoft.com/office/drawing/2014/main" id="{E319B91A-0560-982D-5917-68DA5FE8A140}"/>
              </a:ext>
            </a:extLst>
          </p:cNvPr>
          <p:cNvGrpSpPr>
            <a:grpSpLocks/>
          </p:cNvGrpSpPr>
          <p:nvPr/>
        </p:nvGrpSpPr>
        <p:grpSpPr bwMode="auto">
          <a:xfrm>
            <a:off x="20638" y="0"/>
            <a:ext cx="1952625" cy="6853238"/>
            <a:chOff x="6627813" y="195717"/>
            <a:chExt cx="1952625" cy="5678034"/>
          </a:xfrm>
        </p:grpSpPr>
        <p:sp>
          <p:nvSpPr>
            <p:cNvPr id="1034" name="Freeform 27">
              <a:extLst>
                <a:ext uri="{FF2B5EF4-FFF2-40B4-BE49-F238E27FC236}">
                  <a16:creationId xmlns:a16="http://schemas.microsoft.com/office/drawing/2014/main" id="{25FFE9B4-D8C3-B944-53F6-FFBFF6F21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>
                <a:gd name="T0" fmla="*/ 2147483646 w 103"/>
                <a:gd name="T1" fmla="*/ 2147483646 h 920"/>
                <a:gd name="T2" fmla="*/ 2147483646 w 103"/>
                <a:gd name="T3" fmla="*/ 2147483646 h 920"/>
                <a:gd name="T4" fmla="*/ 2147483646 w 103"/>
                <a:gd name="T5" fmla="*/ 2147483646 h 920"/>
                <a:gd name="T6" fmla="*/ 2147483646 w 103"/>
                <a:gd name="T7" fmla="*/ 2147483646 h 920"/>
                <a:gd name="T8" fmla="*/ 2147483646 w 103"/>
                <a:gd name="T9" fmla="*/ 2147483646 h 920"/>
                <a:gd name="T10" fmla="*/ 2147483646 w 103"/>
                <a:gd name="T11" fmla="*/ 2147483646 h 920"/>
                <a:gd name="T12" fmla="*/ 2147483646 w 103"/>
                <a:gd name="T13" fmla="*/ 2147483646 h 920"/>
                <a:gd name="T14" fmla="*/ 2147483646 w 103"/>
                <a:gd name="T15" fmla="*/ 2147483646 h 920"/>
                <a:gd name="T16" fmla="*/ 2147483646 w 103"/>
                <a:gd name="T17" fmla="*/ 2147483646 h 920"/>
                <a:gd name="T18" fmla="*/ 2147483646 w 103"/>
                <a:gd name="T19" fmla="*/ 2147483646 h 920"/>
                <a:gd name="T20" fmla="*/ 2147483646 w 103"/>
                <a:gd name="T21" fmla="*/ 2147483646 h 920"/>
                <a:gd name="T22" fmla="*/ 2147483646 w 103"/>
                <a:gd name="T23" fmla="*/ 0 h 920"/>
                <a:gd name="T24" fmla="*/ 0 w 103"/>
                <a:gd name="T25" fmla="*/ 0 h 920"/>
                <a:gd name="T26" fmla="*/ 2147483646 w 103"/>
                <a:gd name="T27" fmla="*/ 2147483646 h 920"/>
                <a:gd name="T28" fmla="*/ 2147483646 w 103"/>
                <a:gd name="T29" fmla="*/ 2147483646 h 92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" name="Freeform 28">
              <a:extLst>
                <a:ext uri="{FF2B5EF4-FFF2-40B4-BE49-F238E27FC236}">
                  <a16:creationId xmlns:a16="http://schemas.microsoft.com/office/drawing/2014/main" id="{4DB345AE-2C08-D04F-7D54-DE822A753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>
                <a:gd name="T0" fmla="*/ 2147483646 w 88"/>
                <a:gd name="T1" fmla="*/ 2147483646 h 330"/>
                <a:gd name="T2" fmla="*/ 2147483646 w 88"/>
                <a:gd name="T3" fmla="*/ 2147483646 h 330"/>
                <a:gd name="T4" fmla="*/ 2147483646 w 88"/>
                <a:gd name="T5" fmla="*/ 2147483646 h 330"/>
                <a:gd name="T6" fmla="*/ 2147483646 w 88"/>
                <a:gd name="T7" fmla="*/ 2147483646 h 330"/>
                <a:gd name="T8" fmla="*/ 2147483646 w 88"/>
                <a:gd name="T9" fmla="*/ 2147483646 h 330"/>
                <a:gd name="T10" fmla="*/ 0 w 88"/>
                <a:gd name="T11" fmla="*/ 0 h 330"/>
                <a:gd name="T12" fmla="*/ 2147483646 w 88"/>
                <a:gd name="T13" fmla="*/ 2147483646 h 330"/>
                <a:gd name="T14" fmla="*/ 2147483646 w 88"/>
                <a:gd name="T15" fmla="*/ 2147483646 h 3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" name="Freeform 29">
              <a:extLst>
                <a:ext uri="{FF2B5EF4-FFF2-40B4-BE49-F238E27FC236}">
                  <a16:creationId xmlns:a16="http://schemas.microsoft.com/office/drawing/2014/main" id="{68F8AF2B-CBB6-3A88-8287-88F03BE075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>
                <a:gd name="T0" fmla="*/ 2147483646 w 90"/>
                <a:gd name="T1" fmla="*/ 2147483646 h 207"/>
                <a:gd name="T2" fmla="*/ 0 w 90"/>
                <a:gd name="T3" fmla="*/ 0 h 207"/>
                <a:gd name="T4" fmla="*/ 2147483646 w 90"/>
                <a:gd name="T5" fmla="*/ 2147483646 h 207"/>
                <a:gd name="T6" fmla="*/ 2147483646 w 90"/>
                <a:gd name="T7" fmla="*/ 2147483646 h 207"/>
                <a:gd name="T8" fmla="*/ 2147483646 w 90"/>
                <a:gd name="T9" fmla="*/ 2147483646 h 207"/>
                <a:gd name="T10" fmla="*/ 2147483646 w 90"/>
                <a:gd name="T11" fmla="*/ 2147483646 h 207"/>
                <a:gd name="T12" fmla="*/ 2147483646 w 90"/>
                <a:gd name="T13" fmla="*/ 2147483646 h 207"/>
                <a:gd name="T14" fmla="*/ 2147483646 w 90"/>
                <a:gd name="T15" fmla="*/ 2147483646 h 20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" name="Freeform 30">
              <a:extLst>
                <a:ext uri="{FF2B5EF4-FFF2-40B4-BE49-F238E27FC236}">
                  <a16:creationId xmlns:a16="http://schemas.microsoft.com/office/drawing/2014/main" id="{D27B78A7-FB01-9FA9-DEB6-9C819E737AD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>
                <a:gd name="T0" fmla="*/ 2147483646 w 115"/>
                <a:gd name="T1" fmla="*/ 2147483646 h 467"/>
                <a:gd name="T2" fmla="*/ 2147483646 w 115"/>
                <a:gd name="T3" fmla="*/ 2147483646 h 467"/>
                <a:gd name="T4" fmla="*/ 2147483646 w 115"/>
                <a:gd name="T5" fmla="*/ 2147483646 h 467"/>
                <a:gd name="T6" fmla="*/ 2147483646 w 115"/>
                <a:gd name="T7" fmla="*/ 2147483646 h 467"/>
                <a:gd name="T8" fmla="*/ 0 w 115"/>
                <a:gd name="T9" fmla="*/ 0 h 467"/>
                <a:gd name="T10" fmla="*/ 2147483646 w 115"/>
                <a:gd name="T11" fmla="*/ 2147483646 h 467"/>
                <a:gd name="T12" fmla="*/ 2147483646 w 115"/>
                <a:gd name="T13" fmla="*/ 2147483646 h 467"/>
                <a:gd name="T14" fmla="*/ 2147483646 w 115"/>
                <a:gd name="T15" fmla="*/ 2147483646 h 467"/>
                <a:gd name="T16" fmla="*/ 2147483646 w 115"/>
                <a:gd name="T17" fmla="*/ 2147483646 h 467"/>
                <a:gd name="T18" fmla="*/ 2147483646 w 115"/>
                <a:gd name="T19" fmla="*/ 2147483646 h 467"/>
                <a:gd name="T20" fmla="*/ 2147483646 w 115"/>
                <a:gd name="T21" fmla="*/ 2147483646 h 4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" name="Freeform 31">
              <a:extLst>
                <a:ext uri="{FF2B5EF4-FFF2-40B4-BE49-F238E27FC236}">
                  <a16:creationId xmlns:a16="http://schemas.microsoft.com/office/drawing/2014/main" id="{B94B9542-67D3-A561-1987-5D1BE0DB4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>
                <a:gd name="T0" fmla="*/ 2147483646 w 36"/>
                <a:gd name="T1" fmla="*/ 2147483646 h 633"/>
                <a:gd name="T2" fmla="*/ 2147483646 w 36"/>
                <a:gd name="T3" fmla="*/ 2147483646 h 633"/>
                <a:gd name="T4" fmla="*/ 2147483646 w 36"/>
                <a:gd name="T5" fmla="*/ 2147483646 h 633"/>
                <a:gd name="T6" fmla="*/ 2147483646 w 36"/>
                <a:gd name="T7" fmla="*/ 2147483646 h 633"/>
                <a:gd name="T8" fmla="*/ 2147483646 w 36"/>
                <a:gd name="T9" fmla="*/ 2147483646 h 633"/>
                <a:gd name="T10" fmla="*/ 2147483646 w 36"/>
                <a:gd name="T11" fmla="*/ 0 h 633"/>
                <a:gd name="T12" fmla="*/ 2147483646 w 36"/>
                <a:gd name="T13" fmla="*/ 0 h 633"/>
                <a:gd name="T14" fmla="*/ 2147483646 w 36"/>
                <a:gd name="T15" fmla="*/ 2147483646 h 633"/>
                <a:gd name="T16" fmla="*/ 2147483646 w 36"/>
                <a:gd name="T17" fmla="*/ 2147483646 h 633"/>
                <a:gd name="T18" fmla="*/ 2147483646 w 36"/>
                <a:gd name="T19" fmla="*/ 2147483646 h 633"/>
                <a:gd name="T20" fmla="*/ 2147483646 w 36"/>
                <a:gd name="T21" fmla="*/ 2147483646 h 633"/>
                <a:gd name="T22" fmla="*/ 2147483646 w 36"/>
                <a:gd name="T23" fmla="*/ 2147483646 h 633"/>
                <a:gd name="T24" fmla="*/ 2147483646 w 36"/>
                <a:gd name="T25" fmla="*/ 2147483646 h 63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" name="Freeform 32">
              <a:extLst>
                <a:ext uri="{FF2B5EF4-FFF2-40B4-BE49-F238E27FC236}">
                  <a16:creationId xmlns:a16="http://schemas.microsoft.com/office/drawing/2014/main" id="{3AEB1D78-CBB2-3147-5A55-1C627982A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>
                <a:gd name="T0" fmla="*/ 2147483646 w 28"/>
                <a:gd name="T1" fmla="*/ 2147483646 h 59"/>
                <a:gd name="T2" fmla="*/ 2147483646 w 28"/>
                <a:gd name="T3" fmla="*/ 2147483646 h 59"/>
                <a:gd name="T4" fmla="*/ 0 w 28"/>
                <a:gd name="T5" fmla="*/ 0 h 59"/>
                <a:gd name="T6" fmla="*/ 2147483646 w 28"/>
                <a:gd name="T7" fmla="*/ 2147483646 h 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" name="Freeform 33">
              <a:extLst>
                <a:ext uri="{FF2B5EF4-FFF2-40B4-BE49-F238E27FC236}">
                  <a16:creationId xmlns:a16="http://schemas.microsoft.com/office/drawing/2014/main" id="{3EF9E1C2-8A8D-88DA-12B9-EED81B9CB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>
                <a:gd name="T0" fmla="*/ 2147483646 w 17"/>
                <a:gd name="T1" fmla="*/ 2147483646 h 107"/>
                <a:gd name="T2" fmla="*/ 2147483646 w 17"/>
                <a:gd name="T3" fmla="*/ 2147483646 h 107"/>
                <a:gd name="T4" fmla="*/ 2147483646 w 17"/>
                <a:gd name="T5" fmla="*/ 2147483646 h 107"/>
                <a:gd name="T6" fmla="*/ 2147483646 w 17"/>
                <a:gd name="T7" fmla="*/ 2147483646 h 107"/>
                <a:gd name="T8" fmla="*/ 0 w 17"/>
                <a:gd name="T9" fmla="*/ 0 h 107"/>
                <a:gd name="T10" fmla="*/ 0 w 17"/>
                <a:gd name="T11" fmla="*/ 2147483646 h 107"/>
                <a:gd name="T12" fmla="*/ 2147483646 w 17"/>
                <a:gd name="T13" fmla="*/ 2147483646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" name="Freeform 34">
              <a:extLst>
                <a:ext uri="{FF2B5EF4-FFF2-40B4-BE49-F238E27FC236}">
                  <a16:creationId xmlns:a16="http://schemas.microsoft.com/office/drawing/2014/main" id="{850D676F-8488-2481-48AE-AF2EEBAE8FB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>
                <a:gd name="T0" fmla="*/ 2147483646 w 294"/>
                <a:gd name="T1" fmla="*/ 2147483646 h 568"/>
                <a:gd name="T2" fmla="*/ 2147483646 w 294"/>
                <a:gd name="T3" fmla="*/ 2147483646 h 568"/>
                <a:gd name="T4" fmla="*/ 2147483646 w 294"/>
                <a:gd name="T5" fmla="*/ 2147483646 h 568"/>
                <a:gd name="T6" fmla="*/ 2147483646 w 294"/>
                <a:gd name="T7" fmla="*/ 2147483646 h 568"/>
                <a:gd name="T8" fmla="*/ 2147483646 w 294"/>
                <a:gd name="T9" fmla="*/ 2147483646 h 568"/>
                <a:gd name="T10" fmla="*/ 2147483646 w 294"/>
                <a:gd name="T11" fmla="*/ 2147483646 h 568"/>
                <a:gd name="T12" fmla="*/ 2147483646 w 294"/>
                <a:gd name="T13" fmla="*/ 0 h 568"/>
                <a:gd name="T14" fmla="*/ 2147483646 w 294"/>
                <a:gd name="T15" fmla="*/ 0 h 568"/>
                <a:gd name="T16" fmla="*/ 2147483646 w 294"/>
                <a:gd name="T17" fmla="*/ 2147483646 h 568"/>
                <a:gd name="T18" fmla="*/ 2147483646 w 294"/>
                <a:gd name="T19" fmla="*/ 2147483646 h 568"/>
                <a:gd name="T20" fmla="*/ 2147483646 w 294"/>
                <a:gd name="T21" fmla="*/ 2147483646 h 568"/>
                <a:gd name="T22" fmla="*/ 2147483646 w 294"/>
                <a:gd name="T23" fmla="*/ 2147483646 h 568"/>
                <a:gd name="T24" fmla="*/ 2147483646 w 294"/>
                <a:gd name="T25" fmla="*/ 2147483646 h 568"/>
                <a:gd name="T26" fmla="*/ 0 w 294"/>
                <a:gd name="T27" fmla="*/ 2147483646 h 568"/>
                <a:gd name="T28" fmla="*/ 2147483646 w 294"/>
                <a:gd name="T29" fmla="*/ 2147483646 h 568"/>
                <a:gd name="T30" fmla="*/ 2147483646 w 294"/>
                <a:gd name="T31" fmla="*/ 2147483646 h 56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" name="Freeform 35">
              <a:extLst>
                <a:ext uri="{FF2B5EF4-FFF2-40B4-BE49-F238E27FC236}">
                  <a16:creationId xmlns:a16="http://schemas.microsoft.com/office/drawing/2014/main" id="{0DDFAE48-D771-3BE0-F502-6A2DCC2774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>
                <a:gd name="T0" fmla="*/ 0 w 25"/>
                <a:gd name="T1" fmla="*/ 0 h 53"/>
                <a:gd name="T2" fmla="*/ 2147483646 w 25"/>
                <a:gd name="T3" fmla="*/ 2147483646 h 53"/>
                <a:gd name="T4" fmla="*/ 2147483646 w 25"/>
                <a:gd name="T5" fmla="*/ 2147483646 h 53"/>
                <a:gd name="T6" fmla="*/ 0 w 25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" name="Freeform 36">
              <a:extLst>
                <a:ext uri="{FF2B5EF4-FFF2-40B4-BE49-F238E27FC236}">
                  <a16:creationId xmlns:a16="http://schemas.microsoft.com/office/drawing/2014/main" id="{51CF92CD-0BC1-2538-B199-77A99D3B0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>
                <a:gd name="T0" fmla="*/ 0 w 29"/>
                <a:gd name="T1" fmla="*/ 0 h 141"/>
                <a:gd name="T2" fmla="*/ 2147483646 w 29"/>
                <a:gd name="T3" fmla="*/ 2147483646 h 141"/>
                <a:gd name="T4" fmla="*/ 2147483646 w 29"/>
                <a:gd name="T5" fmla="*/ 2147483646 h 141"/>
                <a:gd name="T6" fmla="*/ 2147483646 w 29"/>
                <a:gd name="T7" fmla="*/ 2147483646 h 141"/>
                <a:gd name="T8" fmla="*/ 2147483646 w 29"/>
                <a:gd name="T9" fmla="*/ 2147483646 h 141"/>
                <a:gd name="T10" fmla="*/ 2147483646 w 29"/>
                <a:gd name="T11" fmla="*/ 2147483646 h 141"/>
                <a:gd name="T12" fmla="*/ 2147483646 w 29"/>
                <a:gd name="T13" fmla="*/ 2147483646 h 141"/>
                <a:gd name="T14" fmla="*/ 0 w 29"/>
                <a:gd name="T15" fmla="*/ 0 h 1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" name="Freeform 37">
              <a:extLst>
                <a:ext uri="{FF2B5EF4-FFF2-40B4-BE49-F238E27FC236}">
                  <a16:creationId xmlns:a16="http://schemas.microsoft.com/office/drawing/2014/main" id="{BF0ADE84-C970-53FE-F45C-F1C54DB17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>
                <a:gd name="T0" fmla="*/ 0 w 8"/>
                <a:gd name="T1" fmla="*/ 2147483646 h 48"/>
                <a:gd name="T2" fmla="*/ 2147483646 w 8"/>
                <a:gd name="T3" fmla="*/ 2147483646 h 48"/>
                <a:gd name="T4" fmla="*/ 2147483646 w 8"/>
                <a:gd name="T5" fmla="*/ 2147483646 h 48"/>
                <a:gd name="T6" fmla="*/ 2147483646 w 8"/>
                <a:gd name="T7" fmla="*/ 2147483646 h 48"/>
                <a:gd name="T8" fmla="*/ 0 w 8"/>
                <a:gd name="T9" fmla="*/ 0 h 48"/>
                <a:gd name="T10" fmla="*/ 0 w 8"/>
                <a:gd name="T11" fmla="*/ 2147483646 h 48"/>
                <a:gd name="T12" fmla="*/ 0 w 8"/>
                <a:gd name="T13" fmla="*/ 2147483646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5" name="Freeform 38">
              <a:extLst>
                <a:ext uri="{FF2B5EF4-FFF2-40B4-BE49-F238E27FC236}">
                  <a16:creationId xmlns:a16="http://schemas.microsoft.com/office/drawing/2014/main" id="{E6B65195-0FCC-1F53-F397-963135A78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>
                <a:gd name="T0" fmla="*/ 2147483646 w 44"/>
                <a:gd name="T1" fmla="*/ 2147483646 h 111"/>
                <a:gd name="T2" fmla="*/ 0 w 44"/>
                <a:gd name="T3" fmla="*/ 0 h 111"/>
                <a:gd name="T4" fmla="*/ 2147483646 w 44"/>
                <a:gd name="T5" fmla="*/ 2147483646 h 111"/>
                <a:gd name="T6" fmla="*/ 2147483646 w 44"/>
                <a:gd name="T7" fmla="*/ 2147483646 h 111"/>
                <a:gd name="T8" fmla="*/ 2147483646 w 44"/>
                <a:gd name="T9" fmla="*/ 2147483646 h 111"/>
                <a:gd name="T10" fmla="*/ 2147483646 w 44"/>
                <a:gd name="T11" fmla="*/ 2147483646 h 111"/>
                <a:gd name="T12" fmla="*/ 2147483646 w 44"/>
                <a:gd name="T13" fmla="*/ 2147483646 h 111"/>
                <a:gd name="T14" fmla="*/ 2147483646 w 44"/>
                <a:gd name="T15" fmla="*/ 2147483646 h 1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E809A7B1-3402-A8C7-0E27-498B780ACA58}"/>
              </a:ext>
            </a:extLst>
          </p:cNvPr>
          <p:cNvSpPr/>
          <p:nvPr/>
        </p:nvSpPr>
        <p:spPr>
          <a:xfrm>
            <a:off x="0" y="0"/>
            <a:ext cx="182563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29" name="Title Placeholder 1">
            <a:extLst>
              <a:ext uri="{FF2B5EF4-FFF2-40B4-BE49-F238E27FC236}">
                <a16:creationId xmlns:a16="http://schemas.microsoft.com/office/drawing/2014/main" id="{217D6A9C-33D0-5480-C076-C6760192ADF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944688" y="623888"/>
            <a:ext cx="6589712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Text Placeholder 2">
            <a:extLst>
              <a:ext uri="{FF2B5EF4-FFF2-40B4-BE49-F238E27FC236}">
                <a16:creationId xmlns:a16="http://schemas.microsoft.com/office/drawing/2014/main" id="{83427A1E-405B-960C-327F-DD0B37690C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889DE-5592-F59A-55B8-8F8770176F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77915-AD6D-1F00-16CE-2C93F9D2C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altLang="en-US"/>
              <a:t>Appendix A: Introduction to Java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F2571-CC53-EFFE-EF9F-2DBC4C8CA3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2000">
                <a:solidFill>
                  <a:srgbClr val="FEFFFF"/>
                </a:solidFill>
              </a:defRPr>
            </a:lvl1pPr>
          </a:lstStyle>
          <a:p>
            <a:pPr>
              <a:defRPr/>
            </a:pPr>
            <a:fld id="{A2DCC8F2-DD67-354A-8E09-AC8842324E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81" r:id="rId1"/>
    <p:sldLayoutId id="2147485782" r:id="rId2"/>
    <p:sldLayoutId id="2147485783" r:id="rId3"/>
    <p:sldLayoutId id="2147485784" r:id="rId4"/>
    <p:sldLayoutId id="2147485785" r:id="rId5"/>
    <p:sldLayoutId id="2147485786" r:id="rId6"/>
    <p:sldLayoutId id="2147485787" r:id="rId7"/>
    <p:sldLayoutId id="2147485788" r:id="rId8"/>
    <p:sldLayoutId id="2147485789" r:id="rId9"/>
    <p:sldLayoutId id="2147485790" r:id="rId10"/>
    <p:sldLayoutId id="2147485791" r:id="rId11"/>
    <p:sldLayoutId id="2147485792" r:id="rId12"/>
    <p:sldLayoutId id="2147485793" r:id="rId13"/>
    <p:sldLayoutId id="2147485794" r:id="rId14"/>
    <p:sldLayoutId id="2147485795" r:id="rId15"/>
    <p:sldLayoutId id="2147485796" r:id="rId16"/>
  </p:sldLayoutIdLst>
  <p:hf hd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600" kern="1200">
          <a:solidFill>
            <a:srgbClr val="262626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itchFamily="2" charset="2"/>
        <a:buChar char=""/>
        <a:defRPr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itchFamily="2" charset="2"/>
        <a:buChar char=""/>
        <a:defRPr sz="16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itchFamily="2" charset="2"/>
        <a:buChar char="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itchFamily="2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itchFamily="2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9CFA24D-9675-BF12-F515-50E111DB3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51162"/>
            <a:ext cx="4953000" cy="1069975"/>
          </a:xfrm>
        </p:spPr>
        <p:txBody>
          <a:bodyPr anchor="ctr">
            <a:normAutofit/>
          </a:bodyPr>
          <a:lstStyle/>
          <a:p>
            <a:pPr algn="ctr" eaLnBrk="1" hangingPunct="1"/>
            <a:r>
              <a:rPr lang="en-US" altLang="en-US" sz="3200" b="1" dirty="0">
                <a:solidFill>
                  <a:srgbClr val="0070C0"/>
                </a:solidFill>
              </a:rPr>
              <a:t>Introduction to </a:t>
            </a:r>
            <a:br>
              <a:rPr lang="en-US" altLang="en-US" sz="3200" b="1" dirty="0">
                <a:solidFill>
                  <a:srgbClr val="0070C0"/>
                </a:solidFill>
              </a:rPr>
            </a:br>
            <a:r>
              <a:rPr lang="en-US" altLang="en-US" sz="3200" b="1" dirty="0">
                <a:solidFill>
                  <a:schemeClr val="accent2"/>
                </a:solidFill>
              </a:rPr>
              <a:t>Delta Lake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1E2BF-F8BD-EF3E-4CCA-2FF5023A2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228600"/>
            <a:ext cx="2097088" cy="148748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9460" name="TextBox 5">
            <a:extLst>
              <a:ext uri="{FF2B5EF4-FFF2-40B4-BE49-F238E27FC236}">
                <a16:creationId xmlns:a16="http://schemas.microsoft.com/office/drawing/2014/main" id="{FAF82D76-9348-0CAE-FCCD-0A4BD0D6D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8438" y="1562100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zh-CN" sz="140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400">
              <a:solidFill>
                <a:schemeClr val="accent2"/>
              </a:solidFill>
            </a:endParaRPr>
          </a:p>
        </p:txBody>
      </p:sp>
      <p:sp>
        <p:nvSpPr>
          <p:cNvPr id="19461" name="Title 1">
            <a:extLst>
              <a:ext uri="{FF2B5EF4-FFF2-40B4-BE49-F238E27FC236}">
                <a16:creationId xmlns:a16="http://schemas.microsoft.com/office/drawing/2014/main" id="{AA9F1214-CACF-8A18-8FBA-4BFB512EA579}"/>
              </a:ext>
            </a:extLst>
          </p:cNvPr>
          <p:cNvSpPr txBox="1">
            <a:spLocks/>
          </p:cNvSpPr>
          <p:nvPr/>
        </p:nvSpPr>
        <p:spPr bwMode="auto">
          <a:xfrm>
            <a:off x="2587625" y="6172200"/>
            <a:ext cx="5240338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zh-CN" sz="2000" b="1" i="1">
                <a:solidFill>
                  <a:srgbClr val="00B0F0"/>
                </a:solidFill>
                <a:cs typeface="幼圆"/>
              </a:rPr>
              <a:t>Funny Gorilla </a:t>
            </a:r>
            <a:r>
              <a:rPr lang="zh-CN" altLang="en-US" sz="2000" b="1" i="1">
                <a:solidFill>
                  <a:schemeClr val="accent2"/>
                </a:solidFill>
                <a:cs typeface="幼圆"/>
              </a:rPr>
              <a:t>诙猩猩</a:t>
            </a:r>
            <a:endParaRPr lang="en-AU" altLang="en-US" sz="1400" b="1" i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F52F26D-C899-9422-C331-31A17DD63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020" y="1828800"/>
            <a:ext cx="4114800" cy="609600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solidFill>
                  <a:srgbClr val="0070C0"/>
                </a:solidFill>
              </a:rPr>
              <a:t>Learning Objectives   </a:t>
            </a:r>
          </a:p>
        </p:txBody>
      </p:sp>
      <p:sp>
        <p:nvSpPr>
          <p:cNvPr id="21507" name="Rectangle 1">
            <a:extLst>
              <a:ext uri="{FF2B5EF4-FFF2-40B4-BE49-F238E27FC236}">
                <a16:creationId xmlns:a16="http://schemas.microsoft.com/office/drawing/2014/main" id="{D3974202-D16D-2F86-C1EE-DC8FAE021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514600"/>
            <a:ext cx="60198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sz="1600" i="1" dirty="0">
                <a:solidFill>
                  <a:schemeClr val="accent2"/>
                </a:solidFill>
              </a:rPr>
              <a:t>File format - Parque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sz="1600" i="1" dirty="0">
                <a:solidFill>
                  <a:schemeClr val="accent2"/>
                </a:solidFill>
              </a:rPr>
              <a:t>Transaction log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sz="1600" i="1" dirty="0">
                <a:solidFill>
                  <a:schemeClr val="accent2"/>
                </a:solidFill>
              </a:rPr>
              <a:t>Check point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sz="1600" i="1" dirty="0">
                <a:solidFill>
                  <a:schemeClr val="accent2"/>
                </a:solidFill>
              </a:rPr>
              <a:t>Schema handling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sz="1600" i="1" dirty="0">
                <a:solidFill>
                  <a:schemeClr val="accent2"/>
                </a:solidFill>
              </a:rPr>
              <a:t>Time traveling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sz="1600" i="1" dirty="0">
                <a:solidFill>
                  <a:schemeClr val="accent2"/>
                </a:solidFill>
              </a:rPr>
              <a:t>Change Data Feed</a:t>
            </a:r>
            <a:endParaRPr lang="en-AU" altLang="en-US" sz="1600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AB3503C-46FC-A4B4-4FE7-683D3BADA75A}"/>
              </a:ext>
            </a:extLst>
          </p:cNvPr>
          <p:cNvSpPr txBox="1"/>
          <p:nvPr/>
        </p:nvSpPr>
        <p:spPr>
          <a:xfrm>
            <a:off x="533400" y="2982332"/>
            <a:ext cx="2209800" cy="778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sz="3600">
                <a:solidFill>
                  <a:srgbClr val="262626"/>
                </a:solidFill>
              </a:defRPr>
            </a:lvl2pPr>
            <a:lvl3pPr>
              <a:defRPr sz="3600">
                <a:solidFill>
                  <a:srgbClr val="262626"/>
                </a:solidFill>
              </a:defRPr>
            </a:lvl3pPr>
            <a:lvl4pPr>
              <a:defRPr sz="3600">
                <a:solidFill>
                  <a:srgbClr val="262626"/>
                </a:solidFill>
              </a:defRPr>
            </a:lvl4pPr>
            <a:lvl5pPr>
              <a:defRPr sz="3600">
                <a:solidFill>
                  <a:srgbClr val="262626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en-AU" sz="2400" i="1" dirty="0"/>
              <a:t>Lakehouse </a:t>
            </a:r>
          </a:p>
          <a:p>
            <a:pPr algn="r"/>
            <a:r>
              <a:rPr lang="en-AU" sz="2400" i="1" dirty="0"/>
              <a:t>capabilities</a:t>
            </a:r>
          </a:p>
        </p:txBody>
      </p: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5A6B0637-EFF5-CD1F-4C31-1919BD639D28}"/>
              </a:ext>
            </a:extLst>
          </p:cNvPr>
          <p:cNvCxnSpPr>
            <a:cxnSpLocks/>
            <a:stCxn id="8" idx="3"/>
            <a:endCxn id="37" idx="1"/>
          </p:cNvCxnSpPr>
          <p:nvPr/>
        </p:nvCxnSpPr>
        <p:spPr>
          <a:xfrm flipV="1">
            <a:off x="2743200" y="1612213"/>
            <a:ext cx="558165" cy="1759447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B4F1841D-452E-928D-A0E8-2E3A3C162C67}"/>
              </a:ext>
            </a:extLst>
          </p:cNvPr>
          <p:cNvCxnSpPr>
            <a:cxnSpLocks/>
            <a:stCxn id="8" idx="3"/>
            <a:endCxn id="42" idx="1"/>
          </p:cNvCxnSpPr>
          <p:nvPr/>
        </p:nvCxnSpPr>
        <p:spPr>
          <a:xfrm>
            <a:off x="2743200" y="3371660"/>
            <a:ext cx="636270" cy="2028017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F642D2-7FAF-E96B-53EF-1E11B1866D18}"/>
              </a:ext>
            </a:extLst>
          </p:cNvPr>
          <p:cNvSpPr/>
          <p:nvPr/>
        </p:nvSpPr>
        <p:spPr>
          <a:xfrm>
            <a:off x="3301365" y="1458324"/>
            <a:ext cx="1965962" cy="30777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i="0" dirty="0">
                <a:solidFill>
                  <a:schemeClr val="accent3">
                    <a:lumMod val="50000"/>
                  </a:schemeClr>
                </a:solidFill>
                <a:effectLst/>
                <a:latin typeface="+mn-lt"/>
              </a:rPr>
              <a:t>Transaction support</a:t>
            </a:r>
            <a:endParaRPr lang="en-US" sz="1400" dirty="0">
              <a:solidFill>
                <a:schemeClr val="accent3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FA11DCD1-6358-7170-B29F-9231078E118F}"/>
              </a:ext>
            </a:extLst>
          </p:cNvPr>
          <p:cNvSpPr/>
          <p:nvPr/>
        </p:nvSpPr>
        <p:spPr>
          <a:xfrm>
            <a:off x="3379470" y="5245788"/>
            <a:ext cx="2308861" cy="30777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>
                <a:solidFill>
                  <a:schemeClr val="accent3">
                    <a:lumMod val="50000"/>
                  </a:schemeClr>
                </a:solidFill>
              </a:rPr>
              <a:t>End-to-end streaming</a:t>
            </a:r>
            <a:endParaRPr lang="en-US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66E8425-C82D-5625-8487-7703094774E0}"/>
              </a:ext>
            </a:extLst>
          </p:cNvPr>
          <p:cNvSpPr/>
          <p:nvPr/>
        </p:nvSpPr>
        <p:spPr>
          <a:xfrm>
            <a:off x="3329940" y="3006993"/>
            <a:ext cx="1165860" cy="30777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accent3">
                    <a:lumMod val="50000"/>
                  </a:schemeClr>
                </a:solidFill>
              </a:rPr>
              <a:t>Openness</a:t>
            </a:r>
            <a:endParaRPr lang="en-US" sz="1400" dirty="0">
              <a:solidFill>
                <a:schemeClr val="accent3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7CB646D-5635-936D-F1FE-59CEE753B641}"/>
              </a:ext>
            </a:extLst>
          </p:cNvPr>
          <p:cNvSpPr/>
          <p:nvPr/>
        </p:nvSpPr>
        <p:spPr>
          <a:xfrm>
            <a:off x="3301365" y="1978207"/>
            <a:ext cx="2872741" cy="30777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accent3">
                    <a:lumMod val="50000"/>
                  </a:schemeClr>
                </a:solidFill>
              </a:rPr>
              <a:t>Support for diverse data types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92A6A4F-8B5E-ED1D-4A85-4D8DC5665A09}"/>
              </a:ext>
            </a:extLst>
          </p:cNvPr>
          <p:cNvSpPr/>
          <p:nvPr/>
        </p:nvSpPr>
        <p:spPr>
          <a:xfrm>
            <a:off x="3392806" y="4666465"/>
            <a:ext cx="2308861" cy="30777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>
                <a:solidFill>
                  <a:schemeClr val="accent3">
                    <a:lumMod val="50000"/>
                  </a:schemeClr>
                </a:solidFill>
              </a:rPr>
              <a:t>BI support</a:t>
            </a:r>
            <a:endParaRPr lang="en-US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F333851-4365-1C03-9772-EA9335372F8E}"/>
              </a:ext>
            </a:extLst>
          </p:cNvPr>
          <p:cNvSpPr/>
          <p:nvPr/>
        </p:nvSpPr>
        <p:spPr>
          <a:xfrm>
            <a:off x="3379470" y="4087144"/>
            <a:ext cx="3352800" cy="30777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i="0" dirty="0">
                <a:solidFill>
                  <a:schemeClr val="accent3">
                    <a:lumMod val="50000"/>
                  </a:schemeClr>
                </a:solidFill>
                <a:effectLst/>
                <a:latin typeface="+mn-lt"/>
              </a:rPr>
              <a:t>Support for diverse workloads</a:t>
            </a:r>
            <a:endParaRPr lang="en-US" sz="1400" dirty="0">
              <a:solidFill>
                <a:schemeClr val="accent3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622365D-8E5D-9E55-8543-15CE1FBC617B}"/>
              </a:ext>
            </a:extLst>
          </p:cNvPr>
          <p:cNvSpPr/>
          <p:nvPr/>
        </p:nvSpPr>
        <p:spPr>
          <a:xfrm>
            <a:off x="3329940" y="3510909"/>
            <a:ext cx="3528060" cy="307777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i="0" dirty="0">
                <a:solidFill>
                  <a:schemeClr val="accent3">
                    <a:lumMod val="50000"/>
                  </a:schemeClr>
                </a:solidFill>
                <a:effectLst/>
                <a:latin typeface="+mn-lt"/>
              </a:rPr>
              <a:t>Storage is decoupled from compute</a:t>
            </a:r>
            <a:endParaRPr lang="en-US" sz="1400" dirty="0">
              <a:solidFill>
                <a:schemeClr val="accent3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0E668FC-D135-944F-D6A4-F40A8AA17D39}"/>
              </a:ext>
            </a:extLst>
          </p:cNvPr>
          <p:cNvSpPr/>
          <p:nvPr/>
        </p:nvSpPr>
        <p:spPr>
          <a:xfrm>
            <a:off x="3301365" y="2488564"/>
            <a:ext cx="3789046" cy="30777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i="0" dirty="0">
                <a:solidFill>
                  <a:schemeClr val="accent3">
                    <a:lumMod val="50000"/>
                  </a:schemeClr>
                </a:solidFill>
                <a:effectLst/>
                <a:latin typeface="+mn-lt"/>
              </a:rPr>
              <a:t>Schema enforcement and governance</a:t>
            </a:r>
            <a:endParaRPr lang="en-US" sz="1400" dirty="0">
              <a:solidFill>
                <a:schemeClr val="accent3">
                  <a:lumMod val="50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F8FD28-0977-DF06-B720-24608AE8A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FC7BE74-0F4C-5EF0-963B-D4CA62408C50}"/>
              </a:ext>
            </a:extLst>
          </p:cNvPr>
          <p:cNvSpPr txBox="1"/>
          <p:nvPr/>
        </p:nvSpPr>
        <p:spPr>
          <a:xfrm>
            <a:off x="1066800" y="2667000"/>
            <a:ext cx="4800600" cy="523875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AU" sz="2800" b="1" dirty="0">
                <a:solidFill>
                  <a:schemeClr val="bg1"/>
                </a:solidFill>
                <a:latin typeface="+mj-lt"/>
              </a:rPr>
              <a:t>Delta Lake</a:t>
            </a:r>
            <a:r>
              <a:rPr lang="en-AU" sz="2800" dirty="0">
                <a:solidFill>
                  <a:schemeClr val="bg1"/>
                </a:solidFill>
                <a:latin typeface="+mj-lt"/>
              </a:rPr>
              <a:t> 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1FD2D1-C276-17EA-C233-1BDA99BCEC47}"/>
              </a:ext>
            </a:extLst>
          </p:cNvPr>
          <p:cNvSpPr txBox="1"/>
          <p:nvPr/>
        </p:nvSpPr>
        <p:spPr>
          <a:xfrm>
            <a:off x="1066800" y="3429000"/>
            <a:ext cx="5715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1" i="0" dirty="0">
                <a:effectLst/>
                <a:latin typeface="+mn-lt"/>
              </a:rPr>
              <a:t>Delta Lake</a:t>
            </a:r>
            <a:r>
              <a:rPr lang="en-AU" sz="1400" b="0" i="0" dirty="0">
                <a:effectLst/>
                <a:latin typeface="+mn-lt"/>
              </a:rPr>
              <a:t> is an open-source table format for data storage.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FF9961-CF1A-5409-9A86-984D137C5D27}"/>
              </a:ext>
            </a:extLst>
          </p:cNvPr>
          <p:cNvSpPr txBox="1"/>
          <p:nvPr/>
        </p:nvSpPr>
        <p:spPr>
          <a:xfrm>
            <a:off x="1066800" y="3886200"/>
            <a:ext cx="5334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0" i="0" dirty="0">
                <a:effectLst/>
                <a:latin typeface="+mn-lt"/>
              </a:rPr>
              <a:t>Delta Lake improves data storage by supporting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b="0" i="0" dirty="0">
                <a:effectLst/>
                <a:latin typeface="+mn-lt"/>
              </a:rPr>
              <a:t>ACID transactions,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b="0" i="0" dirty="0">
                <a:effectLst/>
                <a:latin typeface="+mn-lt"/>
              </a:rPr>
              <a:t>schema enforcement and evolution,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b="0" i="0" dirty="0">
                <a:effectLst/>
                <a:latin typeface="+mn-lt"/>
              </a:rPr>
              <a:t>data versioning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b="0" i="0" dirty="0">
                <a:effectLst/>
                <a:latin typeface="+mn-lt"/>
              </a:rPr>
              <a:t>high-performance query optimizations,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b="0" i="0" dirty="0">
                <a:effectLst/>
                <a:latin typeface="+mn-lt"/>
              </a:rPr>
              <a:t>many other features</a:t>
            </a:r>
            <a:endParaRPr lang="en-US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93594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54A47B-2004-5B3A-3544-BAAB83C2D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77532DF-2EA0-CDCF-0321-9E072BBAE8BC}"/>
              </a:ext>
            </a:extLst>
          </p:cNvPr>
          <p:cNvSpPr txBox="1"/>
          <p:nvPr/>
        </p:nvSpPr>
        <p:spPr>
          <a:xfrm>
            <a:off x="2362200" y="6139934"/>
            <a:ext cx="388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AU" b="1" i="1" dirty="0">
                <a:solidFill>
                  <a:schemeClr val="accent2"/>
                </a:solidFill>
                <a:latin typeface="+mj-lt"/>
              </a:rPr>
              <a:t>Data Lake + Data warehouse</a:t>
            </a:r>
            <a:endParaRPr lang="en-US" i="1" dirty="0">
              <a:solidFill>
                <a:schemeClr val="accent2"/>
              </a:solidFill>
              <a:latin typeface="+mj-lt"/>
            </a:endParaRPr>
          </a:p>
        </p:txBody>
      </p:sp>
      <p:pic>
        <p:nvPicPr>
          <p:cNvPr id="22531" name="Picture 2" descr="Delta Lake transactional layer">
            <a:extLst>
              <a:ext uri="{FF2B5EF4-FFF2-40B4-BE49-F238E27FC236}">
                <a16:creationId xmlns:a16="http://schemas.microsoft.com/office/drawing/2014/main" id="{B80C9412-F16C-ABE9-8226-3951A2BF7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533400"/>
            <a:ext cx="5387975" cy="542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65E5D6-D2CA-F25B-5E5A-EF75CBC7A44A}"/>
              </a:ext>
            </a:extLst>
          </p:cNvPr>
          <p:cNvSpPr txBox="1"/>
          <p:nvPr/>
        </p:nvSpPr>
        <p:spPr>
          <a:xfrm>
            <a:off x="5105400" y="3886200"/>
            <a:ext cx="3886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400" dirty="0">
                <a:latin typeface="+mn-lt"/>
                <a:ea typeface="DengXian" panose="02010600030101010101" pitchFamily="2" charset="-122"/>
              </a:rPr>
              <a:t>adds transactional guarantees,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400" dirty="0">
                <a:latin typeface="+mn-lt"/>
                <a:ea typeface="DengXian" panose="02010600030101010101" pitchFamily="2" charset="-122"/>
              </a:rPr>
              <a:t>DML support,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400" dirty="0">
                <a:latin typeface="+mn-lt"/>
                <a:ea typeface="DengXian" panose="02010600030101010101" pitchFamily="2" charset="-122"/>
              </a:rPr>
              <a:t>auditing,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400" dirty="0">
                <a:latin typeface="+mn-lt"/>
                <a:ea typeface="DengXian" panose="02010600030101010101" pitchFamily="2" charset="-122"/>
              </a:rPr>
              <a:t>a unified streaming and batch model,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400" dirty="0">
                <a:latin typeface="+mn-lt"/>
                <a:ea typeface="DengXian" panose="02010600030101010101" pitchFamily="2" charset="-122"/>
              </a:rPr>
              <a:t>schema enforcement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400" dirty="0">
                <a:latin typeface="+mn-lt"/>
                <a:ea typeface="DengXian" panose="02010600030101010101" pitchFamily="2" charset="-122"/>
              </a:rPr>
              <a:t>a scalable metadata model</a:t>
            </a:r>
            <a:r>
              <a:rPr lang="en-AU" sz="1400" dirty="0">
                <a:latin typeface="+mn-lt"/>
              </a:rPr>
              <a:t> </a:t>
            </a:r>
            <a:endParaRPr lang="en-US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07666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313A63-20D5-7AB1-C6F7-9A32B0C8B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E43614-AFB2-3767-2262-C6C03AA28913}"/>
              </a:ext>
            </a:extLst>
          </p:cNvPr>
          <p:cNvSpPr txBox="1"/>
          <p:nvPr/>
        </p:nvSpPr>
        <p:spPr>
          <a:xfrm>
            <a:off x="5135880" y="381000"/>
            <a:ext cx="3886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400" dirty="0">
                <a:latin typeface="+mn-lt"/>
                <a:ea typeface="DengXian" panose="02010600030101010101" pitchFamily="2" charset="-122"/>
              </a:rPr>
              <a:t>adds transactional guarantees,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400" dirty="0">
                <a:latin typeface="+mn-lt"/>
                <a:ea typeface="DengXian" panose="02010600030101010101" pitchFamily="2" charset="-122"/>
              </a:rPr>
              <a:t>DML support,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400" dirty="0">
                <a:latin typeface="+mn-lt"/>
                <a:ea typeface="DengXian" panose="02010600030101010101" pitchFamily="2" charset="-122"/>
              </a:rPr>
              <a:t>auditing,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400" dirty="0">
                <a:latin typeface="+mn-lt"/>
                <a:ea typeface="DengXian" panose="02010600030101010101" pitchFamily="2" charset="-122"/>
              </a:rPr>
              <a:t>a unified streaming and batch model,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400" dirty="0">
                <a:latin typeface="+mn-lt"/>
                <a:ea typeface="DengXian" panose="02010600030101010101" pitchFamily="2" charset="-122"/>
              </a:rPr>
              <a:t>schema enforcement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400" dirty="0">
                <a:latin typeface="+mn-lt"/>
                <a:ea typeface="DengXian" panose="02010600030101010101" pitchFamily="2" charset="-122"/>
              </a:rPr>
              <a:t>a scalable metadata model</a:t>
            </a:r>
            <a:r>
              <a:rPr lang="en-AU" sz="1400" dirty="0">
                <a:latin typeface="+mn-lt"/>
              </a:rPr>
              <a:t> </a:t>
            </a:r>
            <a:endParaRPr lang="en-US" sz="14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CD153C-55E7-7CBE-6520-A6A01BF5F5E8}"/>
              </a:ext>
            </a:extLst>
          </p:cNvPr>
          <p:cNvSpPr txBox="1"/>
          <p:nvPr/>
        </p:nvSpPr>
        <p:spPr>
          <a:xfrm>
            <a:off x="1112520" y="1193273"/>
            <a:ext cx="1783080" cy="30777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en-AU" sz="1400" b="1" i="0" dirty="0">
                <a:solidFill>
                  <a:schemeClr val="bg1"/>
                </a:solidFill>
                <a:effectLst/>
                <a:latin typeface="+mn-lt"/>
              </a:rPr>
              <a:t>ACID transactions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F61BB7-25A5-F5F3-0DC0-977E7D3FB5B7}"/>
              </a:ext>
            </a:extLst>
          </p:cNvPr>
          <p:cNvSpPr txBox="1"/>
          <p:nvPr/>
        </p:nvSpPr>
        <p:spPr>
          <a:xfrm>
            <a:off x="1066800" y="2197595"/>
            <a:ext cx="3505200" cy="30777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r>
              <a:rPr lang="en-AU" dirty="0"/>
              <a:t>Schema enforcement and evolution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01434A-39B0-1C75-DB7D-7180618480BA}"/>
              </a:ext>
            </a:extLst>
          </p:cNvPr>
          <p:cNvSpPr txBox="1"/>
          <p:nvPr/>
        </p:nvSpPr>
        <p:spPr>
          <a:xfrm>
            <a:off x="1066800" y="2955980"/>
            <a:ext cx="1981200" cy="30777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 i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r>
              <a:rPr lang="en-AU" dirty="0"/>
              <a:t>Data versioning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5988BA-406C-14F7-F1B0-763E2AC5D866}"/>
              </a:ext>
            </a:extLst>
          </p:cNvPr>
          <p:cNvSpPr txBox="1"/>
          <p:nvPr/>
        </p:nvSpPr>
        <p:spPr>
          <a:xfrm>
            <a:off x="1097280" y="3786186"/>
            <a:ext cx="1981200" cy="30777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en-AU" sz="1400" b="1" dirty="0">
                <a:solidFill>
                  <a:schemeClr val="bg1"/>
                </a:solidFill>
                <a:latin typeface="+mn-lt"/>
              </a:rPr>
              <a:t>Q</a:t>
            </a:r>
            <a:r>
              <a:rPr lang="en-AU" sz="1400" b="1" i="0" dirty="0">
                <a:solidFill>
                  <a:schemeClr val="bg1"/>
                </a:solidFill>
                <a:effectLst/>
                <a:latin typeface="+mn-lt"/>
              </a:rPr>
              <a:t>uery optimizations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7ABAC4-DE59-2583-0908-B3B3BB34F8B9}"/>
              </a:ext>
            </a:extLst>
          </p:cNvPr>
          <p:cNvSpPr txBox="1"/>
          <p:nvPr/>
        </p:nvSpPr>
        <p:spPr>
          <a:xfrm>
            <a:off x="1066800" y="4191000"/>
            <a:ext cx="533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b="0" i="0" dirty="0">
                <a:effectLst/>
                <a:latin typeface="+mn-lt"/>
              </a:rPr>
              <a:t>storing file paths and metadata in the </a:t>
            </a:r>
            <a:r>
              <a:rPr lang="en-AU" sz="1400" b="1" i="1" dirty="0">
                <a:solidFill>
                  <a:srgbClr val="C00000"/>
                </a:solidFill>
                <a:effectLst/>
                <a:latin typeface="+mn-lt"/>
              </a:rPr>
              <a:t>transaction log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11E135-03A4-DC39-665C-A2AB679766E5}"/>
              </a:ext>
            </a:extLst>
          </p:cNvPr>
          <p:cNvSpPr txBox="1"/>
          <p:nvPr/>
        </p:nvSpPr>
        <p:spPr>
          <a:xfrm>
            <a:off x="1066800" y="4834785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b="0" i="0" dirty="0">
                <a:effectLst/>
                <a:latin typeface="+mn-lt"/>
              </a:rPr>
              <a:t>co-locating similar data to allow for better data-skipping - </a:t>
            </a:r>
            <a:r>
              <a:rPr lang="en-AU" sz="1400" b="1" i="1" dirty="0">
                <a:solidFill>
                  <a:srgbClr val="C00000"/>
                </a:solidFill>
                <a:effectLst/>
                <a:latin typeface="+mn-lt"/>
              </a:rPr>
              <a:t>Z-Ordering</a:t>
            </a:r>
            <a:r>
              <a:rPr lang="en-AU" sz="1400" b="0" i="0" dirty="0">
                <a:effectLst/>
                <a:latin typeface="+mn-lt"/>
              </a:rPr>
              <a:t> or </a:t>
            </a:r>
            <a:r>
              <a:rPr lang="en-AU" sz="1400" b="1" i="1" dirty="0">
                <a:solidFill>
                  <a:srgbClr val="C00000"/>
                </a:solidFill>
                <a:effectLst/>
                <a:latin typeface="+mn-lt"/>
              </a:rPr>
              <a:t>Liquid Clustering.</a:t>
            </a:r>
            <a:endParaRPr lang="en-US" sz="1400" b="1" i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B7B0C0-0B7F-D804-602A-22F167D6B70E}"/>
              </a:ext>
            </a:extLst>
          </p:cNvPr>
          <p:cNvSpPr txBox="1"/>
          <p:nvPr/>
        </p:nvSpPr>
        <p:spPr>
          <a:xfrm>
            <a:off x="1097280" y="4507607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AU" sz="1400" b="0" i="0" dirty="0">
                <a:effectLst/>
                <a:latin typeface="+mn-lt"/>
              </a:rPr>
              <a:t>executing partial reads via </a:t>
            </a:r>
            <a:r>
              <a:rPr lang="en-AU" sz="1400" b="1" i="1" dirty="0">
                <a:solidFill>
                  <a:srgbClr val="C00000"/>
                </a:solidFill>
                <a:effectLst/>
                <a:latin typeface="+mn-lt"/>
              </a:rPr>
              <a:t>Partition</a:t>
            </a:r>
            <a:r>
              <a:rPr lang="en-AU" sz="1400" b="0" i="0" dirty="0">
                <a:effectLst/>
                <a:latin typeface="+mn-lt"/>
              </a:rPr>
              <a:t>, </a:t>
            </a:r>
            <a:r>
              <a:rPr lang="en-AU" sz="1400" b="1" i="1" dirty="0">
                <a:solidFill>
                  <a:srgbClr val="C00000"/>
                </a:solidFill>
                <a:latin typeface="+mn-lt"/>
              </a:rPr>
              <a:t>Data</a:t>
            </a:r>
            <a:r>
              <a:rPr lang="en-AU" sz="1400" b="1" i="1" dirty="0">
                <a:solidFill>
                  <a:srgbClr val="C00000"/>
                </a:solidFill>
                <a:effectLst/>
                <a:latin typeface="+mn-lt"/>
              </a:rPr>
              <a:t>-skipping</a:t>
            </a:r>
          </a:p>
        </p:txBody>
      </p:sp>
    </p:spTree>
    <p:extLst>
      <p:ext uri="{BB962C8B-B14F-4D97-AF65-F5344CB8AC3E}">
        <p14:creationId xmlns:p14="http://schemas.microsoft.com/office/powerpoint/2010/main" val="390440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BFD30B03-CCB1-27BF-68CE-0792EE94B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971800"/>
            <a:ext cx="4724400" cy="533400"/>
          </a:xfrm>
          <a:solidFill>
            <a:srgbClr val="0070C0"/>
          </a:solidFill>
        </p:spPr>
        <p:txBody>
          <a:bodyPr/>
          <a:lstStyle/>
          <a:p>
            <a:pPr eaLnBrk="1" hangingPunct="1">
              <a:defRPr/>
            </a:pPr>
            <a:r>
              <a:rPr lang="en-AU" sz="2400" b="1" dirty="0">
                <a:solidFill>
                  <a:schemeClr val="bg1"/>
                </a:solidFill>
                <a:latin typeface="+mn-lt"/>
              </a:rPr>
              <a:t>Data Format - Parquet</a:t>
            </a:r>
            <a:br>
              <a:rPr lang="en-US" altLang="en-US" sz="2400" dirty="0">
                <a:solidFill>
                  <a:schemeClr val="bg1"/>
                </a:solidFill>
                <a:latin typeface="+mn-lt"/>
              </a:rPr>
            </a:br>
            <a:endParaRPr lang="en-US" altLang="en-US" sz="2400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35888B1-9A20-1F13-CD59-B79C59437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71500"/>
            <a:ext cx="3810000" cy="527050"/>
          </a:xfrm>
        </p:spPr>
        <p:txBody>
          <a:bodyPr/>
          <a:lstStyle/>
          <a:p>
            <a:r>
              <a:rPr lang="en-AU" altLang="en-US" sz="2800" b="1" dirty="0">
                <a:solidFill>
                  <a:schemeClr val="accent2"/>
                </a:solidFill>
              </a:rPr>
              <a:t>Logical model</a:t>
            </a:r>
          </a:p>
        </p:txBody>
      </p:sp>
      <p:pic>
        <p:nvPicPr>
          <p:cNvPr id="24579" name="Picture 9" descr="Parquet file composition">
            <a:extLst>
              <a:ext uri="{FF2B5EF4-FFF2-40B4-BE49-F238E27FC236}">
                <a16:creationId xmlns:a16="http://schemas.microsoft.com/office/drawing/2014/main" id="{77E460A4-228E-5070-783A-9315FEB0E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352800"/>
            <a:ext cx="601821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1AB1A1F-A308-372D-EF01-CD807B24CD6C}"/>
              </a:ext>
            </a:extLst>
          </p:cNvPr>
          <p:cNvSpPr txBox="1"/>
          <p:nvPr/>
        </p:nvSpPr>
        <p:spPr>
          <a:xfrm>
            <a:off x="4403366" y="1639132"/>
            <a:ext cx="4648200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200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The </a:t>
            </a:r>
            <a:r>
              <a:rPr lang="en-AU" sz="1200" kern="100" dirty="0">
                <a:highlight>
                  <a:srgbClr val="FFFF00"/>
                </a:highlight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metadata</a:t>
            </a:r>
            <a:r>
              <a:rPr lang="en-AU" sz="1200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 in a Parquet file contains information about 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AU" sz="1200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these row groups, 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AU" sz="1200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about columns (e.g., min/max values, number of values) </a:t>
            </a:r>
          </a:p>
          <a:p>
            <a:pPr marL="17145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AU" sz="1200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the data schema, which makes Parquet a self-describing file with additional metadata to enable better data skipping.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FE1532-7097-784F-8812-21A0771FFF64}"/>
              </a:ext>
            </a:extLst>
          </p:cNvPr>
          <p:cNvSpPr txBox="1"/>
          <p:nvPr/>
        </p:nvSpPr>
        <p:spPr>
          <a:xfrm>
            <a:off x="914400" y="2129010"/>
            <a:ext cx="2971800" cy="7104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spAutoFit/>
          </a:bodyPr>
          <a:lstStyle>
            <a:defPPr>
              <a:defRPr lang="en-US"/>
            </a:defPPr>
            <a:lvl1pPr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defRPr sz="1200" kern="100">
                <a:effectLst/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AU" dirty="0"/>
              <a:t>contain data from the same column, and thus each column is stored together in </a:t>
            </a:r>
            <a:r>
              <a:rPr lang="en-AU" dirty="0">
                <a:highlight>
                  <a:srgbClr val="FFFF00"/>
                </a:highlight>
              </a:rPr>
              <a:t>a row group</a:t>
            </a:r>
            <a:r>
              <a:rPr lang="en-AU" dirty="0"/>
              <a:t>. 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Difference between row-based and column-oriented layouts">
            <a:extLst>
              <a:ext uri="{FF2B5EF4-FFF2-40B4-BE49-F238E27FC236}">
                <a16:creationId xmlns:a16="http://schemas.microsoft.com/office/drawing/2014/main" id="{BA299ADC-3967-C789-79FA-F4D46D922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828800"/>
            <a:ext cx="7543800" cy="386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Rectangle 2">
            <a:extLst>
              <a:ext uri="{FF2B5EF4-FFF2-40B4-BE49-F238E27FC236}">
                <a16:creationId xmlns:a16="http://schemas.microsoft.com/office/drawing/2014/main" id="{ED99A3E0-5967-CF64-AC92-9B93CDF28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71500"/>
            <a:ext cx="6553200" cy="527050"/>
          </a:xfrm>
        </p:spPr>
        <p:txBody>
          <a:bodyPr/>
          <a:lstStyle/>
          <a:p>
            <a:r>
              <a:rPr lang="en-AU" altLang="en-US" sz="2800" b="1">
                <a:solidFill>
                  <a:schemeClr val="accent2"/>
                </a:solidFill>
              </a:rPr>
              <a:t>Row oriented vs Column oriented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AD29980-FDCD-C5B8-12EA-D682A2041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81025"/>
            <a:ext cx="5118100" cy="485775"/>
          </a:xfrm>
        </p:spPr>
        <p:txBody>
          <a:bodyPr/>
          <a:lstStyle/>
          <a:p>
            <a:r>
              <a:rPr lang="en-AU" altLang="en-US" sz="2800" b="1">
                <a:solidFill>
                  <a:schemeClr val="accent2"/>
                </a:solidFill>
              </a:rPr>
              <a:t>Advantages of Parquet files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6A7AFD-5F1F-3250-272E-D8AC847C16F5}"/>
              </a:ext>
            </a:extLst>
          </p:cNvPr>
          <p:cNvSpPr txBox="1"/>
          <p:nvPr/>
        </p:nvSpPr>
        <p:spPr>
          <a:xfrm>
            <a:off x="3009741" y="2808605"/>
            <a:ext cx="1776412" cy="31750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/>
            </a:pPr>
            <a:r>
              <a:rPr lang="en-AU" sz="1400" b="1" i="1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High performance</a:t>
            </a:r>
            <a:endParaRPr lang="en-AU" sz="1400" b="1" kern="100" dirty="0">
              <a:latin typeface="+mn-lt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5AC4B2-296E-37EA-CAAA-73F7E8198C66}"/>
              </a:ext>
            </a:extLst>
          </p:cNvPr>
          <p:cNvSpPr txBox="1"/>
          <p:nvPr/>
        </p:nvSpPr>
        <p:spPr>
          <a:xfrm>
            <a:off x="1335088" y="4487386"/>
            <a:ext cx="1484312" cy="31750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/>
            </a:pPr>
            <a:r>
              <a:rPr lang="en-AU" sz="1400" b="1" i="1" kern="100" dirty="0">
                <a:solidFill>
                  <a:srgbClr val="002060"/>
                </a:solidFill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Cost-effective</a:t>
            </a:r>
            <a:endParaRPr lang="en-AU" sz="1400" b="1" kern="100" dirty="0">
              <a:solidFill>
                <a:srgbClr val="002060"/>
              </a:solidFill>
              <a:latin typeface="+mn-lt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7359B0-93CD-4D9B-4183-90A4A706E94F}"/>
              </a:ext>
            </a:extLst>
          </p:cNvPr>
          <p:cNvSpPr txBox="1"/>
          <p:nvPr/>
        </p:nvSpPr>
        <p:spPr>
          <a:xfrm>
            <a:off x="5050631" y="4502627"/>
            <a:ext cx="1506538" cy="31750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/>
            </a:pPr>
            <a:r>
              <a:rPr lang="en-AU" sz="1400" b="1" i="1" kern="100" dirty="0">
                <a:solidFill>
                  <a:srgbClr val="002060"/>
                </a:solidFill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Interoperability</a:t>
            </a:r>
            <a:endParaRPr lang="en-AU" sz="1400" b="1" kern="100" dirty="0">
              <a:solidFill>
                <a:srgbClr val="002060"/>
              </a:solidFill>
              <a:latin typeface="+mn-lt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CAFAF4-CA8E-697E-A929-1032A6FFD3EC}"/>
              </a:ext>
            </a:extLst>
          </p:cNvPr>
          <p:cNvSpPr txBox="1"/>
          <p:nvPr/>
        </p:nvSpPr>
        <p:spPr>
          <a:xfrm>
            <a:off x="2819400" y="1924368"/>
            <a:ext cx="3048000" cy="9223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indent="-1714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en-AU" sz="1200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better compression and encoding since these algorithms can take advantage of the similar values and data types stored in each column.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CB264D-D1C6-3816-52C9-1F558CE82D17}"/>
              </a:ext>
            </a:extLst>
          </p:cNvPr>
          <p:cNvSpPr txBox="1"/>
          <p:nvPr/>
        </p:nvSpPr>
        <p:spPr>
          <a:xfrm>
            <a:off x="1143000" y="4786312"/>
            <a:ext cx="28150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AU" sz="1200" dirty="0">
                <a:latin typeface="+mn-lt"/>
                <a:ea typeface="DengXian" panose="02010600030101010101" pitchFamily="2" charset="-122"/>
              </a:rPr>
              <a:t>leverage better compression and encoding, this inherently makes the data more cost-effective to store.</a:t>
            </a:r>
            <a:r>
              <a:rPr lang="en-AU" sz="1200" dirty="0">
                <a:latin typeface="+mn-lt"/>
              </a:rPr>
              <a:t> </a:t>
            </a:r>
            <a:endParaRPr lang="en-US" sz="1200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665B1B-AC34-D9F4-D34A-89667FFC1E31}"/>
              </a:ext>
            </a:extLst>
          </p:cNvPr>
          <p:cNvSpPr txBox="1"/>
          <p:nvPr/>
        </p:nvSpPr>
        <p:spPr>
          <a:xfrm>
            <a:off x="4876800" y="4820127"/>
            <a:ext cx="3215640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en-AU" sz="1200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they are very widely supported across different tools and engines, and offer great interoperability.</a:t>
            </a:r>
          </a:p>
        </p:txBody>
      </p:sp>
      <p:sp>
        <p:nvSpPr>
          <p:cNvPr id="18" name="Triangle 17">
            <a:extLst>
              <a:ext uri="{FF2B5EF4-FFF2-40B4-BE49-F238E27FC236}">
                <a16:creationId xmlns:a16="http://schemas.microsoft.com/office/drawing/2014/main" id="{13A16953-E230-1F7D-E4B6-3307D9B0CA4A}"/>
              </a:ext>
            </a:extLst>
          </p:cNvPr>
          <p:cNvSpPr/>
          <p:nvPr/>
        </p:nvSpPr>
        <p:spPr>
          <a:xfrm>
            <a:off x="2819400" y="3153410"/>
            <a:ext cx="2157095" cy="1552575"/>
          </a:xfrm>
          <a:prstGeom prst="triangle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62A470B-8DBB-E625-EC41-BB4F0FB3E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43200"/>
            <a:ext cx="4572000" cy="609600"/>
          </a:xfrm>
          <a:solidFill>
            <a:schemeClr val="bg1"/>
          </a:solidFill>
        </p:spPr>
        <p:txBody>
          <a:bodyPr/>
          <a:lstStyle/>
          <a:p>
            <a:pPr eaLnBrk="1" hangingPunct="1">
              <a:defRPr/>
            </a:pPr>
            <a:r>
              <a:rPr lang="en-AU" altLang="en-US" sz="2800" b="1" i="1" dirty="0">
                <a:solidFill>
                  <a:schemeClr val="accent2"/>
                </a:solidFill>
                <a:latin typeface="+mn-lt"/>
              </a:rPr>
              <a:t>Parque file </a:t>
            </a:r>
            <a:r>
              <a:rPr lang="en-AU" altLang="en-US" sz="2800" b="1" i="1" dirty="0">
                <a:solidFill>
                  <a:srgbClr val="0070C0"/>
                </a:solidFill>
                <a:latin typeface="+mn-lt"/>
              </a:rPr>
              <a:t>Demo</a:t>
            </a:r>
            <a:br>
              <a:rPr lang="en-US" altLang="en-US" sz="2800" i="1" dirty="0">
                <a:solidFill>
                  <a:schemeClr val="accent2"/>
                </a:solidFill>
                <a:latin typeface="+mn-lt"/>
              </a:rPr>
            </a:br>
            <a:endParaRPr lang="en-US" altLang="en-US" sz="2800" i="1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CBF09D22-EF02-0161-93BD-58BF0CFF4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3200"/>
            <a:ext cx="6400800" cy="609600"/>
          </a:xfrm>
          <a:solidFill>
            <a:srgbClr val="0070C0"/>
          </a:solidFill>
        </p:spPr>
        <p:txBody>
          <a:bodyPr/>
          <a:lstStyle/>
          <a:p>
            <a:pPr eaLnBrk="1" hangingPunct="1">
              <a:defRPr/>
            </a:pPr>
            <a:r>
              <a:rPr lang="en-AU" sz="2800" b="1" dirty="0">
                <a:solidFill>
                  <a:schemeClr val="bg1"/>
                </a:solidFill>
                <a:latin typeface="+mn-lt"/>
              </a:rPr>
              <a:t>Schema enforcement</a:t>
            </a:r>
            <a:endParaRPr lang="en-US" altLang="en-US" sz="2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F18401-8D20-3478-D6A4-E8955DD430B2}"/>
              </a:ext>
            </a:extLst>
          </p:cNvPr>
          <p:cNvSpPr txBox="1"/>
          <p:nvPr/>
        </p:nvSpPr>
        <p:spPr>
          <a:xfrm>
            <a:off x="685800" y="3581400"/>
            <a:ext cx="5715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b="0" i="0" dirty="0">
                <a:effectLst/>
                <a:latin typeface="+mn-lt"/>
              </a:rPr>
              <a:t>Schema definition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dirty="0">
                <a:latin typeface="+mn-lt"/>
              </a:rPr>
              <a:t>Schema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b="0" i="0" dirty="0">
                <a:effectLst/>
                <a:latin typeface="+mn-lt"/>
              </a:rPr>
              <a:t>Schema evolution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7DCD85-2A6E-53A4-4C34-39D3D5228E8C}"/>
              </a:ext>
            </a:extLst>
          </p:cNvPr>
          <p:cNvSpPr txBox="1"/>
          <p:nvPr/>
        </p:nvSpPr>
        <p:spPr>
          <a:xfrm>
            <a:off x="640080" y="2866251"/>
            <a:ext cx="7924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b="1" i="1" dirty="0">
                <a:effectLst/>
                <a:highlight>
                  <a:srgbClr val="00FF00"/>
                </a:highlight>
                <a:latin typeface="+mn-lt"/>
              </a:rPr>
              <a:t>schema validation</a:t>
            </a:r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, to ensure quality data by rejecting writes to a table that do not match the table’s schema 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b="1" i="1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+mn-lt"/>
              </a:rPr>
              <a:t>schema evolution</a:t>
            </a:r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, which allows users to easily change a table’s current schema to accommodate data that may be changing over time. </a:t>
            </a:r>
            <a:endParaRPr lang="en-US" sz="14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63598A-6299-0C79-02F4-448711F2ADC1}"/>
              </a:ext>
            </a:extLst>
          </p:cNvPr>
          <p:cNvSpPr txBox="1"/>
          <p:nvPr/>
        </p:nvSpPr>
        <p:spPr>
          <a:xfrm>
            <a:off x="640080" y="4006989"/>
            <a:ext cx="807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It is commonly used when performing an append or overwrite operation to automatically adapt the schema to include one or more new columns. </a:t>
            </a:r>
            <a:endParaRPr lang="en-US" sz="1400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87B869-2520-98C9-CACD-93A29BE337B6}"/>
              </a:ext>
            </a:extLst>
          </p:cNvPr>
          <p:cNvSpPr txBox="1"/>
          <p:nvPr/>
        </p:nvSpPr>
        <p:spPr>
          <a:xfrm>
            <a:off x="640080" y="1156395"/>
            <a:ext cx="7543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For ELT scenarios where the schema of the data is constantly evolving, you may be seeking a method for accommodating these schema changes through schema evolution features.</a:t>
            </a:r>
            <a:endParaRPr lang="en-US" sz="1400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84919E-68E8-F2FF-02A2-A7035169464C}"/>
              </a:ext>
            </a:extLst>
          </p:cNvPr>
          <p:cNvSpPr txBox="1"/>
          <p:nvPr/>
        </p:nvSpPr>
        <p:spPr>
          <a:xfrm>
            <a:off x="640080" y="2119967"/>
            <a:ext cx="84277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Since every data frame in Apache Spark contains a schema, when it is written to a Delta Lake in delta format, </a:t>
            </a:r>
            <a:r>
              <a:rPr lang="en-AU" sz="14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+mn-lt"/>
              </a:rPr>
              <a:t>the schema is saved in JSON format in the transaction logs. </a:t>
            </a:r>
          </a:p>
          <a:p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This allows for a few neat capabilities and features such as: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FD5F7798-D6FC-FD39-ABBC-51168D8B0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27300"/>
            <a:ext cx="5029200" cy="533400"/>
          </a:xfr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AU" sz="2400" b="1" dirty="0">
                <a:solidFill>
                  <a:schemeClr val="bg1"/>
                </a:solidFill>
                <a:latin typeface="+mn-lt"/>
              </a:rPr>
              <a:t>Transaction Log – Delta Log</a:t>
            </a:r>
            <a:endParaRPr lang="en-US" altLang="en-US" sz="24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8487E8-3A0D-8925-3B93-05ECE8EC7816}"/>
              </a:ext>
            </a:extLst>
          </p:cNvPr>
          <p:cNvSpPr txBox="1"/>
          <p:nvPr/>
        </p:nvSpPr>
        <p:spPr>
          <a:xfrm>
            <a:off x="914400" y="3244850"/>
            <a:ext cx="457200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dirty="0">
                <a:solidFill>
                  <a:srgbClr val="0070C0"/>
                </a:solidFill>
                <a:highlight>
                  <a:srgbClr val="FFFF00"/>
                </a:highlight>
                <a:latin typeface="+mn-lt"/>
              </a:rPr>
              <a:t>atomicity guarantee</a:t>
            </a:r>
            <a:endParaRPr lang="en-US" dirty="0">
              <a:solidFill>
                <a:srgbClr val="0070C0"/>
              </a:solidFill>
              <a:highlight>
                <a:srgbClr val="FFFF00"/>
              </a:highlight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16D3E2-B5CB-C5D4-2F66-55D1174B16F2}"/>
              </a:ext>
            </a:extLst>
          </p:cNvPr>
          <p:cNvSpPr txBox="1"/>
          <p:nvPr/>
        </p:nvSpPr>
        <p:spPr>
          <a:xfrm>
            <a:off x="914400" y="4350782"/>
            <a:ext cx="8001000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dirty="0">
                <a:solidFill>
                  <a:srgbClr val="0070C0"/>
                </a:solidFill>
                <a:latin typeface="+mn-lt"/>
              </a:rPr>
              <a:t>significantly faster metadata operations for large tabular datasets. </a:t>
            </a:r>
            <a:endParaRPr lang="en-US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D9D790-B11E-6FEC-EDA9-3F6C66886B2B}"/>
              </a:ext>
            </a:extLst>
          </p:cNvPr>
          <p:cNvSpPr txBox="1"/>
          <p:nvPr/>
        </p:nvSpPr>
        <p:spPr>
          <a:xfrm>
            <a:off x="914400" y="361315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dirty="0">
                <a:solidFill>
                  <a:srgbClr val="0070C0"/>
                </a:solidFill>
                <a:highlight>
                  <a:srgbClr val="FFFF00"/>
                </a:highlight>
                <a:latin typeface="+mn-lt"/>
              </a:rPr>
              <a:t>metadata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343529-476A-3164-F842-CF9E10F9E613}"/>
              </a:ext>
            </a:extLst>
          </p:cNvPr>
          <p:cNvSpPr txBox="1"/>
          <p:nvPr/>
        </p:nvSpPr>
        <p:spPr>
          <a:xfrm>
            <a:off x="914400" y="3966210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dirty="0">
                <a:solidFill>
                  <a:srgbClr val="0070C0"/>
                </a:solidFill>
                <a:latin typeface="+mn-lt"/>
              </a:rPr>
              <a:t>time travel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289EBD-027F-8E89-B96C-32978657F114}"/>
              </a:ext>
            </a:extLst>
          </p:cNvPr>
          <p:cNvSpPr txBox="1"/>
          <p:nvPr/>
        </p:nvSpPr>
        <p:spPr>
          <a:xfrm>
            <a:off x="536575" y="685800"/>
            <a:ext cx="84455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2800" b="1" dirty="0">
                <a:solidFill>
                  <a:schemeClr val="accent2"/>
                </a:solidFill>
                <a:latin typeface="+mj-lt"/>
              </a:rPr>
              <a:t>What is transaction log</a:t>
            </a:r>
            <a:endParaRPr lang="en-US" sz="28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346B75-49BC-0109-5A27-8A23287EDAA6}"/>
              </a:ext>
            </a:extLst>
          </p:cNvPr>
          <p:cNvSpPr txBox="1"/>
          <p:nvPr/>
        </p:nvSpPr>
        <p:spPr>
          <a:xfrm>
            <a:off x="609600" y="3048000"/>
            <a:ext cx="8299450" cy="1076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600" dirty="0">
                <a:solidFill>
                  <a:srgbClr val="000000"/>
                </a:solidFill>
                <a:latin typeface="+mn-lt"/>
              </a:rPr>
              <a:t>It acts as a </a:t>
            </a:r>
            <a:r>
              <a:rPr lang="en-AU" sz="1600" dirty="0">
                <a:solidFill>
                  <a:srgbClr val="000000"/>
                </a:solidFill>
                <a:highlight>
                  <a:srgbClr val="FFFF00"/>
                </a:highlight>
                <a:latin typeface="+mn-lt"/>
              </a:rPr>
              <a:t>single source of truth </a:t>
            </a:r>
            <a:r>
              <a:rPr lang="en-AU" sz="1600" dirty="0">
                <a:solidFill>
                  <a:srgbClr val="000000"/>
                </a:solidFill>
                <a:latin typeface="+mn-lt"/>
              </a:rPr>
              <a:t>and tracks all changes made to the table.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600" dirty="0">
                <a:solidFill>
                  <a:srgbClr val="000000"/>
                </a:solidFill>
                <a:latin typeface="+mn-lt"/>
              </a:rPr>
              <a:t>The transaction log allows users to reason about their data and trust its completeness and quality.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600" dirty="0">
                <a:solidFill>
                  <a:srgbClr val="000000"/>
                </a:solidFill>
                <a:latin typeface="+mn-lt"/>
              </a:rPr>
              <a:t>if an operation is not recorded in the transaction log, it never happened. </a:t>
            </a:r>
            <a:endParaRPr lang="en-US" sz="1600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C8A639-ED70-0A90-60F9-EB4DCE783E44}"/>
              </a:ext>
            </a:extLst>
          </p:cNvPr>
          <p:cNvSpPr txBox="1"/>
          <p:nvPr/>
        </p:nvSpPr>
        <p:spPr>
          <a:xfrm>
            <a:off x="609600" y="1676400"/>
            <a:ext cx="8001000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b="1" i="1" dirty="0">
                <a:solidFill>
                  <a:srgbClr val="000000"/>
                </a:solidFill>
                <a:latin typeface="+mn-lt"/>
              </a:rPr>
              <a:t>transaction log </a:t>
            </a:r>
          </a:p>
          <a:p>
            <a:pPr>
              <a:defRPr/>
            </a:pPr>
            <a:r>
              <a:rPr lang="en-AU" dirty="0">
                <a:solidFill>
                  <a:srgbClr val="000000"/>
                </a:solidFill>
                <a:latin typeface="+mn-lt"/>
              </a:rPr>
              <a:t>an ordered record of every transaction made against a Delta table since it was created.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4BE201-350F-29EF-F969-8086F2D94B69}"/>
              </a:ext>
            </a:extLst>
          </p:cNvPr>
          <p:cNvSpPr txBox="1"/>
          <p:nvPr/>
        </p:nvSpPr>
        <p:spPr>
          <a:xfrm>
            <a:off x="463550" y="685800"/>
            <a:ext cx="84455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2800" b="1" dirty="0">
                <a:solidFill>
                  <a:schemeClr val="accent2"/>
                </a:solidFill>
                <a:latin typeface="+mj-lt"/>
              </a:rPr>
              <a:t>Implements Atomicity </a:t>
            </a:r>
            <a:endParaRPr lang="en-US" sz="28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6C5065-9E08-EBFC-E0D4-26CF95974102}"/>
              </a:ext>
            </a:extLst>
          </p:cNvPr>
          <p:cNvSpPr txBox="1"/>
          <p:nvPr/>
        </p:nvSpPr>
        <p:spPr>
          <a:xfrm>
            <a:off x="477838" y="1498600"/>
            <a:ext cx="7958137" cy="9540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400" dirty="0">
                <a:solidFill>
                  <a:srgbClr val="000000"/>
                </a:solidFill>
                <a:latin typeface="+mn-lt"/>
              </a:rPr>
              <a:t>all operations (e.g., INSERT, UPDATE, DELETE, or MERGE) performed on your file will either succeed as a whole or not succeed at all.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400" dirty="0">
                <a:solidFill>
                  <a:srgbClr val="000000"/>
                </a:solidFill>
                <a:latin typeface="+mn-lt"/>
              </a:rPr>
              <a:t>Without atomicity, any hardware failure or software bug can cause a data file to be written partially, resulting in corrupted or, at a minimum, invalid data. </a:t>
            </a:r>
            <a:endParaRPr lang="en-US" sz="1400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0AD396-0E6C-6B65-9125-1602E2554C8C}"/>
              </a:ext>
            </a:extLst>
          </p:cNvPr>
          <p:cNvSpPr txBox="1"/>
          <p:nvPr/>
        </p:nvSpPr>
        <p:spPr>
          <a:xfrm>
            <a:off x="574675" y="5429250"/>
            <a:ext cx="4378325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1400" i="1" dirty="0">
                <a:latin typeface="+mn-lt"/>
                <a:ea typeface="DengXian" panose="02010600030101010101" pitchFamily="2" charset="-122"/>
              </a:rPr>
              <a:t>List of possible actions in a transaction log entry</a:t>
            </a:r>
            <a:r>
              <a:rPr lang="en-AU" sz="1400" dirty="0">
                <a:latin typeface="+mn-lt"/>
              </a:rPr>
              <a:t> </a:t>
            </a:r>
            <a:endParaRPr lang="en-US" sz="1400" dirty="0">
              <a:latin typeface="+mn-lt"/>
            </a:endParaRPr>
          </a:p>
        </p:txBody>
      </p:sp>
      <p:pic>
        <p:nvPicPr>
          <p:cNvPr id="30725" name="Picture 7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C0EB6D8-C83B-F453-7250-8679C9E53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2590800"/>
            <a:ext cx="7772400" cy="283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6" name="TextBox 9">
            <a:extLst>
              <a:ext uri="{FF2B5EF4-FFF2-40B4-BE49-F238E27FC236}">
                <a16:creationId xmlns:a16="http://schemas.microsoft.com/office/drawing/2014/main" id="{F7CDDC11-14EB-603B-27FA-40A4E0949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3" y="5848350"/>
            <a:ext cx="795813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sz="1400" i="1" dirty="0">
                <a:solidFill>
                  <a:schemeClr val="tx1"/>
                </a:solidFill>
                <a:ea typeface="DengXian" panose="02010600030101010101" pitchFamily="2" charset="-122"/>
              </a:rPr>
              <a:t>These actions are recorded in the transaction log entries (*.</a:t>
            </a:r>
            <a:r>
              <a:rPr lang="en-AU" altLang="en-US" sz="1400" i="1" dirty="0" err="1">
                <a:solidFill>
                  <a:schemeClr val="tx1"/>
                </a:solidFill>
                <a:ea typeface="DengXian" panose="02010600030101010101" pitchFamily="2" charset="-122"/>
              </a:rPr>
              <a:t>json</a:t>
            </a:r>
            <a:r>
              <a:rPr lang="en-AU" altLang="en-US" sz="1400" i="1" dirty="0">
                <a:solidFill>
                  <a:schemeClr val="tx1"/>
                </a:solidFill>
                <a:ea typeface="DengXian" panose="02010600030101010101" pitchFamily="2" charset="-122"/>
              </a:rPr>
              <a:t>) as ordered, atomic units known as </a:t>
            </a:r>
            <a:r>
              <a:rPr lang="en-AU" altLang="en-US" sz="1400" b="1" i="1" dirty="0">
                <a:solidFill>
                  <a:srgbClr val="C00000"/>
                </a:solidFill>
                <a:ea typeface="DengXian" panose="02010600030101010101" pitchFamily="2" charset="-122"/>
              </a:rPr>
              <a:t>commits</a:t>
            </a:r>
            <a:r>
              <a:rPr lang="en-AU" altLang="en-US" sz="1400" i="1" dirty="0">
                <a:solidFill>
                  <a:schemeClr val="tx1"/>
                </a:solidFill>
                <a:ea typeface="DengXian" panose="02010600030101010101" pitchFamily="2" charset="-122"/>
              </a:rPr>
              <a:t>. </a:t>
            </a:r>
            <a:endParaRPr lang="en-US" altLang="en-US" sz="1400" i="1" dirty="0">
              <a:solidFill>
                <a:schemeClr val="tx1"/>
              </a:solidFill>
              <a:ea typeface="DengXian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10F7A4-52E9-8518-FB60-80CA2DB8711F}"/>
              </a:ext>
            </a:extLst>
          </p:cNvPr>
          <p:cNvSpPr txBox="1"/>
          <p:nvPr/>
        </p:nvSpPr>
        <p:spPr>
          <a:xfrm>
            <a:off x="463550" y="685800"/>
            <a:ext cx="220345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2800" b="1" dirty="0">
                <a:solidFill>
                  <a:schemeClr val="accent2"/>
                </a:solidFill>
                <a:latin typeface="+mj-lt"/>
              </a:rPr>
              <a:t>Sample</a:t>
            </a:r>
            <a:endParaRPr lang="en-US" sz="2800" b="1" dirty="0">
              <a:solidFill>
                <a:schemeClr val="accent2"/>
              </a:solidFill>
              <a:latin typeface="+mj-lt"/>
            </a:endParaRPr>
          </a:p>
        </p:txBody>
      </p:sp>
      <p:pic>
        <p:nvPicPr>
          <p:cNvPr id="31747" name="Picture 1" descr="Multiple writes to the same file">
            <a:extLst>
              <a:ext uri="{FF2B5EF4-FFF2-40B4-BE49-F238E27FC236}">
                <a16:creationId xmlns:a16="http://schemas.microsoft.com/office/drawing/2014/main" id="{6F972F25-7DC2-CA38-D085-4941B4384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524000"/>
            <a:ext cx="6858000" cy="454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44B7EF8-62A5-6BAA-8CB1-573783519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43200"/>
            <a:ext cx="4572000" cy="609600"/>
          </a:xfrm>
          <a:solidFill>
            <a:schemeClr val="bg1"/>
          </a:solidFill>
        </p:spPr>
        <p:txBody>
          <a:bodyPr/>
          <a:lstStyle/>
          <a:p>
            <a:pPr eaLnBrk="1" hangingPunct="1">
              <a:defRPr/>
            </a:pPr>
            <a:r>
              <a:rPr lang="en-AU" altLang="en-US" sz="2800" b="1" i="1" dirty="0">
                <a:solidFill>
                  <a:schemeClr val="accent2"/>
                </a:solidFill>
                <a:latin typeface="+mn-lt"/>
              </a:rPr>
              <a:t>Multiple write </a:t>
            </a:r>
            <a:r>
              <a:rPr lang="en-AU" altLang="en-US" sz="2800" b="1" i="1" dirty="0">
                <a:solidFill>
                  <a:srgbClr val="0070C0"/>
                </a:solidFill>
                <a:latin typeface="+mn-lt"/>
              </a:rPr>
              <a:t>Demo</a:t>
            </a:r>
            <a:br>
              <a:rPr lang="en-US" altLang="en-US" sz="2800" i="1" dirty="0">
                <a:solidFill>
                  <a:schemeClr val="accent2"/>
                </a:solidFill>
                <a:latin typeface="+mn-lt"/>
              </a:rPr>
            </a:br>
            <a:endParaRPr lang="en-US" altLang="en-US" sz="2800" i="1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071680-7310-B3B5-4C06-640F3BD3B225}"/>
              </a:ext>
            </a:extLst>
          </p:cNvPr>
          <p:cNvCxnSpPr/>
          <p:nvPr/>
        </p:nvCxnSpPr>
        <p:spPr>
          <a:xfrm flipV="1">
            <a:off x="1905000" y="2565400"/>
            <a:ext cx="3962400" cy="23813"/>
          </a:xfrm>
          <a:prstGeom prst="straightConnector1">
            <a:avLst/>
          </a:prstGeom>
          <a:ln w="3810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19D4ADD-CBBB-14E4-3610-3F853407640B}"/>
              </a:ext>
            </a:extLst>
          </p:cNvPr>
          <p:cNvSpPr txBox="1"/>
          <p:nvPr/>
        </p:nvSpPr>
        <p:spPr>
          <a:xfrm>
            <a:off x="463550" y="685800"/>
            <a:ext cx="586105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2800" b="1" dirty="0">
                <a:solidFill>
                  <a:schemeClr val="accent2"/>
                </a:solidFill>
                <a:latin typeface="+mj-lt"/>
              </a:rPr>
              <a:t>Read Delta table data</a:t>
            </a:r>
            <a:endParaRPr lang="en-US" sz="2800" b="1" dirty="0">
              <a:solidFill>
                <a:schemeClr val="accent2"/>
              </a:solidFill>
              <a:latin typeface="+mj-lt"/>
            </a:endParaRPr>
          </a:p>
        </p:txBody>
      </p:sp>
      <p:pic>
        <p:nvPicPr>
          <p:cNvPr id="33796" name="Picture 1" descr="Read operations">
            <a:extLst>
              <a:ext uri="{FF2B5EF4-FFF2-40B4-BE49-F238E27FC236}">
                <a16:creationId xmlns:a16="http://schemas.microsoft.com/office/drawing/2014/main" id="{55811705-D4B4-74ED-9BBE-B3DB0A48E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505200"/>
            <a:ext cx="4876800" cy="279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B0C94E-BAC7-45AF-E8BF-8AA788DD8224}"/>
              </a:ext>
            </a:extLst>
          </p:cNvPr>
          <p:cNvSpPr txBox="1"/>
          <p:nvPr/>
        </p:nvSpPr>
        <p:spPr>
          <a:xfrm>
            <a:off x="3962400" y="1958975"/>
            <a:ext cx="3505200" cy="317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defRPr/>
            </a:pPr>
            <a:r>
              <a:rPr lang="en-AU" sz="1400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read data file based on the log files.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57C763-DF5D-245D-5731-F11D1480F777}"/>
              </a:ext>
            </a:extLst>
          </p:cNvPr>
          <p:cNvSpPr txBox="1"/>
          <p:nvPr/>
        </p:nvSpPr>
        <p:spPr>
          <a:xfrm>
            <a:off x="762000" y="2008188"/>
            <a:ext cx="2819400" cy="317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spcAft>
                <a:spcPts val="1800"/>
              </a:spcAft>
              <a:defRPr/>
            </a:pPr>
            <a:r>
              <a:rPr lang="en-AU" sz="1400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Read the transaction log files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9C8113-AD27-2A96-E9D4-B380BF8F6D16}"/>
              </a:ext>
            </a:extLst>
          </p:cNvPr>
          <p:cNvSpPr/>
          <p:nvPr/>
        </p:nvSpPr>
        <p:spPr>
          <a:xfrm>
            <a:off x="2087563" y="2401888"/>
            <a:ext cx="381000" cy="381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B44206-1B20-4284-AC25-89C2F6E6AA13}"/>
              </a:ext>
            </a:extLst>
          </p:cNvPr>
          <p:cNvSpPr/>
          <p:nvPr/>
        </p:nvSpPr>
        <p:spPr>
          <a:xfrm>
            <a:off x="5105400" y="2398713"/>
            <a:ext cx="381000" cy="381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32F1E3-A7A7-A79B-9B17-9B3B9F43AA1E}"/>
              </a:ext>
            </a:extLst>
          </p:cNvPr>
          <p:cNvSpPr txBox="1"/>
          <p:nvPr/>
        </p:nvSpPr>
        <p:spPr>
          <a:xfrm>
            <a:off x="463550" y="685800"/>
            <a:ext cx="692785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2800" b="1" dirty="0">
                <a:solidFill>
                  <a:schemeClr val="accent2"/>
                </a:solidFill>
                <a:latin typeface="+mj-lt"/>
              </a:rPr>
              <a:t>Failure scenario with write operation</a:t>
            </a:r>
            <a:endParaRPr lang="en-US" sz="2800" b="1" dirty="0">
              <a:solidFill>
                <a:schemeClr val="accent2"/>
              </a:solidFill>
              <a:latin typeface="+mj-lt"/>
            </a:endParaRPr>
          </a:p>
        </p:txBody>
      </p:sp>
      <p:pic>
        <p:nvPicPr>
          <p:cNvPr id="34819" name="Picture 2" descr="Failure during the last write operation.">
            <a:extLst>
              <a:ext uri="{FF2B5EF4-FFF2-40B4-BE49-F238E27FC236}">
                <a16:creationId xmlns:a16="http://schemas.microsoft.com/office/drawing/2014/main" id="{2B6E99C1-075E-B096-9E91-88FE946AA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524000"/>
            <a:ext cx="6477000" cy="42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1" descr="Updates and the transaction log">
            <a:extLst>
              <a:ext uri="{FF2B5EF4-FFF2-40B4-BE49-F238E27FC236}">
                <a16:creationId xmlns:a16="http://schemas.microsoft.com/office/drawing/2014/main" id="{533BEE17-7E0F-6D05-D2B7-FF7DD0D86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71600"/>
            <a:ext cx="7010400" cy="483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32374F-0497-CEA5-6E86-096419F47FD7}"/>
              </a:ext>
            </a:extLst>
          </p:cNvPr>
          <p:cNvSpPr txBox="1"/>
          <p:nvPr/>
        </p:nvSpPr>
        <p:spPr>
          <a:xfrm>
            <a:off x="838200" y="457200"/>
            <a:ext cx="44196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2800" b="1" dirty="0">
                <a:solidFill>
                  <a:schemeClr val="accent2"/>
                </a:solidFill>
                <a:latin typeface="+mj-lt"/>
              </a:rPr>
              <a:t>Update scenario</a:t>
            </a:r>
            <a:endParaRPr lang="en-US" sz="2800" b="1" dirty="0">
              <a:solidFill>
                <a:schemeClr val="accent2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903CA5BF-F142-77B0-2C8F-6ED7C7A3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43200"/>
            <a:ext cx="4572000" cy="609600"/>
          </a:xfrm>
          <a:solidFill>
            <a:schemeClr val="bg1"/>
          </a:solidFill>
        </p:spPr>
        <p:txBody>
          <a:bodyPr/>
          <a:lstStyle/>
          <a:p>
            <a:pPr eaLnBrk="1" hangingPunct="1">
              <a:defRPr/>
            </a:pPr>
            <a:r>
              <a:rPr lang="en-AU" altLang="en-US" sz="2800" b="1" i="1" dirty="0">
                <a:solidFill>
                  <a:schemeClr val="accent2"/>
                </a:solidFill>
                <a:latin typeface="+mn-lt"/>
              </a:rPr>
              <a:t>update </a:t>
            </a:r>
            <a:r>
              <a:rPr lang="en-AU" altLang="en-US" sz="2800" b="1" i="1" dirty="0">
                <a:solidFill>
                  <a:srgbClr val="0070C0"/>
                </a:solidFill>
                <a:latin typeface="+mn-lt"/>
              </a:rPr>
              <a:t>Demo</a:t>
            </a:r>
            <a:br>
              <a:rPr lang="en-US" altLang="en-US" sz="2800" i="1" dirty="0">
                <a:solidFill>
                  <a:schemeClr val="accent2"/>
                </a:solidFill>
                <a:latin typeface="+mn-lt"/>
              </a:rPr>
            </a:br>
            <a:endParaRPr lang="en-US" altLang="en-US" sz="2800" i="1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2B712198-D163-FC4D-AB9F-43B43F804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0"/>
            <a:ext cx="5257800" cy="533400"/>
          </a:xfrm>
          <a:solidFill>
            <a:srgbClr val="0070C0"/>
          </a:solidFill>
        </p:spPr>
        <p:txBody>
          <a:bodyPr/>
          <a:lstStyle/>
          <a:p>
            <a:pPr eaLnBrk="1" hangingPunct="1">
              <a:defRPr/>
            </a:pPr>
            <a:r>
              <a:rPr lang="en-AU" sz="2400" b="1" dirty="0">
                <a:solidFill>
                  <a:schemeClr val="bg1"/>
                </a:solidFill>
                <a:latin typeface="+mn-lt"/>
              </a:rPr>
              <a:t>Scale metadata – check point</a:t>
            </a:r>
            <a:endParaRPr lang="en-US" altLang="en-US" sz="2400" b="1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9EE915-FA21-771D-5EF6-70307ADCAFE5}"/>
              </a:ext>
            </a:extLst>
          </p:cNvPr>
          <p:cNvSpPr txBox="1"/>
          <p:nvPr/>
        </p:nvSpPr>
        <p:spPr>
          <a:xfrm>
            <a:off x="838200" y="3706341"/>
            <a:ext cx="7620000" cy="31797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defRPr/>
            </a:pPr>
            <a:r>
              <a:rPr lang="en-AU" sz="1400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The Delta Lake writer will continue to generate a new checkpoint every </a:t>
            </a:r>
            <a:r>
              <a:rPr lang="en-AU" sz="1400" kern="100" dirty="0">
                <a:highlight>
                  <a:srgbClr val="FFFF00"/>
                </a:highlight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10 commits</a:t>
            </a:r>
            <a:r>
              <a:rPr lang="en-AU" sz="1400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975E6F-F1D7-3A0B-9E97-53FB3822459C}"/>
              </a:ext>
            </a:extLst>
          </p:cNvPr>
          <p:cNvSpPr txBox="1"/>
          <p:nvPr/>
        </p:nvSpPr>
        <p:spPr>
          <a:xfrm>
            <a:off x="914400" y="1879600"/>
            <a:ext cx="7848600" cy="9540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400" dirty="0">
                <a:latin typeface="+mn-lt"/>
                <a:ea typeface="DengXian" panose="02010600030101010101" pitchFamily="2" charset="-122"/>
              </a:rPr>
              <a:t>we can have many very large files with thousands of transaction log entries for a single Parquet file.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400" dirty="0">
                <a:latin typeface="+mn-lt"/>
                <a:ea typeface="DengXian" panose="02010600030101010101" pitchFamily="2" charset="-122"/>
              </a:rPr>
              <a:t>How does Delta Lake scale its metadata handling without needing to read thousands of </a:t>
            </a:r>
            <a:r>
              <a:rPr lang="en-AU" sz="1400" dirty="0">
                <a:highlight>
                  <a:srgbClr val="00FF00"/>
                </a:highlight>
                <a:latin typeface="+mn-lt"/>
                <a:ea typeface="DengXian" panose="02010600030101010101" pitchFamily="2" charset="-122"/>
              </a:rPr>
              <a:t>small files</a:t>
            </a:r>
            <a:r>
              <a:rPr lang="en-AU" sz="1400" dirty="0">
                <a:latin typeface="+mn-lt"/>
                <a:ea typeface="DengXian" panose="02010600030101010101" pitchFamily="2" charset="-122"/>
              </a:rPr>
              <a:t>?</a:t>
            </a:r>
            <a:endParaRPr lang="en-US" sz="1400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F8CBBC-F95E-D5F9-30EA-D5CE3B3D4DAF}"/>
              </a:ext>
            </a:extLst>
          </p:cNvPr>
          <p:cNvSpPr txBox="1"/>
          <p:nvPr/>
        </p:nvSpPr>
        <p:spPr>
          <a:xfrm>
            <a:off x="914400" y="1516063"/>
            <a:ext cx="502920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b="1" dirty="0">
                <a:solidFill>
                  <a:schemeClr val="accent2"/>
                </a:solidFill>
                <a:latin typeface="+mj-lt"/>
              </a:rPr>
              <a:t>Scale metadata handling challenge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B09E75-A93E-0287-1BD5-DAD022174475}"/>
              </a:ext>
            </a:extLst>
          </p:cNvPr>
          <p:cNvSpPr txBox="1"/>
          <p:nvPr/>
        </p:nvSpPr>
        <p:spPr>
          <a:xfrm>
            <a:off x="723900" y="4095433"/>
            <a:ext cx="8229600" cy="19081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AU" sz="1400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A checkpoint file saves the entire state of the table at a given point in time.  “state” refers to the different actions, not the file’s actual content.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AU" sz="1400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So, it will contain the </a:t>
            </a:r>
            <a:r>
              <a:rPr lang="en-AU" sz="1400" i="1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add file</a:t>
            </a:r>
            <a:r>
              <a:rPr lang="en-AU" sz="1400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, </a:t>
            </a:r>
            <a:r>
              <a:rPr lang="en-AU" sz="1400" i="1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remove file</a:t>
            </a:r>
            <a:r>
              <a:rPr lang="en-AU" sz="1400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, </a:t>
            </a:r>
            <a:r>
              <a:rPr lang="en-AU" sz="1400" i="1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update metadata</a:t>
            </a:r>
            <a:r>
              <a:rPr lang="en-AU" sz="1400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, </a:t>
            </a:r>
            <a:r>
              <a:rPr lang="en-AU" sz="1400" i="1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commit info</a:t>
            </a:r>
            <a:r>
              <a:rPr lang="en-AU" sz="1400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, etc., actions, with all the context information. It will save this list in native Parquet format.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AU" sz="1400" kern="100" dirty="0">
                <a:latin typeface="+mn-lt"/>
                <a:ea typeface="DengXian" panose="02010600030101010101" pitchFamily="2" charset="-122"/>
                <a:cs typeface="Times New Roman" panose="02020603050405020304" pitchFamily="18" charset="0"/>
              </a:rPr>
              <a:t>This will allow Spark to read the checkpoint quickly. This gives the Spark reader a “shortcut” to fully reproduce a table’s state and avoid reprocessing thousands of small JSON files, which could be inefficient.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1E6765-72CC-C943-4321-804E3D34CBE2}"/>
              </a:ext>
            </a:extLst>
          </p:cNvPr>
          <p:cNvSpPr txBox="1"/>
          <p:nvPr/>
        </p:nvSpPr>
        <p:spPr>
          <a:xfrm>
            <a:off x="838200" y="3336925"/>
            <a:ext cx="162242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b="1" dirty="0">
                <a:solidFill>
                  <a:srgbClr val="0070C0"/>
                </a:solidFill>
                <a:latin typeface="+mj-lt"/>
              </a:rPr>
              <a:t>Check point</a:t>
            </a:r>
            <a:endParaRPr lang="en-US" b="1" dirty="0">
              <a:solidFill>
                <a:srgbClr val="0070C0"/>
              </a:solidFill>
              <a:latin typeface="+mj-lt"/>
            </a:endParaRPr>
          </a:p>
        </p:txBody>
      </p: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52EE7089-88FA-B226-14F3-7BC3320AEFEC}"/>
              </a:ext>
            </a:extLst>
          </p:cNvPr>
          <p:cNvCxnSpPr>
            <a:cxnSpLocks/>
          </p:cNvCxnSpPr>
          <p:nvPr/>
        </p:nvCxnSpPr>
        <p:spPr>
          <a:xfrm flipV="1">
            <a:off x="3352800" y="2691845"/>
            <a:ext cx="1303019" cy="965755"/>
          </a:xfrm>
          <a:prstGeom prst="curvedConnector3">
            <a:avLst>
              <a:gd name="adj1" fmla="val 50000"/>
            </a:avLst>
          </a:prstGeom>
          <a:ln w="5715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1" descr="Checkpoint file example">
            <a:extLst>
              <a:ext uri="{FF2B5EF4-FFF2-40B4-BE49-F238E27FC236}">
                <a16:creationId xmlns:a16="http://schemas.microsoft.com/office/drawing/2014/main" id="{34F2267C-DCD2-7FD6-5E29-615FED8F6D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42875"/>
            <a:ext cx="4533900" cy="657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FA2F031-8886-C312-C583-A0D7F0916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43200"/>
            <a:ext cx="4572000" cy="609600"/>
          </a:xfrm>
          <a:solidFill>
            <a:schemeClr val="bg1"/>
          </a:solidFill>
        </p:spPr>
        <p:txBody>
          <a:bodyPr/>
          <a:lstStyle/>
          <a:p>
            <a:pPr eaLnBrk="1" hangingPunct="1">
              <a:defRPr/>
            </a:pPr>
            <a:r>
              <a:rPr lang="en-AU" altLang="en-US" sz="2800" b="1" i="1" dirty="0">
                <a:solidFill>
                  <a:schemeClr val="accent2"/>
                </a:solidFill>
                <a:latin typeface="+mn-lt"/>
              </a:rPr>
              <a:t>Check point </a:t>
            </a:r>
            <a:r>
              <a:rPr lang="en-AU" altLang="en-US" sz="2800" b="1" i="1" dirty="0">
                <a:solidFill>
                  <a:srgbClr val="0070C0"/>
                </a:solidFill>
                <a:latin typeface="+mn-lt"/>
              </a:rPr>
              <a:t>Demo</a:t>
            </a:r>
            <a:br>
              <a:rPr lang="en-US" altLang="en-US" sz="2800" i="1" dirty="0">
                <a:solidFill>
                  <a:schemeClr val="accent2"/>
                </a:solidFill>
                <a:latin typeface="+mn-lt"/>
              </a:rPr>
            </a:br>
            <a:endParaRPr lang="en-US" altLang="en-US" sz="2800" i="1" dirty="0">
              <a:solidFill>
                <a:schemeClr val="accent2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B997DF-C427-3544-A914-1BD950AE6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2667D5EB-33E8-5512-E919-042D6E0B6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43200"/>
            <a:ext cx="6324600" cy="609600"/>
          </a:xfrm>
          <a:solidFill>
            <a:schemeClr val="bg1"/>
          </a:solidFill>
        </p:spPr>
        <p:txBody>
          <a:bodyPr/>
          <a:lstStyle/>
          <a:p>
            <a:pPr eaLnBrk="1" hangingPunct="1">
              <a:defRPr/>
            </a:pPr>
            <a:r>
              <a:rPr lang="en-AU" altLang="en-US" sz="2800" b="1" i="1" dirty="0">
                <a:solidFill>
                  <a:schemeClr val="accent2"/>
                </a:solidFill>
                <a:latin typeface="+mn-lt"/>
              </a:rPr>
              <a:t>Schema evaluation </a:t>
            </a:r>
            <a:r>
              <a:rPr lang="en-AU" altLang="en-US" sz="2800" b="1" i="1" dirty="0">
                <a:solidFill>
                  <a:srgbClr val="0070C0"/>
                </a:solidFill>
                <a:latin typeface="+mn-lt"/>
              </a:rPr>
              <a:t>Demo</a:t>
            </a:r>
            <a:br>
              <a:rPr lang="en-US" altLang="en-US" sz="2800" i="1" dirty="0">
                <a:solidFill>
                  <a:schemeClr val="accent2"/>
                </a:solidFill>
                <a:latin typeface="+mn-lt"/>
              </a:rPr>
            </a:br>
            <a:endParaRPr lang="en-US" altLang="en-US" sz="2800" i="1" dirty="0">
              <a:solidFill>
                <a:schemeClr val="accent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723143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76F3B9-5A35-0FA7-A1E6-8662D88EB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89A01E7D-AD3E-4574-C79A-8388F947F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048000"/>
            <a:ext cx="4572000" cy="533400"/>
          </a:xfrm>
          <a:solidFill>
            <a:srgbClr val="0070C0"/>
          </a:solidFill>
        </p:spPr>
        <p:txBody>
          <a:bodyPr/>
          <a:lstStyle/>
          <a:p>
            <a:pPr eaLnBrk="1" hangingPunct="1">
              <a:defRPr/>
            </a:pPr>
            <a:r>
              <a:rPr lang="en-AU" sz="2800" b="1" dirty="0">
                <a:solidFill>
                  <a:schemeClr val="bg1"/>
                </a:solidFill>
                <a:latin typeface="+mn-lt"/>
              </a:rPr>
              <a:t>Change Data Feed</a:t>
            </a:r>
            <a:br>
              <a:rPr lang="en-US" altLang="en-US" sz="2800" dirty="0">
                <a:solidFill>
                  <a:schemeClr val="bg1"/>
                </a:solidFill>
                <a:latin typeface="+mn-lt"/>
              </a:rPr>
            </a:br>
            <a:endParaRPr lang="en-US" altLang="en-US" sz="28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847713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E3E488-EAB7-C6CF-A638-7DCA8BED6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2CEE99A-8058-72EA-C0E8-1FC6ECDEEB45}"/>
              </a:ext>
            </a:extLst>
          </p:cNvPr>
          <p:cNvCxnSpPr>
            <a:cxnSpLocks/>
            <a:stCxn id="14" idx="4"/>
            <a:endCxn id="13" idx="1"/>
          </p:cNvCxnSpPr>
          <p:nvPr/>
        </p:nvCxnSpPr>
        <p:spPr>
          <a:xfrm flipV="1">
            <a:off x="2903220" y="3586252"/>
            <a:ext cx="1163955" cy="5596"/>
          </a:xfrm>
          <a:prstGeom prst="curvedConnector3">
            <a:avLst>
              <a:gd name="adj1" fmla="val 50000"/>
            </a:avLst>
          </a:prstGeom>
          <a:ln w="3810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27F0A55-4A73-75DE-6C5E-4DA0C549C600}"/>
              </a:ext>
            </a:extLst>
          </p:cNvPr>
          <p:cNvSpPr txBox="1"/>
          <p:nvPr/>
        </p:nvSpPr>
        <p:spPr>
          <a:xfrm>
            <a:off x="883920" y="1660877"/>
            <a:ext cx="7696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there is no graceful method of performing CRUD operations on parquet file formats</a:t>
            </a:r>
            <a:endParaRPr lang="en-US" sz="1400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AD973C-225D-2B6D-5385-440B513B0E75}"/>
              </a:ext>
            </a:extLst>
          </p:cNvPr>
          <p:cNvSpPr txBox="1"/>
          <p:nvPr/>
        </p:nvSpPr>
        <p:spPr>
          <a:xfrm>
            <a:off x="883920" y="1956212"/>
            <a:ext cx="7696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rgbClr val="000000"/>
                </a:solidFill>
                <a:effectLst/>
                <a:latin typeface="+mn-lt"/>
              </a:defRPr>
            </a:lvl1pPr>
          </a:lstStyle>
          <a:p>
            <a:r>
              <a:rPr lang="en-AU" dirty="0"/>
              <a:t>this </a:t>
            </a:r>
            <a:r>
              <a:rPr lang="en-AU" dirty="0">
                <a:highlight>
                  <a:srgbClr val="FFFF00"/>
                </a:highlight>
              </a:rPr>
              <a:t>Change Data Capture </a:t>
            </a:r>
            <a:r>
              <a:rPr lang="en-AU" dirty="0"/>
              <a:t>process also comes with significant overhead of having to scan and read the entire files even if only a few records within have changed.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F0FD2C-4BEA-ED91-7C17-349B1FABEA6E}"/>
              </a:ext>
            </a:extLst>
          </p:cNvPr>
          <p:cNvSpPr txBox="1"/>
          <p:nvPr/>
        </p:nvSpPr>
        <p:spPr>
          <a:xfrm>
            <a:off x="914400" y="4860816"/>
            <a:ext cx="7772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0" i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+mn-lt"/>
              </a:rPr>
              <a:t>Change Data Feed </a:t>
            </a:r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within Databricks supplements this Change Data Capture (CDC) process by storing metadata about CDC records for optimized management of these changed records. </a:t>
            </a:r>
            <a:endParaRPr lang="en-US" sz="1400" dirty="0">
              <a:latin typeface="+mn-lt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28A9143-2265-FB43-3D83-92BF5306C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57968"/>
            <a:ext cx="1844040" cy="402848"/>
          </a:xfrm>
          <a:solidFill>
            <a:schemeClr val="bg1"/>
          </a:solidFill>
        </p:spPr>
        <p:txBody>
          <a:bodyPr/>
          <a:lstStyle/>
          <a:p>
            <a:pPr eaLnBrk="1" hangingPunct="1">
              <a:defRPr/>
            </a:pPr>
            <a:r>
              <a:rPr lang="en-AU" altLang="en-US" sz="2000" b="1" i="1" dirty="0">
                <a:solidFill>
                  <a:schemeClr val="accent2"/>
                </a:solidFill>
                <a:latin typeface="+mn-lt"/>
              </a:rPr>
              <a:t>Solution</a:t>
            </a:r>
            <a:endParaRPr lang="en-US" altLang="en-US" sz="2000" i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CA66ABA-8246-EB90-5066-EED500D35B76}"/>
              </a:ext>
            </a:extLst>
          </p:cNvPr>
          <p:cNvSpPr txBox="1">
            <a:spLocks/>
          </p:cNvSpPr>
          <p:nvPr/>
        </p:nvSpPr>
        <p:spPr bwMode="auto">
          <a:xfrm>
            <a:off x="914400" y="931813"/>
            <a:ext cx="2453640" cy="40284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>
              <a:defRPr/>
            </a:pPr>
            <a:r>
              <a:rPr lang="en-AU" altLang="en-US" sz="2000" b="1" i="1">
                <a:solidFill>
                  <a:schemeClr val="accent2"/>
                </a:solidFill>
                <a:latin typeface="+mn-lt"/>
              </a:rPr>
              <a:t>Challenges</a:t>
            </a:r>
            <a:endParaRPr lang="en-US" altLang="en-US" sz="2000" i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14" name="Can 13">
            <a:extLst>
              <a:ext uri="{FF2B5EF4-FFF2-40B4-BE49-F238E27FC236}">
                <a16:creationId xmlns:a16="http://schemas.microsoft.com/office/drawing/2014/main" id="{587F3E9A-5BF4-C1D8-251F-910B86286C7B}"/>
              </a:ext>
            </a:extLst>
          </p:cNvPr>
          <p:cNvSpPr/>
          <p:nvPr/>
        </p:nvSpPr>
        <p:spPr>
          <a:xfrm>
            <a:off x="2141220" y="3287048"/>
            <a:ext cx="762000" cy="609600"/>
          </a:xfrm>
          <a:prstGeom prst="ca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Silver</a:t>
            </a:r>
          </a:p>
        </p:txBody>
      </p:sp>
      <p:sp>
        <p:nvSpPr>
          <p:cNvPr id="15" name="Can 14">
            <a:extLst>
              <a:ext uri="{FF2B5EF4-FFF2-40B4-BE49-F238E27FC236}">
                <a16:creationId xmlns:a16="http://schemas.microsoft.com/office/drawing/2014/main" id="{BADB816A-7147-6AEB-42C2-FB25743DF875}"/>
              </a:ext>
            </a:extLst>
          </p:cNvPr>
          <p:cNvSpPr/>
          <p:nvPr/>
        </p:nvSpPr>
        <p:spPr>
          <a:xfrm>
            <a:off x="6073140" y="3260497"/>
            <a:ext cx="762000" cy="609600"/>
          </a:xfrm>
          <a:prstGeom prst="can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Gold</a:t>
            </a:r>
          </a:p>
        </p:txBody>
      </p:sp>
      <p:pic>
        <p:nvPicPr>
          <p:cNvPr id="13" name="Graphic 12" descr="Gears outline">
            <a:extLst>
              <a:ext uri="{FF2B5EF4-FFF2-40B4-BE49-F238E27FC236}">
                <a16:creationId xmlns:a16="http://schemas.microsoft.com/office/drawing/2014/main" id="{7D078527-52EA-AB44-1E49-B6E43C4A3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7175" y="3302407"/>
            <a:ext cx="567690" cy="567690"/>
          </a:xfrm>
          <a:prstGeom prst="rect">
            <a:avLst/>
          </a:prstGeom>
        </p:spPr>
      </p:pic>
      <p:cxnSp>
        <p:nvCxnSpPr>
          <p:cNvPr id="19" name="Straight Arrow Connector 16">
            <a:extLst>
              <a:ext uri="{FF2B5EF4-FFF2-40B4-BE49-F238E27FC236}">
                <a16:creationId xmlns:a16="http://schemas.microsoft.com/office/drawing/2014/main" id="{6C4B3E42-6749-D789-761A-B2291454B450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4549140" y="3565297"/>
            <a:ext cx="1524000" cy="12700"/>
          </a:xfrm>
          <a:prstGeom prst="curvedConnector3">
            <a:avLst>
              <a:gd name="adj1" fmla="val 50000"/>
            </a:avLst>
          </a:prstGeom>
          <a:ln w="3810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B855AA1-4A34-909F-3224-C696AB3F755B}"/>
              </a:ext>
            </a:extLst>
          </p:cNvPr>
          <p:cNvSpPr txBox="1"/>
          <p:nvPr/>
        </p:nvSpPr>
        <p:spPr>
          <a:xfrm>
            <a:off x="883920" y="1361263"/>
            <a:ext cx="6507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regular parquet file formats are immutable </a:t>
            </a:r>
          </a:p>
        </p:txBody>
      </p:sp>
    </p:spTree>
    <p:extLst>
      <p:ext uri="{BB962C8B-B14F-4D97-AF65-F5344CB8AC3E}">
        <p14:creationId xmlns:p14="http://schemas.microsoft.com/office/powerpoint/2010/main" val="4134250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94DCD6-964D-C481-FF4F-6D7D2C2DB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C928980-54E4-3546-7D46-FAD218EBF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1143000"/>
            <a:ext cx="8115300" cy="397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391088-A560-0553-B3CD-BBBFEB6D274B}"/>
              </a:ext>
            </a:extLst>
          </p:cNvPr>
          <p:cNvSpPr txBox="1"/>
          <p:nvPr/>
        </p:nvSpPr>
        <p:spPr>
          <a:xfrm>
            <a:off x="3657600" y="5561111"/>
            <a:ext cx="243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sz="1400" b="1" i="0" dirty="0">
                <a:solidFill>
                  <a:srgbClr val="0070C0"/>
                </a:solidFill>
                <a:effectLst/>
                <a:latin typeface="+mn-lt"/>
              </a:rPr>
              <a:t>Medallion Architecture</a:t>
            </a:r>
          </a:p>
        </p:txBody>
      </p:sp>
    </p:spTree>
    <p:extLst>
      <p:ext uri="{BB962C8B-B14F-4D97-AF65-F5344CB8AC3E}">
        <p14:creationId xmlns:p14="http://schemas.microsoft.com/office/powerpoint/2010/main" val="34194339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929F28-F992-476F-7DF8-2EFDFB848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4CCA842-581A-0AD7-C650-6DD79338B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43200"/>
            <a:ext cx="6324600" cy="609600"/>
          </a:xfrm>
          <a:solidFill>
            <a:schemeClr val="bg1"/>
          </a:solidFill>
        </p:spPr>
        <p:txBody>
          <a:bodyPr/>
          <a:lstStyle/>
          <a:p>
            <a:pPr eaLnBrk="1" hangingPunct="1">
              <a:defRPr/>
            </a:pPr>
            <a:r>
              <a:rPr lang="en-AU" altLang="en-US" sz="2800" b="1" i="1" dirty="0">
                <a:solidFill>
                  <a:schemeClr val="accent2"/>
                </a:solidFill>
                <a:latin typeface="+mn-lt"/>
              </a:rPr>
              <a:t>Change Data Feed </a:t>
            </a:r>
            <a:r>
              <a:rPr lang="en-AU" altLang="en-US" sz="2800" b="1" i="1" dirty="0">
                <a:solidFill>
                  <a:srgbClr val="0070C0"/>
                </a:solidFill>
                <a:latin typeface="+mn-lt"/>
              </a:rPr>
              <a:t>Demo</a:t>
            </a:r>
            <a:br>
              <a:rPr lang="en-US" altLang="en-US" sz="2800" i="1" dirty="0">
                <a:solidFill>
                  <a:schemeClr val="accent2"/>
                </a:solidFill>
                <a:latin typeface="+mn-lt"/>
              </a:rPr>
            </a:br>
            <a:endParaRPr lang="en-US" altLang="en-US" sz="2800" i="1" dirty="0">
              <a:solidFill>
                <a:schemeClr val="accent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131543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ED8779-0085-D48A-4C11-8F45C00B3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53DDFD0-27F8-81F2-79E0-D27312F0D23D}"/>
              </a:ext>
            </a:extLst>
          </p:cNvPr>
          <p:cNvSpPr txBox="1"/>
          <p:nvPr/>
        </p:nvSpPr>
        <p:spPr>
          <a:xfrm>
            <a:off x="914400" y="1601599"/>
            <a:ext cx="76962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This is an optimal process since it is not required to read all data within lake to identify changed records</a:t>
            </a:r>
            <a:r>
              <a:rPr lang="en-AU" sz="1400" dirty="0">
                <a:solidFill>
                  <a:srgbClr val="000000"/>
                </a:solidFill>
                <a:latin typeface="+mn-lt"/>
              </a:rPr>
              <a:t>;</a:t>
            </a:r>
          </a:p>
          <a:p>
            <a:endParaRPr lang="en-AU" sz="1400" b="0" i="0" dirty="0">
              <a:solidFill>
                <a:srgbClr val="000000"/>
              </a:solidFill>
              <a:effectLst/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with streaming data, it supports the opportunity to design and implement highly scalable </a:t>
            </a:r>
            <a:r>
              <a:rPr lang="en-AU" sz="1400" b="1" i="1" dirty="0">
                <a:solidFill>
                  <a:srgbClr val="002060"/>
                </a:solidFill>
                <a:effectLst/>
                <a:highlight>
                  <a:srgbClr val="00FF00"/>
                </a:highlight>
                <a:latin typeface="+mn-lt"/>
              </a:rPr>
              <a:t>lambda architectural patterns </a:t>
            </a:r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using Delta Change Data Feed. </a:t>
            </a:r>
            <a:endParaRPr lang="en-US" sz="1400" dirty="0">
              <a:latin typeface="+mn-lt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D99F809E-8033-B620-C984-4817A894675C}"/>
              </a:ext>
            </a:extLst>
          </p:cNvPr>
          <p:cNvSpPr txBox="1">
            <a:spLocks/>
          </p:cNvSpPr>
          <p:nvPr/>
        </p:nvSpPr>
        <p:spPr bwMode="auto">
          <a:xfrm>
            <a:off x="914400" y="685800"/>
            <a:ext cx="4419600" cy="533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>
              <a:defRPr/>
            </a:pPr>
            <a:r>
              <a:rPr lang="en-AU" altLang="en-US" sz="2800" b="1" dirty="0">
                <a:solidFill>
                  <a:schemeClr val="accent2"/>
                </a:solidFill>
                <a:latin typeface="+mn-lt"/>
              </a:rPr>
              <a:t>Design considerations</a:t>
            </a:r>
            <a:endParaRPr lang="en-US" altLang="en-US" sz="2800" dirty="0">
              <a:solidFill>
                <a:schemeClr val="accent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065116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1F7A47-00E3-61B7-2353-1C2F10C96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E250E6-A80F-8982-3A5E-0CCE57773AF7}"/>
              </a:ext>
            </a:extLst>
          </p:cNvPr>
          <p:cNvSpPr txBox="1"/>
          <p:nvPr/>
        </p:nvSpPr>
        <p:spPr>
          <a:xfrm>
            <a:off x="1013460" y="1905000"/>
            <a:ext cx="76962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The </a:t>
            </a:r>
            <a:r>
              <a:rPr lang="en-AU" sz="1400" b="0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+mn-lt"/>
              </a:rPr>
              <a:t>table_changes </a:t>
            </a:r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from the Change Data Feed can be used to explore details related to the inserts, updates, and deletes. </a:t>
            </a:r>
          </a:p>
          <a:p>
            <a:endParaRPr lang="en-AU" sz="1400" b="0" i="0" dirty="0">
              <a:solidFill>
                <a:srgbClr val="000000"/>
              </a:solidFill>
              <a:effectLst/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you could create views and explore versions, timestamps, and granular details related to the table changes.</a:t>
            </a:r>
            <a:endParaRPr lang="en-US" sz="1400" dirty="0">
              <a:latin typeface="+mn-lt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091BB87-CFD7-35F7-7BC3-23F8A322F521}"/>
              </a:ext>
            </a:extLst>
          </p:cNvPr>
          <p:cNvSpPr txBox="1">
            <a:spLocks/>
          </p:cNvSpPr>
          <p:nvPr/>
        </p:nvSpPr>
        <p:spPr bwMode="auto">
          <a:xfrm>
            <a:off x="1013460" y="685800"/>
            <a:ext cx="5996940" cy="533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>
              <a:defRPr/>
            </a:pPr>
            <a:r>
              <a:rPr lang="en-AU" altLang="en-US" sz="2800" b="1" dirty="0">
                <a:solidFill>
                  <a:schemeClr val="accent2"/>
                </a:solidFill>
                <a:latin typeface="+mn-lt"/>
              </a:rPr>
              <a:t>Implementation considerations</a:t>
            </a:r>
            <a:endParaRPr lang="en-US" altLang="en-US" sz="2800" dirty="0">
              <a:solidFill>
                <a:schemeClr val="accent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854813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23D85F-61B4-744F-CD46-41C41DC68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947A94FB-BC01-F69C-1BCF-749DF59C4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43200"/>
            <a:ext cx="5181600" cy="609600"/>
          </a:xfrm>
          <a:solidFill>
            <a:schemeClr val="accent2"/>
          </a:solidFill>
        </p:spPr>
        <p:txBody>
          <a:bodyPr/>
          <a:lstStyle/>
          <a:p>
            <a:pPr eaLnBrk="1" hangingPunct="1">
              <a:defRPr/>
            </a:pPr>
            <a:r>
              <a:rPr lang="en-AU" altLang="en-US" sz="2800" b="1" i="1" dirty="0">
                <a:solidFill>
                  <a:schemeClr val="bg1"/>
                </a:solidFill>
                <a:latin typeface="+mn-lt"/>
              </a:rPr>
              <a:t>CDF use cases</a:t>
            </a:r>
            <a:br>
              <a:rPr lang="en-US" altLang="en-US" sz="2800" i="1" dirty="0">
                <a:solidFill>
                  <a:schemeClr val="bg1"/>
                </a:solidFill>
                <a:latin typeface="+mn-lt"/>
              </a:rPr>
            </a:br>
            <a:endParaRPr lang="en-US" altLang="en-US" sz="2800" i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42740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D08ED3-50BD-81FB-CEAC-B9A4DDD00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>
            <a:extLst>
              <a:ext uri="{FF2B5EF4-FFF2-40B4-BE49-F238E27FC236}">
                <a16:creationId xmlns:a16="http://schemas.microsoft.com/office/drawing/2014/main" id="{9F61FEC5-FF35-830C-D0A1-9D0A2F31E6D2}"/>
              </a:ext>
            </a:extLst>
          </p:cNvPr>
          <p:cNvSpPr txBox="1">
            <a:spLocks/>
          </p:cNvSpPr>
          <p:nvPr/>
        </p:nvSpPr>
        <p:spPr bwMode="auto">
          <a:xfrm>
            <a:off x="914400" y="762000"/>
            <a:ext cx="3276600" cy="533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>
              <a:defRPr/>
            </a:pPr>
            <a:r>
              <a:rPr lang="en-AU" altLang="en-US" sz="2800" b="1" i="1" dirty="0">
                <a:solidFill>
                  <a:schemeClr val="accent2"/>
                </a:solidFill>
                <a:latin typeface="+mn-lt"/>
              </a:rPr>
              <a:t>Use cases</a:t>
            </a:r>
            <a:endParaRPr lang="en-US" altLang="en-US" sz="2800" i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DA097F-413A-EEE1-927C-C009EB38BC7C}"/>
              </a:ext>
            </a:extLst>
          </p:cNvPr>
          <p:cNvSpPr txBox="1"/>
          <p:nvPr/>
        </p:nvSpPr>
        <p:spPr>
          <a:xfrm>
            <a:off x="762000" y="1767006"/>
            <a:ext cx="81534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lphaLcPeriod"/>
            </a:pPr>
            <a:r>
              <a:rPr lang="en-AU" sz="1400" b="0" i="0" dirty="0">
                <a:solidFill>
                  <a:srgbClr val="242424"/>
                </a:solidFill>
                <a:effectLst/>
                <a:latin typeface="+mn-lt"/>
              </a:rPr>
              <a:t>Silver and Gold Tables - Improve the </a:t>
            </a:r>
            <a:r>
              <a:rPr lang="en-AU" sz="1400" b="1" i="0" dirty="0">
                <a:solidFill>
                  <a:srgbClr val="242424"/>
                </a:solidFill>
                <a:effectLst/>
                <a:latin typeface="+mn-lt"/>
              </a:rPr>
              <a:t>Delta Performance</a:t>
            </a:r>
            <a:r>
              <a:rPr lang="en-AU" sz="1400" b="0" i="0" dirty="0">
                <a:solidFill>
                  <a:srgbClr val="242424"/>
                </a:solidFill>
                <a:effectLst/>
                <a:latin typeface="+mn-lt"/>
              </a:rPr>
              <a:t> by processing the only</a:t>
            </a:r>
            <a:r>
              <a:rPr lang="en-AU" sz="1400" b="1" i="0" dirty="0">
                <a:solidFill>
                  <a:srgbClr val="242424"/>
                </a:solidFill>
                <a:effectLst/>
                <a:latin typeface="+mn-lt"/>
              </a:rPr>
              <a:t> Row-Level Changes</a:t>
            </a:r>
            <a:r>
              <a:rPr lang="en-AU" sz="1400" b="0" i="0" dirty="0">
                <a:solidFill>
                  <a:srgbClr val="242424"/>
                </a:solidFill>
                <a:effectLst/>
                <a:latin typeface="+mn-lt"/>
              </a:rPr>
              <a:t> following initial </a:t>
            </a:r>
            <a:r>
              <a:rPr lang="en-AU" sz="1400" b="1" i="0" dirty="0">
                <a:solidFill>
                  <a:srgbClr val="242424"/>
                </a:solidFill>
                <a:effectLst/>
                <a:latin typeface="+mn-lt"/>
              </a:rPr>
              <a:t>MERGE</a:t>
            </a:r>
            <a:r>
              <a:rPr lang="en-AU" sz="1400" b="0" i="0" dirty="0">
                <a:solidFill>
                  <a:srgbClr val="242424"/>
                </a:solidFill>
                <a:effectLst/>
                <a:latin typeface="+mn-lt"/>
              </a:rPr>
              <a:t>, </a:t>
            </a:r>
            <a:r>
              <a:rPr lang="en-AU" sz="1400" b="1" i="0" dirty="0">
                <a:solidFill>
                  <a:srgbClr val="242424"/>
                </a:solidFill>
                <a:effectLst/>
                <a:latin typeface="+mn-lt"/>
              </a:rPr>
              <a:t>UPDATE</a:t>
            </a:r>
            <a:r>
              <a:rPr lang="en-AU" sz="1400" b="0" i="0" dirty="0">
                <a:solidFill>
                  <a:srgbClr val="242424"/>
                </a:solidFill>
                <a:effectLst/>
                <a:latin typeface="+mn-lt"/>
              </a:rPr>
              <a:t>, or </a:t>
            </a:r>
            <a:r>
              <a:rPr lang="en-AU" sz="1400" b="1" i="0" dirty="0">
                <a:solidFill>
                  <a:srgbClr val="242424"/>
                </a:solidFill>
                <a:effectLst/>
                <a:latin typeface="+mn-lt"/>
              </a:rPr>
              <a:t>DELETE</a:t>
            </a:r>
            <a:r>
              <a:rPr lang="en-AU" sz="1400" b="0" i="0" dirty="0">
                <a:solidFill>
                  <a:srgbClr val="242424"/>
                </a:solidFill>
                <a:effectLst/>
                <a:latin typeface="+mn-lt"/>
              </a:rPr>
              <a:t> operations to accelerate and simplify the </a:t>
            </a:r>
            <a:r>
              <a:rPr lang="en-AU" sz="1400" b="1" i="0" dirty="0">
                <a:solidFill>
                  <a:srgbClr val="242424"/>
                </a:solidFill>
                <a:effectLst/>
                <a:latin typeface="+mn-lt"/>
              </a:rPr>
              <a:t>ETL</a:t>
            </a:r>
            <a:r>
              <a:rPr lang="en-AU" sz="1400" b="0" i="0" dirty="0">
                <a:solidFill>
                  <a:srgbClr val="242424"/>
                </a:solidFill>
                <a:effectLst/>
                <a:latin typeface="+mn-lt"/>
              </a:rPr>
              <a:t> and </a:t>
            </a:r>
            <a:r>
              <a:rPr lang="en-AU" sz="1400" b="1" i="0" dirty="0">
                <a:solidFill>
                  <a:srgbClr val="242424"/>
                </a:solidFill>
                <a:effectLst/>
                <a:latin typeface="+mn-lt"/>
              </a:rPr>
              <a:t>ELT</a:t>
            </a:r>
            <a:r>
              <a:rPr lang="en-AU" sz="1400" b="0" i="0" dirty="0">
                <a:solidFill>
                  <a:srgbClr val="242424"/>
                </a:solidFill>
                <a:effectLst/>
                <a:latin typeface="+mn-lt"/>
              </a:rPr>
              <a:t> operations.</a:t>
            </a:r>
          </a:p>
          <a:p>
            <a:pPr marL="342900" indent="-342900" algn="l">
              <a:buFont typeface="+mj-lt"/>
              <a:buAutoNum type="alphaLcPeriod"/>
            </a:pPr>
            <a:endParaRPr lang="en-AU" sz="1400" b="0" i="0" dirty="0">
              <a:solidFill>
                <a:srgbClr val="242424"/>
              </a:solidFill>
              <a:effectLst/>
              <a:latin typeface="+mn-lt"/>
            </a:endParaRPr>
          </a:p>
          <a:p>
            <a:pPr marL="342900" indent="-342900" algn="l">
              <a:buFont typeface="+mj-lt"/>
              <a:buAutoNum type="alphaLcPeriod"/>
            </a:pPr>
            <a:r>
              <a:rPr lang="en-AU" sz="1400" b="0" i="0" dirty="0">
                <a:solidFill>
                  <a:srgbClr val="242424"/>
                </a:solidFill>
                <a:effectLst/>
                <a:latin typeface="+mn-lt"/>
              </a:rPr>
              <a:t>B. Materialized Views - Create the up-to-date aggregated views of information for use in BI and analytics without having to re-process the full underlying tables, instead updating only where </a:t>
            </a:r>
            <a:r>
              <a:rPr lang="en-AU" sz="1400" b="1" i="0" dirty="0">
                <a:solidFill>
                  <a:srgbClr val="242424"/>
                </a:solidFill>
                <a:effectLst/>
                <a:latin typeface="+mn-lt"/>
              </a:rPr>
              <a:t>Changes</a:t>
            </a:r>
            <a:r>
              <a:rPr lang="en-AU" sz="1400" b="0" i="0" dirty="0">
                <a:solidFill>
                  <a:srgbClr val="242424"/>
                </a:solidFill>
                <a:effectLst/>
                <a:latin typeface="+mn-lt"/>
              </a:rPr>
              <a:t> have come through.</a:t>
            </a:r>
          </a:p>
          <a:p>
            <a:pPr marL="342900" indent="-342900" algn="l">
              <a:buFont typeface="+mj-lt"/>
              <a:buAutoNum type="alphaLcPeriod"/>
            </a:pPr>
            <a:endParaRPr lang="en-AU" sz="1400" b="0" i="0" dirty="0">
              <a:solidFill>
                <a:srgbClr val="242424"/>
              </a:solidFill>
              <a:effectLst/>
              <a:latin typeface="+mn-lt"/>
            </a:endParaRPr>
          </a:p>
          <a:p>
            <a:pPr marL="342900" indent="-342900" algn="l">
              <a:buFont typeface="+mj-lt"/>
              <a:buAutoNum type="alphaLcPeriod"/>
            </a:pPr>
            <a:r>
              <a:rPr lang="en-AU" sz="1400" b="0" i="0" dirty="0">
                <a:solidFill>
                  <a:srgbClr val="242424"/>
                </a:solidFill>
                <a:effectLst/>
                <a:latin typeface="+mn-lt"/>
              </a:rPr>
              <a:t>C. Transmit Changes - Send a </a:t>
            </a:r>
            <a:r>
              <a:rPr lang="en-AU" sz="1400" b="1" i="0" dirty="0">
                <a:solidFill>
                  <a:srgbClr val="242424"/>
                </a:solidFill>
                <a:effectLst/>
                <a:latin typeface="+mn-lt"/>
              </a:rPr>
              <a:t>Change Data Feed</a:t>
            </a:r>
            <a:r>
              <a:rPr lang="en-AU" sz="1400" b="0" i="0" dirty="0">
                <a:solidFill>
                  <a:srgbClr val="242424"/>
                </a:solidFill>
                <a:effectLst/>
                <a:latin typeface="+mn-lt"/>
              </a:rPr>
              <a:t> to </a:t>
            </a:r>
            <a:r>
              <a:rPr lang="en-AU" sz="1400" b="1" i="0" dirty="0">
                <a:solidFill>
                  <a:srgbClr val="242424"/>
                </a:solidFill>
                <a:effectLst/>
                <a:latin typeface="+mn-lt"/>
              </a:rPr>
              <a:t>Downstream Systems</a:t>
            </a:r>
            <a:r>
              <a:rPr lang="en-AU" sz="1400" b="0" i="0" dirty="0">
                <a:solidFill>
                  <a:srgbClr val="242424"/>
                </a:solidFill>
                <a:effectLst/>
                <a:latin typeface="+mn-lt"/>
              </a:rPr>
              <a:t>, such as </a:t>
            </a:r>
            <a:r>
              <a:rPr lang="en-AU" sz="1400" b="1" i="0" dirty="0">
                <a:solidFill>
                  <a:srgbClr val="242424"/>
                </a:solidFill>
                <a:effectLst/>
                <a:latin typeface="+mn-lt"/>
              </a:rPr>
              <a:t>Kafka</a:t>
            </a:r>
            <a:r>
              <a:rPr lang="en-AU" sz="1400" b="0" i="0" dirty="0">
                <a:solidFill>
                  <a:srgbClr val="242424"/>
                </a:solidFill>
                <a:effectLst/>
                <a:latin typeface="+mn-lt"/>
              </a:rPr>
              <a:t> or </a:t>
            </a:r>
            <a:r>
              <a:rPr lang="en-AU" sz="1400" b="1" i="0" dirty="0">
                <a:solidFill>
                  <a:srgbClr val="242424"/>
                </a:solidFill>
                <a:effectLst/>
                <a:latin typeface="+mn-lt"/>
              </a:rPr>
              <a:t>RDBMS</a:t>
            </a:r>
            <a:r>
              <a:rPr lang="en-AU" sz="1400" b="0" i="0" dirty="0">
                <a:solidFill>
                  <a:srgbClr val="242424"/>
                </a:solidFill>
                <a:effectLst/>
                <a:latin typeface="+mn-lt"/>
              </a:rPr>
              <a:t> that can use it to incrementally process in the later stages of data pipelines.</a:t>
            </a:r>
          </a:p>
          <a:p>
            <a:pPr marL="342900" indent="-342900" algn="l">
              <a:buFont typeface="+mj-lt"/>
              <a:buAutoNum type="alphaLcPeriod"/>
            </a:pPr>
            <a:endParaRPr lang="en-AU" sz="1400" b="0" i="0" dirty="0">
              <a:solidFill>
                <a:srgbClr val="242424"/>
              </a:solidFill>
              <a:effectLst/>
              <a:latin typeface="+mn-lt"/>
            </a:endParaRPr>
          </a:p>
          <a:p>
            <a:pPr marL="342900" indent="-342900" algn="l">
              <a:buFont typeface="+mj-lt"/>
              <a:buAutoNum type="alphaLcPeriod"/>
            </a:pPr>
            <a:r>
              <a:rPr lang="en-AU" sz="1400" b="0" i="0" dirty="0">
                <a:solidFill>
                  <a:srgbClr val="242424"/>
                </a:solidFill>
                <a:effectLst/>
                <a:latin typeface="+mn-lt"/>
              </a:rPr>
              <a:t>D. Audit Trail Table - Capture the </a:t>
            </a:r>
            <a:r>
              <a:rPr lang="en-AU" sz="1400" b="1" i="0" dirty="0">
                <a:solidFill>
                  <a:srgbClr val="242424"/>
                </a:solidFill>
                <a:effectLst/>
                <a:latin typeface="+mn-lt"/>
              </a:rPr>
              <a:t>Change Data Feed</a:t>
            </a:r>
            <a:r>
              <a:rPr lang="en-AU" sz="1400" b="0" i="0" dirty="0">
                <a:solidFill>
                  <a:srgbClr val="242424"/>
                </a:solidFill>
                <a:effectLst/>
                <a:latin typeface="+mn-lt"/>
              </a:rPr>
              <a:t> as a delta table provides perpetual storage and efficient query capability to see all the changes over time, including when deletes occur and what updates were made.</a:t>
            </a:r>
          </a:p>
        </p:txBody>
      </p:sp>
    </p:spTree>
    <p:extLst>
      <p:ext uri="{BB962C8B-B14F-4D97-AF65-F5344CB8AC3E}">
        <p14:creationId xmlns:p14="http://schemas.microsoft.com/office/powerpoint/2010/main" val="9481930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90C0F9E3-0F9D-3380-9EB2-C1A182430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048000"/>
            <a:ext cx="5486400" cy="609600"/>
          </a:xfrm>
          <a:solidFill>
            <a:srgbClr val="0070C0"/>
          </a:solidFill>
        </p:spPr>
        <p:txBody>
          <a:bodyPr/>
          <a:lstStyle/>
          <a:p>
            <a:pPr eaLnBrk="1" hangingPunct="1">
              <a:defRPr/>
            </a:pPr>
            <a:r>
              <a:rPr lang="en-AU" sz="2800" b="1" dirty="0">
                <a:solidFill>
                  <a:schemeClr val="bg1"/>
                </a:solidFill>
                <a:latin typeface="+mn-lt"/>
              </a:rPr>
              <a:t>Delta Lake Time travel</a:t>
            </a:r>
            <a:br>
              <a:rPr lang="en-US" altLang="en-US" sz="2800" dirty="0">
                <a:solidFill>
                  <a:schemeClr val="bg1"/>
                </a:solidFill>
                <a:latin typeface="+mn-lt"/>
              </a:rPr>
            </a:br>
            <a:endParaRPr lang="en-US" altLang="en-US" sz="2800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23CAB1-1FC1-9746-9862-7DF71981C483}"/>
              </a:ext>
            </a:extLst>
          </p:cNvPr>
          <p:cNvSpPr txBox="1"/>
          <p:nvPr/>
        </p:nvSpPr>
        <p:spPr>
          <a:xfrm>
            <a:off x="609600" y="600283"/>
            <a:ext cx="594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AU" sz="2800" b="1" dirty="0">
                <a:solidFill>
                  <a:schemeClr val="accent2"/>
                </a:solidFill>
                <a:latin typeface="+mn-lt"/>
              </a:rPr>
              <a:t>Scenario – why Time Travel?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D0FB4A-7850-C0D1-1C82-89B8C4AF38A8}"/>
              </a:ext>
            </a:extLst>
          </p:cNvPr>
          <p:cNvSpPr txBox="1"/>
          <p:nvPr/>
        </p:nvSpPr>
        <p:spPr>
          <a:xfrm>
            <a:off x="609600" y="1294849"/>
            <a:ext cx="82296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AU" sz="1400" b="1" i="1" dirty="0">
                <a:solidFill>
                  <a:srgbClr val="000000"/>
                </a:solidFill>
                <a:effectLst/>
                <a:latin typeface="+mn-lt"/>
              </a:rPr>
              <a:t>Regulatory</a:t>
            </a:r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 </a:t>
            </a:r>
          </a:p>
          <a:p>
            <a:pPr algn="l" rtl="0" fontAlgn="base"/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Auditing and regulatory compliance can require that data be stored and retrieved for many years or can require that you track certain changes to your data (e.g., GDPR). </a:t>
            </a:r>
          </a:p>
          <a:p>
            <a:pPr algn="l" rtl="0" fontAlgn="base"/>
            <a:endParaRPr lang="en-AU" sz="1400" b="0" i="0" dirty="0">
              <a:solidFill>
                <a:srgbClr val="000000"/>
              </a:solidFill>
              <a:effectLst/>
              <a:latin typeface="+mn-lt"/>
            </a:endParaRPr>
          </a:p>
          <a:p>
            <a:pPr algn="l" rtl="0" fontAlgn="base"/>
            <a:r>
              <a:rPr lang="en-AU" sz="1400" b="1" i="1" dirty="0">
                <a:solidFill>
                  <a:srgbClr val="000000"/>
                </a:solidFill>
                <a:effectLst/>
                <a:latin typeface="+mn-lt"/>
              </a:rPr>
              <a:t>Reproduce experiments and reports</a:t>
            </a:r>
            <a:r>
              <a:rPr lang="en-AU" sz="1400" b="1" i="0" dirty="0">
                <a:solidFill>
                  <a:srgbClr val="000000"/>
                </a:solidFill>
                <a:effectLst/>
                <a:latin typeface="+mn-lt"/>
              </a:rPr>
              <a:t> </a:t>
            </a:r>
          </a:p>
          <a:p>
            <a:pPr algn="l" rtl="0" fontAlgn="base"/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There are often requirements for data scientists or analysts to re-create reports or machine learning experiments and model outputs given a specific set of data at a specific point in time. </a:t>
            </a:r>
          </a:p>
          <a:p>
            <a:pPr algn="l" rtl="0" fontAlgn="base"/>
            <a:endParaRPr lang="en-AU" sz="1400" b="0" i="0" dirty="0">
              <a:solidFill>
                <a:srgbClr val="000000"/>
              </a:solidFill>
              <a:effectLst/>
              <a:latin typeface="+mn-lt"/>
            </a:endParaRPr>
          </a:p>
          <a:p>
            <a:pPr algn="l" rtl="0" fontAlgn="base"/>
            <a:r>
              <a:rPr lang="en-AU" sz="1400" b="1" i="1" dirty="0">
                <a:solidFill>
                  <a:srgbClr val="000000"/>
                </a:solidFill>
                <a:effectLst/>
                <a:latin typeface="+mn-lt"/>
              </a:rPr>
              <a:t>Rollbacks</a:t>
            </a:r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 </a:t>
            </a:r>
          </a:p>
          <a:p>
            <a:pPr algn="l" rtl="0" fontAlgn="base"/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Accidental or bad DML operations on your data, such as INSERT, UPDATE, DELETE, and MERGE, can require fixes and rollbacks to a previous state. </a:t>
            </a:r>
          </a:p>
          <a:p>
            <a:pPr algn="l" rtl="0" fontAlgn="base"/>
            <a:endParaRPr lang="en-AU" sz="1400" b="0" i="0" dirty="0">
              <a:solidFill>
                <a:srgbClr val="000000"/>
              </a:solidFill>
              <a:effectLst/>
              <a:latin typeface="+mn-lt"/>
            </a:endParaRPr>
          </a:p>
          <a:p>
            <a:pPr algn="l" rtl="0" fontAlgn="base"/>
            <a:r>
              <a:rPr lang="en-AU" sz="1400" b="1" i="1" dirty="0">
                <a:solidFill>
                  <a:srgbClr val="000000"/>
                </a:solidFill>
                <a:effectLst/>
                <a:latin typeface="+mn-lt"/>
              </a:rPr>
              <a:t>Time-series analysis</a:t>
            </a:r>
            <a:r>
              <a:rPr lang="en-AU" sz="1400" b="1" i="0" dirty="0">
                <a:solidFill>
                  <a:srgbClr val="000000"/>
                </a:solidFill>
                <a:effectLst/>
                <a:latin typeface="+mn-lt"/>
              </a:rPr>
              <a:t> </a:t>
            </a:r>
          </a:p>
          <a:p>
            <a:pPr algn="l" rtl="0" fontAlgn="base"/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Reporting needs can require you to look back or </a:t>
            </a:r>
            <a:r>
              <a:rPr lang="en-AU" sz="1400" b="0" i="0" dirty="0" err="1">
                <a:solidFill>
                  <a:srgbClr val="000000"/>
                </a:solidFill>
                <a:effectLst/>
                <a:latin typeface="+mn-lt"/>
              </a:rPr>
              <a:t>analyze</a:t>
            </a:r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 data over time, for example, how many new customers were added over the course of a month. </a:t>
            </a:r>
          </a:p>
          <a:p>
            <a:pPr algn="l" rtl="0" fontAlgn="base"/>
            <a:endParaRPr lang="en-AU" sz="1400" b="0" i="0" dirty="0">
              <a:solidFill>
                <a:srgbClr val="000000"/>
              </a:solidFill>
              <a:effectLst/>
              <a:latin typeface="+mn-lt"/>
            </a:endParaRPr>
          </a:p>
          <a:p>
            <a:pPr algn="l" rtl="0" fontAlgn="base"/>
            <a:r>
              <a:rPr lang="en-AU" sz="1400" b="1" i="1" dirty="0">
                <a:solidFill>
                  <a:srgbClr val="000000"/>
                </a:solidFill>
                <a:effectLst/>
                <a:latin typeface="+mn-lt"/>
              </a:rPr>
              <a:t>Debugging</a:t>
            </a:r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 </a:t>
            </a:r>
          </a:p>
          <a:p>
            <a:pPr algn="l" rtl="0" fontAlgn="base"/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Troubleshooting ETL pipelines, data quality issues, or broken processes where the specific cause may only be observable in a historical state. </a:t>
            </a:r>
          </a:p>
          <a:p>
            <a:pPr algn="l" rtl="0" fontAlgn="base"/>
            <a:r>
              <a:rPr lang="en-AU" sz="1400" b="0" i="0" dirty="0">
                <a:solidFill>
                  <a:srgbClr val="000000"/>
                </a:solidFill>
                <a:effectLst/>
                <a:latin typeface="+mn-lt"/>
              </a:rPr>
              <a:t>The ab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AEC71-7921-01A5-13C4-E30016E4A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92AA81-BB4D-B762-DB60-288685742470}"/>
              </a:ext>
            </a:extLst>
          </p:cNvPr>
          <p:cNvSpPr txBox="1"/>
          <p:nvPr/>
        </p:nvSpPr>
        <p:spPr>
          <a:xfrm>
            <a:off x="723900" y="1905000"/>
            <a:ext cx="5867400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AU" sz="1400" i="1" dirty="0">
                <a:latin typeface="+mn-lt"/>
              </a:rPr>
              <a:t>Because all of the transactions are stored in the </a:t>
            </a:r>
            <a:r>
              <a:rPr lang="en-AU" sz="1400" b="1" i="1" dirty="0">
                <a:latin typeface="+mn-lt"/>
              </a:rPr>
              <a:t>transaction log</a:t>
            </a:r>
            <a:r>
              <a:rPr lang="en-AU" sz="1400" i="1" dirty="0">
                <a:latin typeface="+mn-lt"/>
              </a:rPr>
              <a:t>,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46474C-B35F-2792-2A60-84E074330F72}"/>
              </a:ext>
            </a:extLst>
          </p:cNvPr>
          <p:cNvSpPr txBox="1"/>
          <p:nvPr/>
        </p:nvSpPr>
        <p:spPr>
          <a:xfrm>
            <a:off x="609600" y="600283"/>
            <a:ext cx="304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AU" sz="2800" b="1" dirty="0">
                <a:solidFill>
                  <a:schemeClr val="accent2"/>
                </a:solidFill>
                <a:latin typeface="+mn-lt"/>
              </a:rPr>
              <a:t>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36957A-D4EB-2DFE-730B-A704E983215F}"/>
              </a:ext>
            </a:extLst>
          </p:cNvPr>
          <p:cNvSpPr txBox="1"/>
          <p:nvPr/>
        </p:nvSpPr>
        <p:spPr>
          <a:xfrm>
            <a:off x="762000" y="2514600"/>
            <a:ext cx="5867400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AU" sz="1400" i="1" dirty="0">
                <a:latin typeface="+mn-lt"/>
              </a:rPr>
              <a:t>Delta Lake can always travel back to earlier states of your table.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763799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axidb.tripData version history">
            <a:extLst>
              <a:ext uri="{FF2B5EF4-FFF2-40B4-BE49-F238E27FC236}">
                <a16:creationId xmlns:a16="http://schemas.microsoft.com/office/drawing/2014/main" id="{9433D3C9-FCFA-47F5-7C91-8DE1CC24B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046018"/>
            <a:ext cx="3067050" cy="2412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diagram of data processing&#10;&#10;Description automatically generated">
            <a:extLst>
              <a:ext uri="{FF2B5EF4-FFF2-40B4-BE49-F238E27FC236}">
                <a16:creationId xmlns:a16="http://schemas.microsoft.com/office/drawing/2014/main" id="{D9502A67-FFF4-37CF-7D06-6075B3766B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356" y="3962400"/>
            <a:ext cx="2634074" cy="2045207"/>
          </a:xfrm>
          <a:prstGeom prst="rect">
            <a:avLst/>
          </a:prstGeom>
        </p:spPr>
      </p:pic>
      <p:pic>
        <p:nvPicPr>
          <p:cNvPr id="5" name="Picture 2" descr="taxidb.tripData version history">
            <a:extLst>
              <a:ext uri="{FF2B5EF4-FFF2-40B4-BE49-F238E27FC236}">
                <a16:creationId xmlns:a16="http://schemas.microsoft.com/office/drawing/2014/main" id="{5CF10FDB-80D9-0B55-C8FC-F002E91B2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379" y="3657600"/>
            <a:ext cx="3067050" cy="2412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F43940-AD55-DD09-9D12-BB45A31DE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EDE1C38-8EE4-3279-6FA5-B8E0DFB3D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43200"/>
            <a:ext cx="6324600" cy="609600"/>
          </a:xfrm>
          <a:solidFill>
            <a:schemeClr val="bg1"/>
          </a:solidFill>
        </p:spPr>
        <p:txBody>
          <a:bodyPr/>
          <a:lstStyle/>
          <a:p>
            <a:pPr eaLnBrk="1" hangingPunct="1">
              <a:defRPr/>
            </a:pPr>
            <a:r>
              <a:rPr lang="en-AU" altLang="en-US" sz="2800" b="1" i="1" dirty="0">
                <a:solidFill>
                  <a:schemeClr val="accent2"/>
                </a:solidFill>
                <a:latin typeface="+mn-lt"/>
              </a:rPr>
              <a:t>Time travel </a:t>
            </a:r>
            <a:r>
              <a:rPr lang="en-AU" altLang="en-US" sz="2800" b="1" i="1" dirty="0">
                <a:solidFill>
                  <a:srgbClr val="0070C0"/>
                </a:solidFill>
                <a:latin typeface="+mn-lt"/>
              </a:rPr>
              <a:t>Demo</a:t>
            </a:r>
            <a:br>
              <a:rPr lang="en-US" altLang="en-US" sz="2800" i="1" dirty="0">
                <a:solidFill>
                  <a:schemeClr val="accent2"/>
                </a:solidFill>
                <a:latin typeface="+mn-lt"/>
              </a:rPr>
            </a:br>
            <a:endParaRPr lang="en-US" altLang="en-US" sz="2800" i="1" dirty="0">
              <a:solidFill>
                <a:schemeClr val="accent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55877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AD46AA7C-A962-5AB2-08A2-6F68161C1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62000"/>
            <a:ext cx="3886200" cy="533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b="1">
                <a:solidFill>
                  <a:srgbClr val="0070C0"/>
                </a:solidFill>
                <a:latin typeface="+mn-lt"/>
              </a:rPr>
              <a:t>Reference Links</a:t>
            </a:r>
            <a:br>
              <a:rPr lang="en-US" altLang="en-US" sz="2800" b="1">
                <a:solidFill>
                  <a:srgbClr val="002060"/>
                </a:solidFill>
                <a:latin typeface="+mn-lt"/>
              </a:rPr>
            </a:br>
            <a:endParaRPr lang="en-US" altLang="en-US" sz="2800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00B762-AE58-34B3-6424-A40F82683CB6}"/>
              </a:ext>
            </a:extLst>
          </p:cNvPr>
          <p:cNvSpPr txBox="1"/>
          <p:nvPr/>
        </p:nvSpPr>
        <p:spPr>
          <a:xfrm>
            <a:off x="914400" y="1752600"/>
            <a:ext cx="655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docs.delta.io</a:t>
            </a:r>
            <a:r>
              <a:rPr lang="en-US" dirty="0"/>
              <a:t>/latest/delta-</a:t>
            </a:r>
            <a:r>
              <a:rPr lang="en-US" dirty="0" err="1"/>
              <a:t>intro.html</a:t>
            </a: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DA0E44-E9B1-B48A-7264-4A5DD079D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113" y="1035050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279B924-32B0-534A-6CC4-FA67C81DD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3073400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endParaRPr lang="en-AU" dirty="0"/>
          </a:p>
          <a:p>
            <a:pPr marL="0" indent="0">
              <a:buFont typeface="Wingdings 3" panose="05040102010807070707" pitchFamily="18" charset="2"/>
              <a:buNone/>
              <a:defRPr/>
            </a:pP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F57AA5-F61B-66DC-AC0D-2B7DA82EA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7538" y="1965325"/>
            <a:ext cx="1974850" cy="254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55301" name="Rectangle 6">
            <a:extLst>
              <a:ext uri="{FF2B5EF4-FFF2-40B4-BE49-F238E27FC236}">
                <a16:creationId xmlns:a16="http://schemas.microsoft.com/office/drawing/2014/main" id="{15F97590-0A32-F10D-8F6D-105F07B95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itchFamily="2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55302" name="Picture 7">
            <a:extLst>
              <a:ext uri="{FF2B5EF4-FFF2-40B4-BE49-F238E27FC236}">
                <a16:creationId xmlns:a16="http://schemas.microsoft.com/office/drawing/2014/main" id="{94AD607D-FD02-58AC-91E5-5552A13DA7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27402</TotalTime>
  <Words>1462</Words>
  <Application>Microsoft Macintosh PowerPoint</Application>
  <PresentationFormat>On-screen Show (4:3)</PresentationFormat>
  <Paragraphs>168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DengXian</vt:lpstr>
      <vt:lpstr>Arial</vt:lpstr>
      <vt:lpstr>Calibri</vt:lpstr>
      <vt:lpstr>Century Gothic</vt:lpstr>
      <vt:lpstr>Wingdings 3</vt:lpstr>
      <vt:lpstr>幼圆</vt:lpstr>
      <vt:lpstr>Wisp</vt:lpstr>
      <vt:lpstr>Introduction to  Delta Lake</vt:lpstr>
      <vt:lpstr>Learning Objectives   </vt:lpstr>
      <vt:lpstr>PowerPoint Presentation</vt:lpstr>
      <vt:lpstr>PowerPoint Presentation</vt:lpstr>
      <vt:lpstr>PowerPoint Presentation</vt:lpstr>
      <vt:lpstr>PowerPoint Presentation</vt:lpstr>
      <vt:lpstr>Data Format - Parquet </vt:lpstr>
      <vt:lpstr>Logical model</vt:lpstr>
      <vt:lpstr>Row oriented vs Column oriented</vt:lpstr>
      <vt:lpstr>Advantages of Parquet files</vt:lpstr>
      <vt:lpstr>Parque file Demo </vt:lpstr>
      <vt:lpstr>Schema enforcement</vt:lpstr>
      <vt:lpstr>PowerPoint Presentation</vt:lpstr>
      <vt:lpstr>Transaction Log – Delta Log</vt:lpstr>
      <vt:lpstr>PowerPoint Presentation</vt:lpstr>
      <vt:lpstr>PowerPoint Presentation</vt:lpstr>
      <vt:lpstr>PowerPoint Presentation</vt:lpstr>
      <vt:lpstr>Multiple write Demo </vt:lpstr>
      <vt:lpstr>PowerPoint Presentation</vt:lpstr>
      <vt:lpstr>PowerPoint Presentation</vt:lpstr>
      <vt:lpstr>PowerPoint Presentation</vt:lpstr>
      <vt:lpstr>update Demo </vt:lpstr>
      <vt:lpstr>Scale metadata – check point</vt:lpstr>
      <vt:lpstr>PowerPoint Presentation</vt:lpstr>
      <vt:lpstr>PowerPoint Presentation</vt:lpstr>
      <vt:lpstr>Check point Demo </vt:lpstr>
      <vt:lpstr>Schema evaluation Demo </vt:lpstr>
      <vt:lpstr>Change Data Feed </vt:lpstr>
      <vt:lpstr>Solution</vt:lpstr>
      <vt:lpstr>PowerPoint Presentation</vt:lpstr>
      <vt:lpstr>Change Data Feed Demo </vt:lpstr>
      <vt:lpstr>PowerPoint Presentation</vt:lpstr>
      <vt:lpstr>PowerPoint Presentation</vt:lpstr>
      <vt:lpstr>CDF use cases </vt:lpstr>
      <vt:lpstr>PowerPoint Presentation</vt:lpstr>
      <vt:lpstr>Delta Lake Time travel </vt:lpstr>
      <vt:lpstr>PowerPoint Presentation</vt:lpstr>
      <vt:lpstr>PowerPoint Presentation</vt:lpstr>
      <vt:lpstr>PowerPoint Presentation</vt:lpstr>
      <vt:lpstr>Time travel Demo </vt:lpstr>
      <vt:lpstr>Reference Links </vt:lpstr>
      <vt:lpstr>PowerPoint Presentation</vt:lpstr>
    </vt:vector>
  </TitlesOfParts>
  <Company>Personal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</dc:title>
  <dc:creator>Philip King</dc:creator>
  <cp:lastModifiedBy>Songqing Gu</cp:lastModifiedBy>
  <cp:revision>847</cp:revision>
  <dcterms:created xsi:type="dcterms:W3CDTF">2004-06-18T19:39:23Z</dcterms:created>
  <dcterms:modified xsi:type="dcterms:W3CDTF">2025-02-22T06:16:43Z</dcterms:modified>
</cp:coreProperties>
</file>