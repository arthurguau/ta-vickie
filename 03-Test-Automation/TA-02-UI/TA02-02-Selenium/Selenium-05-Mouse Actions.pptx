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322" r:id="rId4"/>
    <p:sldId id="274" r:id="rId5"/>
    <p:sldId id="288" r:id="rId6"/>
    <p:sldId id="296" r:id="rId7"/>
    <p:sldId id="298" r:id="rId8"/>
    <p:sldId id="297" r:id="rId9"/>
    <p:sldId id="301" r:id="rId10"/>
    <p:sldId id="299" r:id="rId11"/>
    <p:sldId id="300" r:id="rId12"/>
    <p:sldId id="321" r:id="rId13"/>
    <p:sldId id="302" r:id="rId14"/>
    <p:sldId id="293" r:id="rId15"/>
    <p:sldId id="311" r:id="rId16"/>
    <p:sldId id="285" r:id="rId17"/>
    <p:sldId id="295" r:id="rId18"/>
    <p:sldId id="308" r:id="rId19"/>
    <p:sldId id="306" r:id="rId20"/>
    <p:sldId id="291" r:id="rId21"/>
    <p:sldId id="304" r:id="rId22"/>
    <p:sldId id="314" r:id="rId23"/>
    <p:sldId id="313" r:id="rId24"/>
    <p:sldId id="317" r:id="rId25"/>
    <p:sldId id="320" r:id="rId26"/>
    <p:sldId id="303" r:id="rId27"/>
    <p:sldId id="319" r:id="rId28"/>
    <p:sldId id="318" r:id="rId29"/>
    <p:sldId id="310" r:id="rId30"/>
    <p:sldId id="315" r:id="rId31"/>
    <p:sldId id="29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322"/>
            <p14:sldId id="274"/>
            <p14:sldId id="288"/>
            <p14:sldId id="296"/>
            <p14:sldId id="298"/>
            <p14:sldId id="297"/>
            <p14:sldId id="301"/>
            <p14:sldId id="299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08"/>
            <p14:sldId id="306"/>
            <p14:sldId id="291"/>
            <p14:sldId id="304"/>
            <p14:sldId id="314"/>
            <p14:sldId id="313"/>
            <p14:sldId id="317"/>
            <p14:sldId id="320"/>
            <p14:sldId id="303"/>
            <p14:sldId id="319"/>
            <p14:sldId id="318"/>
            <p14:sldId id="310"/>
            <p14:sldId id="315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041" autoAdjust="0"/>
  </p:normalViewPr>
  <p:slideViewPr>
    <p:cSldViewPr snapToGrid="0">
      <p:cViewPr varScale="1">
        <p:scale>
          <a:sx n="117" d="100"/>
          <a:sy n="117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94E37231-6C28-40B4-96A3-05FF8B509A9C}"/>
    <pc:docChg chg="custSel modSld">
      <pc:chgData name="Songqing Gu" userId="c4d8cb49210192e2" providerId="LiveId" clId="{94E37231-6C28-40B4-96A3-05FF8B509A9C}" dt="2023-05-28T12:22:26.750" v="48" actId="255"/>
      <pc:docMkLst>
        <pc:docMk/>
      </pc:docMkLst>
      <pc:sldChg chg="modSp mod">
        <pc:chgData name="Songqing Gu" userId="c4d8cb49210192e2" providerId="LiveId" clId="{94E37231-6C28-40B4-96A3-05FF8B509A9C}" dt="2023-05-28T12:21:11.939" v="8" actId="1076"/>
        <pc:sldMkLst>
          <pc:docMk/>
          <pc:sldMk cId="3813058601" sldId="256"/>
        </pc:sldMkLst>
        <pc:spChg chg="mod">
          <ac:chgData name="Songqing Gu" userId="c4d8cb49210192e2" providerId="LiveId" clId="{94E37231-6C28-40B4-96A3-05FF8B509A9C}" dt="2023-05-28T12:21:11.939" v="8" actId="1076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1:07.846" v="7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8T12:22:26.750" v="48" actId="255"/>
        <pc:sldMkLst>
          <pc:docMk/>
          <pc:sldMk cId="3113703618" sldId="261"/>
        </pc:sldMkLst>
        <pc:spChg chg="mod">
          <ac:chgData name="Songqing Gu" userId="c4d8cb49210192e2" providerId="LiveId" clId="{94E37231-6C28-40B4-96A3-05FF8B509A9C}" dt="2023-05-28T12:21:35.669" v="37" actId="14100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2:26.750" v="48" actId="255"/>
          <ac:spMkLst>
            <pc:docMk/>
            <pc:sldMk cId="3113703618" sldId="261"/>
            <ac:spMk id="4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4T08:42:03.824" v="0" actId="14100"/>
        <pc:sldMkLst>
          <pc:docMk/>
          <pc:sldMk cId="3644665972" sldId="291"/>
        </pc:sldMkLst>
        <pc:spChg chg="mod">
          <ac:chgData name="Songqing Gu" userId="c4d8cb49210192e2" providerId="LiveId" clId="{94E37231-6C28-40B4-96A3-05FF8B509A9C}" dt="2023-05-24T08:42:03.824" v="0" actId="14100"/>
          <ac:spMkLst>
            <pc:docMk/>
            <pc:sldMk cId="3644665972" sldId="29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09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27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7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 </a:t>
            </a:r>
            <a:r>
              <a:rPr lang="en-AU" dirty="0">
                <a:highlight>
                  <a:srgbClr val="00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on-demand web browsers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 hosted by the providers. </a:t>
            </a:r>
            <a:r>
              <a:rPr lang="en-AU" dirty="0">
                <a:highlight>
                  <a:srgbClr val="FF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These browsers are usually of different types, versions, and operating systems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. This feature is typically used for cross-browser automated or live testing.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monitor and debug automated tests. To that aim, cloud providers typically support session recordings or rich error-reporting features.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 emulated (and real) mobile devices on different platforms, such as Android and iOS.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Automatically inspect the UI and ensure that end users have a correct visual experience.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89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hyperlink" Target="https://www.calculator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bot.com/" TargetMode="External"/><Relationship Id="rId3" Type="http://schemas.openxmlformats.org/officeDocument/2006/relationships/hyperlink" Target="https://saucelabs.com/" TargetMode="External"/><Relationship Id="rId7" Type="http://schemas.openxmlformats.org/officeDocument/2006/relationships/hyperlink" Target="https://aerokube.com/moon-clou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ossbrowsertesting.com/" TargetMode="External"/><Relationship Id="rId5" Type="http://schemas.openxmlformats.org/officeDocument/2006/relationships/hyperlink" Target="https://www.lambdatest.com/" TargetMode="External"/><Relationship Id="rId10" Type="http://schemas.openxmlformats.org/officeDocument/2006/relationships/hyperlink" Target="https://testinium.com/" TargetMode="External"/><Relationship Id="rId4" Type="http://schemas.openxmlformats.org/officeDocument/2006/relationships/hyperlink" Target="https://www.browserstack.com/" TargetMode="External"/><Relationship Id="rId9" Type="http://schemas.openxmlformats.org/officeDocument/2006/relationships/hyperlink" Target="https://www.perfecto.io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5031" y="6095220"/>
            <a:ext cx="524135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 dirty="0">
                <a:solidFill>
                  <a:srgbClr val="002060"/>
                </a:solidFill>
              </a:rPr>
              <a:t>澳洲土逗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1"/>
                </a:solidFill>
              </a:rPr>
              <a:t>IT</a:t>
            </a:r>
            <a:r>
              <a:rPr lang="zh-CN" altLang="en-US" sz="2000" b="1" i="1" dirty="0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4479" y="2784912"/>
            <a:ext cx="7688994" cy="1470054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Mouse Actions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4560170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Learning Objectives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3372" y="1531345"/>
            <a:ext cx="7549611" cy="482538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presence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state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Advanced User Interactions API for mouse and keyboard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double-click on an element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drag-and-drop operations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context menus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Executing the JavaScript code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Capturing screenshots with Selenium WebDriver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Maximizing the browser window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session cookies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browser navigation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WebDriver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Client – Server Delivery Model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Big Picture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140" y="2189661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174" y="5144892"/>
            <a:ext cx="5001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</a:t>
            </a:r>
          </a:p>
          <a:p>
            <a:r>
              <a:rPr lang="en-AU" sz="2800" b="1" i="1" dirty="0">
                <a:solidFill>
                  <a:schemeClr val="accent1"/>
                </a:solidFill>
              </a:rPr>
              <a:t>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73" y="4160292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726" y="2120817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14" idx="3"/>
            <a:endCxn id="15" idx="1"/>
          </p:cNvCxnSpPr>
          <p:nvPr/>
        </p:nvCxnSpPr>
        <p:spPr>
          <a:xfrm flipV="1">
            <a:off x="8017329" y="2569261"/>
            <a:ext cx="1188811" cy="8507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58F2B4-9475-B877-FBE9-1244D308D3A1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How Selenium Works - Logically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4056" y="6168641"/>
            <a:ext cx="1071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/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/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813F-CE22-FF38-2F53-0E7A201C4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E451EEC-27F1-1564-7E56-C440B27B2E17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911E22-2030-DA9F-19AE-BE7475346AFC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77053D-2B2D-4F59-F646-9FFA1D16BDD5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296C8B-FF76-31C5-6FB1-0A3FA8AB756D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78F98-2687-4230-9182-4196B73855CD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FC9C-FAC3-10FA-3CEB-648A7A5098ED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E809AA-24F8-DF3D-14CA-0A7F831FBEF8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3D20E5C2-0A9E-E3C2-C36A-F19C77806FEF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561A-5DBF-ABB7-C16C-E7EE929E1C12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6DF2-A70A-D807-963F-3DB3A3063EEA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Take “human”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22" y="4932650"/>
            <a:ext cx="3592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5257970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stCxn id="47" idx="3"/>
            <a:endCxn id="16" idx="2"/>
          </p:cNvCxnSpPr>
          <p:nvPr/>
        </p:nvCxnSpPr>
        <p:spPr>
          <a:xfrm flipV="1">
            <a:off x="5823237" y="4170356"/>
            <a:ext cx="2347223" cy="2997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5007423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25894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25765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616977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3849656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2758476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49358" y="4036028"/>
            <a:ext cx="629710" cy="15397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2914227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4272063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2036384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2576562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stCxn id="47" idx="0"/>
            <a:endCxn id="5" idx="2"/>
          </p:cNvCxnSpPr>
          <p:nvPr/>
        </p:nvCxnSpPr>
        <p:spPr>
          <a:xfrm rot="16200000" flipV="1">
            <a:off x="2943932" y="2356802"/>
            <a:ext cx="721461" cy="234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7" idx="2"/>
            <a:endCxn id="12" idx="0"/>
          </p:cNvCxnSpPr>
          <p:nvPr/>
        </p:nvCxnSpPr>
        <p:spPr>
          <a:xfrm rot="5400000">
            <a:off x="3676013" y="4205398"/>
            <a:ext cx="497678" cy="11063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7" idx="0"/>
            <a:endCxn id="32" idx="4"/>
          </p:cNvCxnSpPr>
          <p:nvPr/>
        </p:nvCxnSpPr>
        <p:spPr>
          <a:xfrm rot="5400000" flipH="1" flipV="1">
            <a:off x="4540408" y="2975712"/>
            <a:ext cx="852826" cy="9775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47" idx="0"/>
            <a:endCxn id="31" idx="4"/>
          </p:cNvCxnSpPr>
          <p:nvPr/>
        </p:nvCxnSpPr>
        <p:spPr>
          <a:xfrm rot="16200000" flipV="1">
            <a:off x="3097215" y="2510085"/>
            <a:ext cx="1393004" cy="1368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32839" y="3890908"/>
            <a:ext cx="2690398" cy="618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283448" y="3766574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stCxn id="48" idx="3"/>
            <a:endCxn id="47" idx="1"/>
          </p:cNvCxnSpPr>
          <p:nvPr/>
        </p:nvCxnSpPr>
        <p:spPr>
          <a:xfrm>
            <a:off x="1087517" y="4182499"/>
            <a:ext cx="2045322" cy="1782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355608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078982" y="360434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362047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2800115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Execute –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367668" y="4606170"/>
            <a:ext cx="4906537" cy="225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3573473" y="5195646"/>
            <a:ext cx="4434550" cy="1577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44EA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368" y="789392"/>
            <a:ext cx="713458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WebDriver Deployment 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27" y="5225207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Selenium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596" y="4750082"/>
            <a:ext cx="2016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44EA8"/>
                </a:solidFill>
                <a:latin typeface="+mj-lt"/>
                <a:ea typeface="+mj-ea"/>
                <a:cs typeface="+mj-cs"/>
              </a:rPr>
              <a:t>Local browsers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3927" y="5748799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Cloud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3927" y="6265245"/>
            <a:ext cx="3724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Containerized Selenium Grid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739260" y="4755998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739259" y="5241912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751035" y="573468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739258" y="6227456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4</a:t>
            </a:r>
          </a:p>
        </p:txBody>
      </p:sp>
      <p:sp>
        <p:nvSpPr>
          <p:cNvPr id="11" name="Explosion 1 10"/>
          <p:cNvSpPr/>
          <p:nvPr/>
        </p:nvSpPr>
        <p:spPr>
          <a:xfrm>
            <a:off x="6338495" y="5151329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ine Callout 1 (Accent Bar) 12"/>
          <p:cNvSpPr/>
          <p:nvPr/>
        </p:nvSpPr>
        <p:spPr>
          <a:xfrm>
            <a:off x="9236811" y="5150192"/>
            <a:ext cx="2162231" cy="457200"/>
          </a:xfrm>
          <a:prstGeom prst="accentCallout1">
            <a:avLst>
              <a:gd name="adj1" fmla="val 48018"/>
              <a:gd name="adj2" fmla="val -8848"/>
              <a:gd name="adj3" fmla="val 149085"/>
              <a:gd name="adj4" fmla="val -6773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Remote browsers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46" y="2579347"/>
            <a:ext cx="3278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Browser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OS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Parallel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69" y="2038719"/>
            <a:ext cx="2573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In real life: </a:t>
            </a:r>
          </a:p>
        </p:txBody>
      </p:sp>
      <p:sp>
        <p:nvSpPr>
          <p:cNvPr id="16" name="Chevron 15"/>
          <p:cNvSpPr/>
          <p:nvPr/>
        </p:nvSpPr>
        <p:spPr>
          <a:xfrm>
            <a:off x="4280911" y="2601136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>
            <a:off x="448636" y="5138110"/>
            <a:ext cx="2162231" cy="457200"/>
          </a:xfrm>
          <a:prstGeom prst="accentCallout1">
            <a:avLst>
              <a:gd name="adj1" fmla="val 43140"/>
              <a:gd name="adj2" fmla="val 96876"/>
              <a:gd name="adj3" fmla="val -26524"/>
              <a:gd name="adj4" fmla="val 1462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Local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5645" y="2637326"/>
            <a:ext cx="3591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A fleet of different browsers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with different versions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deployed in different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45" y="2038719"/>
            <a:ext cx="494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A remote environment: 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7038862" y="3759910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6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local browsers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2" name="Picture 51" descr="hosw 060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37" y="2318220"/>
            <a:ext cx="6457570" cy="37480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85090" y="2410692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Simple setup</a:t>
            </a:r>
          </a:p>
        </p:txBody>
      </p:sp>
    </p:spTree>
    <p:extLst>
      <p:ext uri="{BB962C8B-B14F-4D97-AF65-F5344CB8AC3E}">
        <p14:creationId xmlns:p14="http://schemas.microsoft.com/office/powerpoint/2010/main" val="230422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1" name="Picture 50" descr="hosw 06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1" y="2113100"/>
            <a:ext cx="7167418" cy="37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58982" y="2299854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Cross browser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testing</a:t>
            </a:r>
          </a:p>
        </p:txBody>
      </p:sp>
    </p:spTree>
    <p:extLst>
      <p:ext uri="{BB962C8B-B14F-4D97-AF65-F5344CB8AC3E}">
        <p14:creationId xmlns:p14="http://schemas.microsoft.com/office/powerpoint/2010/main" val="18976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7657637" y="2230631"/>
            <a:ext cx="296972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ounded Rectangle 52"/>
          <p:cNvSpPr/>
          <p:nvPr/>
        </p:nvSpPr>
        <p:spPr>
          <a:xfrm>
            <a:off x="9688390" y="2844212"/>
            <a:ext cx="604156" cy="695972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ounded Rectangle 48"/>
          <p:cNvSpPr/>
          <p:nvPr/>
        </p:nvSpPr>
        <p:spPr>
          <a:xfrm>
            <a:off x="4380606" y="2230632"/>
            <a:ext cx="240478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112036" y="2230633"/>
            <a:ext cx="1808861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5187126" y="3424867"/>
            <a:ext cx="735502" cy="491041"/>
          </a:xfrm>
          <a:prstGeom prst="round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9184115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– </a:t>
            </a:r>
            <a:r>
              <a:rPr lang="en-AU" b="1" dirty="0">
                <a:solidFill>
                  <a:schemeClr val="accent2"/>
                </a:solidFill>
              </a:rPr>
              <a:t>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6861" y="4260906"/>
            <a:ext cx="361020" cy="42866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20740" y="2809234"/>
            <a:ext cx="548992" cy="5489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325" y="3564155"/>
            <a:ext cx="620514" cy="6205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0" y="4012652"/>
            <a:ext cx="1352181" cy="10607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3679" y="2435204"/>
            <a:ext cx="117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Test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1948" y="3573394"/>
            <a:ext cx="604156" cy="628675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8255704" y="2521604"/>
            <a:ext cx="20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</a:t>
            </a:r>
            <a:r>
              <a:rPr lang="en-AU" b="1" dirty="0"/>
              <a:t> </a:t>
            </a:r>
            <a:r>
              <a:rPr lang="en-AU" b="1" dirty="0">
                <a:solidFill>
                  <a:srgbClr val="00B0F0"/>
                </a:solidFill>
              </a:rPr>
              <a:t>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9983" y="4286233"/>
            <a:ext cx="318444" cy="40333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stCxn id="50" idx="3"/>
          </p:cNvCxnSpPr>
          <p:nvPr/>
        </p:nvCxnSpPr>
        <p:spPr>
          <a:xfrm flipV="1">
            <a:off x="3192159" y="3615203"/>
            <a:ext cx="1732512" cy="1676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8" y="329520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410896" y="3792769"/>
            <a:ext cx="1012371" cy="81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4606" y="4703921"/>
            <a:ext cx="97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Chrome </a:t>
            </a:r>
          </a:p>
          <a:p>
            <a:r>
              <a:rPr lang="en-AU" sz="1200" dirty="0"/>
              <a:t>WebDriver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195" y="2573855"/>
            <a:ext cx="187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Selenium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4075" y="470392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Safari </a:t>
            </a:r>
          </a:p>
          <a:p>
            <a:r>
              <a:rPr lang="en-AU" sz="1200" dirty="0"/>
              <a:t>WebDriver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40" y="4371577"/>
            <a:ext cx="579472" cy="5794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72905" y="4268526"/>
            <a:ext cx="325885" cy="4210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6115615" y="471154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Firefox</a:t>
            </a:r>
          </a:p>
          <a:p>
            <a:r>
              <a:rPr lang="en-AU" sz="1200" dirty="0"/>
              <a:t>WebDriver</a:t>
            </a:r>
          </a:p>
        </p:txBody>
      </p:sp>
      <p:cxnSp>
        <p:nvCxnSpPr>
          <p:cNvPr id="39" name="Straight Arrow Connector 38"/>
          <p:cNvCxnSpPr>
            <a:stCxn id="28" idx="2"/>
            <a:endCxn id="19" idx="0"/>
          </p:cNvCxnSpPr>
          <p:nvPr/>
        </p:nvCxnSpPr>
        <p:spPr>
          <a:xfrm flipH="1">
            <a:off x="4729205" y="3915908"/>
            <a:ext cx="825672" cy="370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2"/>
            <a:endCxn id="8" idx="0"/>
          </p:cNvCxnSpPr>
          <p:nvPr/>
        </p:nvCxnSpPr>
        <p:spPr>
          <a:xfrm flipH="1">
            <a:off x="5537371" y="3915908"/>
            <a:ext cx="17506" cy="34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8" idx="2"/>
            <a:endCxn id="36" idx="0"/>
          </p:cNvCxnSpPr>
          <p:nvPr/>
        </p:nvCxnSpPr>
        <p:spPr>
          <a:xfrm>
            <a:off x="5554877" y="3915908"/>
            <a:ext cx="780971" cy="35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238377" y="1903376"/>
            <a:ext cx="1961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>
                <a:solidFill>
                  <a:srgbClr val="313131"/>
                </a:solidFill>
                <a:latin typeface="Arial" panose="020B0604020202020204" pitchFamily="34" charset="0"/>
                <a:hlinkClick r:id="rId7"/>
              </a:rPr>
              <a:t>https://www.calculator.net/</a:t>
            </a:r>
            <a:endParaRPr lang="en-AU" sz="1200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37" y="4330664"/>
            <a:ext cx="336447" cy="33644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1" y="4304473"/>
            <a:ext cx="381206" cy="381206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1673" y="4344031"/>
            <a:ext cx="323080" cy="32308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>
            <a:off x="8456761" y="3250780"/>
            <a:ext cx="938251" cy="34467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8569563" y="3985839"/>
            <a:ext cx="813746" cy="38573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65" y="3424867"/>
            <a:ext cx="529794" cy="414197"/>
          </a:xfrm>
          <a:prstGeom prst="rect">
            <a:avLst/>
          </a:prstGeom>
        </p:spPr>
      </p:pic>
      <p:sp>
        <p:nvSpPr>
          <p:cNvPr id="57" name="Vertical Scroll 56"/>
          <p:cNvSpPr/>
          <p:nvPr/>
        </p:nvSpPr>
        <p:spPr>
          <a:xfrm>
            <a:off x="1601824" y="3131080"/>
            <a:ext cx="778632" cy="605258"/>
          </a:xfrm>
          <a:prstGeom prst="vertic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9080" y="4274737"/>
            <a:ext cx="604156" cy="699858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063705" y="3666306"/>
            <a:ext cx="1561621" cy="40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3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368847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82800" y="2948817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Hub-nodes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49" name="Rectangle 48"/>
          <p:cNvSpPr/>
          <p:nvPr/>
        </p:nvSpPr>
        <p:spPr>
          <a:xfrm>
            <a:off x="2082800" y="2306890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52" name="Rectangle 51"/>
          <p:cNvSpPr/>
          <p:nvPr/>
        </p:nvSpPr>
        <p:spPr>
          <a:xfrm>
            <a:off x="2082799" y="3590744"/>
            <a:ext cx="3237345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Fully distributed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7" name="Flowchart: Connector 6"/>
          <p:cNvSpPr/>
          <p:nvPr/>
        </p:nvSpPr>
        <p:spPr>
          <a:xfrm>
            <a:off x="1542472" y="2382981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1542472" y="303414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54" name="Flowchart: Connector 53"/>
          <p:cNvSpPr/>
          <p:nvPr/>
        </p:nvSpPr>
        <p:spPr>
          <a:xfrm>
            <a:off x="1544781" y="3685307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pic>
        <p:nvPicPr>
          <p:cNvPr id="55" name="Picture 54" descr="hosw 060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27" y="1547578"/>
            <a:ext cx="4816388" cy="29731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xplosion 1 2"/>
          <p:cNvSpPr/>
          <p:nvPr/>
        </p:nvSpPr>
        <p:spPr>
          <a:xfrm>
            <a:off x="4298345" y="2365462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054" y="476329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215" y="5258019"/>
            <a:ext cx="899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webdrivermanager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-5.0.3-fat.jar resolveDriverFor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chrome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622215" y="5630028"/>
            <a:ext cx="816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selenium-server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-4.0.0.jar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standalone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22215" y="6004715"/>
            <a:ext cx="11452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WebDriver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RemoteWebDriver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AU" dirty="0">
                <a:solidFill>
                  <a:srgbClr val="CC3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"http://localhost:4444/"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CC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ChromeOptions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hosw ab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3" y="428194"/>
            <a:ext cx="4897047" cy="44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xplosion 1 8"/>
          <p:cNvSpPr/>
          <p:nvPr/>
        </p:nvSpPr>
        <p:spPr>
          <a:xfrm>
            <a:off x="3595818" y="428193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9055" y="1763204"/>
            <a:ext cx="34557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Browsers as a service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Analysis capabilities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Mobile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Visual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8012" y="1763204"/>
            <a:ext cx="3476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Sauce</a:t>
            </a:r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Labs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BrowserStack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LambdaTest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CrossBrowserTesting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Moon Cloud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TestingBot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Perfecto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Testinium</a:t>
            </a:r>
            <a:endParaRPr lang="en-AU" i="1" dirty="0">
              <a:solidFill>
                <a:srgbClr val="002060"/>
              </a:solidFill>
              <a:latin typeface="inheri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65911"/>
            <a:ext cx="10360955" cy="5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8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Containerized Selenium Grid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49173"/>
            <a:ext cx="72866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15892</TotalTime>
  <Words>1372</Words>
  <Application>Microsoft Macintosh PowerPoint</Application>
  <PresentationFormat>Widescreen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Arial Black</vt:lpstr>
      <vt:lpstr>Calibri</vt:lpstr>
      <vt:lpstr>Century Gothic</vt:lpstr>
      <vt:lpstr>Consolas</vt:lpstr>
      <vt:lpstr>Courier New</vt:lpstr>
      <vt:lpstr>inherit</vt:lpstr>
      <vt:lpstr>Symbol</vt:lpstr>
      <vt:lpstr>Times New Roman</vt:lpstr>
      <vt:lpstr>Wingdings</vt:lpstr>
      <vt:lpstr>Wingdings 3</vt:lpstr>
      <vt:lpstr>Wisp</vt:lpstr>
      <vt:lpstr>Funny Training Gorilla    澳洲土逗-IT培训</vt:lpstr>
      <vt:lpstr>Learning Objectives</vt:lpstr>
      <vt:lpstr>Agenda</vt:lpstr>
      <vt:lpstr>Client – Server Delivery Model</vt:lpstr>
      <vt:lpstr>Big Picture </vt:lpstr>
      <vt:lpstr>How Selenium Works - Logically </vt:lpstr>
      <vt:lpstr>Take “human” Action</vt:lpstr>
      <vt:lpstr>Understand Web Page Object Model (POM) </vt:lpstr>
      <vt:lpstr>Location Strategy</vt:lpstr>
      <vt:lpstr>XPath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Execute – Junit framework</vt:lpstr>
      <vt:lpstr>Junit 5 </vt:lpstr>
      <vt:lpstr>Selenium WebDriver Deployment   </vt:lpstr>
      <vt:lpstr>Using local browsers </vt:lpstr>
      <vt:lpstr>Using remote browser </vt:lpstr>
      <vt:lpstr>Selenium Grid – Remote Browser </vt:lpstr>
      <vt:lpstr>Selenium Grid </vt:lpstr>
      <vt:lpstr>Standalone </vt:lpstr>
      <vt:lpstr>Cloud Providers </vt:lpstr>
      <vt:lpstr>Cloud Providers </vt:lpstr>
      <vt:lpstr>Containerized Selenium Grid </vt:lpstr>
      <vt:lpstr>Put Everything Together  </vt:lpstr>
      <vt:lpstr>Selenium Environment Setup        – Standalone Grid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754</cp:revision>
  <dcterms:created xsi:type="dcterms:W3CDTF">2020-08-03T09:43:10Z</dcterms:created>
  <dcterms:modified xsi:type="dcterms:W3CDTF">2025-05-01T01:53:12Z</dcterms:modified>
</cp:coreProperties>
</file>