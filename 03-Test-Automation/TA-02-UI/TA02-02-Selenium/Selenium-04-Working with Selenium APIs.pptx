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61" r:id="rId3"/>
    <p:sldId id="322" r:id="rId4"/>
    <p:sldId id="274" r:id="rId5"/>
    <p:sldId id="288" r:id="rId6"/>
    <p:sldId id="296" r:id="rId7"/>
    <p:sldId id="298" r:id="rId8"/>
    <p:sldId id="297" r:id="rId9"/>
    <p:sldId id="301" r:id="rId10"/>
    <p:sldId id="299" r:id="rId11"/>
    <p:sldId id="300" r:id="rId12"/>
    <p:sldId id="321" r:id="rId13"/>
    <p:sldId id="302" r:id="rId14"/>
    <p:sldId id="293" r:id="rId15"/>
    <p:sldId id="311" r:id="rId16"/>
    <p:sldId id="285" r:id="rId17"/>
    <p:sldId id="295" r:id="rId18"/>
    <p:sldId id="308" r:id="rId19"/>
    <p:sldId id="306" r:id="rId20"/>
    <p:sldId id="291" r:id="rId21"/>
    <p:sldId id="304" r:id="rId22"/>
    <p:sldId id="314" r:id="rId23"/>
    <p:sldId id="313" r:id="rId24"/>
    <p:sldId id="317" r:id="rId25"/>
    <p:sldId id="320" r:id="rId26"/>
    <p:sldId id="303" r:id="rId27"/>
    <p:sldId id="319" r:id="rId28"/>
    <p:sldId id="318" r:id="rId29"/>
    <p:sldId id="310" r:id="rId30"/>
    <p:sldId id="315" r:id="rId31"/>
    <p:sldId id="294" r:id="rId32"/>
    <p:sldId id="264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261"/>
            <p14:sldId id="322"/>
            <p14:sldId id="274"/>
            <p14:sldId id="288"/>
            <p14:sldId id="296"/>
            <p14:sldId id="298"/>
            <p14:sldId id="297"/>
            <p14:sldId id="301"/>
            <p14:sldId id="299"/>
          </p14:sldIdLst>
        </p14:section>
        <p14:section name="Untitled Section" id="{96B2A4F6-E483-46D3-B718-858E0B0CB8CB}">
          <p14:sldIdLst>
            <p14:sldId id="300"/>
            <p14:sldId id="321"/>
            <p14:sldId id="302"/>
            <p14:sldId id="293"/>
            <p14:sldId id="311"/>
            <p14:sldId id="285"/>
            <p14:sldId id="295"/>
            <p14:sldId id="308"/>
            <p14:sldId id="306"/>
            <p14:sldId id="291"/>
            <p14:sldId id="304"/>
            <p14:sldId id="314"/>
            <p14:sldId id="313"/>
            <p14:sldId id="317"/>
            <p14:sldId id="320"/>
            <p14:sldId id="303"/>
            <p14:sldId id="319"/>
            <p14:sldId id="318"/>
            <p14:sldId id="310"/>
            <p14:sldId id="315"/>
            <p14:sldId id="294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EA8"/>
    <a:srgbClr val="C9E8FF"/>
    <a:srgbClr val="2E8488"/>
    <a:srgbClr val="74B2FC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4"/>
    <p:restoredTop sz="92044" autoAdjust="0"/>
  </p:normalViewPr>
  <p:slideViewPr>
    <p:cSldViewPr snapToGrid="0">
      <p:cViewPr varScale="1">
        <p:scale>
          <a:sx n="154" d="100"/>
          <a:sy n="154" d="100"/>
        </p:scale>
        <p:origin x="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C191A271-5AB5-4229-AE14-FA6CEE75A23B}"/>
    <pc:docChg chg="custSel modSld">
      <pc:chgData name="Songqing Gu" userId="c4d8cb49210192e2" providerId="LiveId" clId="{C191A271-5AB5-4229-AE14-FA6CEE75A23B}" dt="2023-05-13T08:21:06.980" v="176" actId="167"/>
      <pc:docMkLst>
        <pc:docMk/>
      </pc:docMkLst>
      <pc:sldChg chg="modSp mod">
        <pc:chgData name="Songqing Gu" userId="c4d8cb49210192e2" providerId="LiveId" clId="{C191A271-5AB5-4229-AE14-FA6CEE75A23B}" dt="2023-04-29T07:00:02.742" v="2" actId="207"/>
        <pc:sldMkLst>
          <pc:docMk/>
          <pc:sldMk cId="3813058601" sldId="256"/>
        </pc:sldMkLst>
        <pc:spChg chg="mod">
          <ac:chgData name="Songqing Gu" userId="c4d8cb49210192e2" providerId="LiveId" clId="{C191A271-5AB5-4229-AE14-FA6CEE75A23B}" dt="2023-04-29T07:00:02.742" v="2" actId="207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C191A271-5AB5-4229-AE14-FA6CEE75A23B}" dt="2023-05-13T08:21:06.980" v="176" actId="167"/>
        <pc:sldMkLst>
          <pc:docMk/>
          <pc:sldMk cId="3799275039" sldId="296"/>
        </pc:sldMkLst>
        <pc:spChg chg="add mod">
          <ac:chgData name="Songqing Gu" userId="c4d8cb49210192e2" providerId="LiveId" clId="{C191A271-5AB5-4229-AE14-FA6CEE75A23B}" dt="2023-05-13T08:19:05.805" v="169" actId="1076"/>
          <ac:spMkLst>
            <pc:docMk/>
            <pc:sldMk cId="3799275039" sldId="296"/>
            <ac:spMk id="7" creationId="{85296C8B-FF76-31C5-6FB1-0A3FA8AB756D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8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6:46.258" v="109" actId="1076"/>
          <ac:spMkLst>
            <pc:docMk/>
            <pc:sldMk cId="3799275039" sldId="296"/>
            <ac:spMk id="12" creationId="{3D20E5C2-0A9E-E3C2-C36A-F19C77806FEF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13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7:13.820" v="147" actId="14100"/>
          <ac:spMkLst>
            <pc:docMk/>
            <pc:sldMk cId="3799275039" sldId="296"/>
            <ac:spMk id="15" creationId="{3545561A-5DBF-ABB7-C16C-E7EE929E1C12}"/>
          </ac:spMkLst>
        </pc:spChg>
        <pc:spChg chg="add mod">
          <ac:chgData name="Songqing Gu" userId="c4d8cb49210192e2" providerId="LiveId" clId="{C191A271-5AB5-4229-AE14-FA6CEE75A23B}" dt="2023-05-13T08:17:39.067" v="167" actId="20577"/>
          <ac:spMkLst>
            <pc:docMk/>
            <pc:sldMk cId="3799275039" sldId="296"/>
            <ac:spMk id="16" creationId="{62186DF2-A70A-D807-963F-3DB3A3063EEA}"/>
          </ac:spMkLst>
        </pc:spChg>
        <pc:spChg chg="add mod ord">
          <ac:chgData name="Songqing Gu" userId="c4d8cb49210192e2" providerId="LiveId" clId="{C191A271-5AB5-4229-AE14-FA6CEE75A23B}" dt="2023-05-13T08:21:06.980" v="176" actId="167"/>
          <ac:spMkLst>
            <pc:docMk/>
            <pc:sldMk cId="3799275039" sldId="296"/>
            <ac:spMk id="17" creationId="{0758F2B4-9475-B877-FBE9-1244D308D3A1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22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24.745" v="84" actId="1076"/>
          <ac:spMkLst>
            <pc:docMk/>
            <pc:sldMk cId="3799275039" sldId="296"/>
            <ac:spMk id="35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3:02.411" v="31" actId="1076"/>
          <ac:spMkLst>
            <pc:docMk/>
            <pc:sldMk cId="3799275039" sldId="296"/>
            <ac:spMk id="38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39" creationId="{00000000-0000-0000-0000-000000000000}"/>
          </ac:spMkLst>
        </pc:spChg>
        <pc:grpChg chg="add 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" creationId="{5E451EEC-27F1-1564-7E56-C440B27B2E17}"/>
          </ac:grpSpMkLst>
        </pc:grpChg>
        <pc:grpChg chg="add mod">
          <ac:chgData name="Songqing Gu" userId="c4d8cb49210192e2" providerId="LiveId" clId="{C191A271-5AB5-4229-AE14-FA6CEE75A23B}" dt="2023-05-13T08:16:20.776" v="83" actId="1076"/>
          <ac:grpSpMkLst>
            <pc:docMk/>
            <pc:sldMk cId="3799275039" sldId="296"/>
            <ac:grpSpMk id="9" creationId="{82078F98-2687-4230-9182-4196B73855CD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29" creationId="{00000000-0000-0000-0000-000000000000}"/>
          </ac:grpSpMkLst>
        </pc:grpChg>
        <pc:grpChg chg="del mod">
          <ac:chgData name="Songqing Gu" userId="c4d8cb49210192e2" providerId="LiveId" clId="{C191A271-5AB5-4229-AE14-FA6CEE75A23B}" dt="2023-05-13T08:13:07.047" v="32" actId="478"/>
          <ac:grpSpMkLst>
            <pc:docMk/>
            <pc:sldMk cId="3799275039" sldId="296"/>
            <ac:grpSpMk id="40" creationId="{00000000-0000-0000-0000-000000000000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3" creationId="{00000000-0000-0000-0000-000000000000}"/>
          </ac:grpSpMkLst>
        </pc:grpChg>
        <pc:picChg chg="add mod">
          <ac:chgData name="Songqing Gu" userId="c4d8cb49210192e2" providerId="LiveId" clId="{C191A271-5AB5-4229-AE14-FA6CEE75A23B}" dt="2023-05-13T08:16:32.724" v="107" actId="1037"/>
          <ac:picMkLst>
            <pc:docMk/>
            <pc:sldMk cId="3799275039" sldId="296"/>
            <ac:picMk id="3" creationId="{5E76813F-CE22-FF38-2F53-0E7A201C42D8}"/>
          </ac:picMkLst>
        </pc:picChg>
        <pc:picChg chg="mod">
          <ac:chgData name="Songqing Gu" userId="c4d8cb49210192e2" providerId="LiveId" clId="{C191A271-5AB5-4229-AE14-FA6CEE75A23B}" dt="2023-05-13T08:18:57.577" v="168" actId="1076"/>
          <ac:picMkLst>
            <pc:docMk/>
            <pc:sldMk cId="3799275039" sldId="296"/>
            <ac:picMk id="1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20:44.059" v="170" actId="1076"/>
          <ac:picMkLst>
            <pc:docMk/>
            <pc:sldMk cId="3799275039" sldId="296"/>
            <ac:picMk id="3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12:02.079" v="28" actId="1076"/>
          <ac:picMkLst>
            <pc:docMk/>
            <pc:sldMk cId="3799275039" sldId="296"/>
            <ac:picMk id="36" creationId="{00000000-0000-0000-0000-000000000000}"/>
          </ac:picMkLst>
        </pc:pic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5" creationId="{C8911E22-2030-DA9F-19AE-BE7475346AFC}"/>
          </ac:cxnSpMkLst>
        </pc:cxn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6" creationId="{C277053D-2B2D-4F59-F646-9FFA1D16BDD5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0" creationId="{7782FC9C-FAC3-10FA-3CEB-648A7A5098ED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1" creationId="{47E809AA-24F8-DF3D-14CA-0A7F831FBEF8}"/>
          </ac:cxnSpMkLst>
        </pc:cxnChg>
      </pc:sldChg>
    </pc:docChg>
  </pc:docChgLst>
  <pc:docChgLst>
    <pc:chgData name="Songqing" userId="c4d8cb49210192e2" providerId="LiveId" clId="{097B142E-C6A6-47DE-B0D9-738B43242677}"/>
    <pc:docChg chg="modSld">
      <pc:chgData name="Songqing" userId="c4d8cb49210192e2" providerId="LiveId" clId="{097B142E-C6A6-47DE-B0D9-738B43242677}" dt="2023-03-22T04:23:16.089" v="21" actId="1038"/>
      <pc:docMkLst>
        <pc:docMk/>
      </pc:docMkLst>
      <pc:sldChg chg="modSp mod">
        <pc:chgData name="Songqing" userId="c4d8cb49210192e2" providerId="LiveId" clId="{097B142E-C6A6-47DE-B0D9-738B43242677}" dt="2023-03-22T04:23:16.089" v="21" actId="1038"/>
        <pc:sldMkLst>
          <pc:docMk/>
          <pc:sldMk cId="2644837690" sldId="298"/>
        </pc:sldMkLst>
        <pc:spChg chg="mod">
          <ac:chgData name="Songqing" userId="c4d8cb49210192e2" providerId="LiveId" clId="{097B142E-C6A6-47DE-B0D9-738B43242677}" dt="2023-03-22T04:23:01.530" v="1" actId="1076"/>
          <ac:spMkLst>
            <pc:docMk/>
            <pc:sldMk cId="2644837690" sldId="298"/>
            <ac:spMk id="3" creationId="{00000000-0000-0000-0000-000000000000}"/>
          </ac:spMkLst>
        </pc:spChg>
        <pc:spChg chg="mod">
          <ac:chgData name="Songqing" userId="c4d8cb49210192e2" providerId="LiveId" clId="{097B142E-C6A6-47DE-B0D9-738B43242677}" dt="2023-03-22T04:23:16.089" v="21" actId="1038"/>
          <ac:spMkLst>
            <pc:docMk/>
            <pc:sldMk cId="2644837690" sldId="298"/>
            <ac:spMk id="4" creationId="{00000000-0000-0000-0000-000000000000}"/>
          </ac:spMkLst>
        </pc:spChg>
        <pc:spChg chg="mod">
          <ac:chgData name="Songqing" userId="c4d8cb49210192e2" providerId="LiveId" clId="{097B142E-C6A6-47DE-B0D9-738B43242677}" dt="2023-03-22T04:22:24.710" v="0" actId="1076"/>
          <ac:spMkLst>
            <pc:docMk/>
            <pc:sldMk cId="2644837690" sldId="298"/>
            <ac:spMk id="6" creationId="{00000000-0000-0000-0000-000000000000}"/>
          </ac:spMkLst>
        </pc:spChg>
      </pc:sldChg>
    </pc:docChg>
  </pc:docChgLst>
  <pc:docChgLst>
    <pc:chgData name="Songqing Gu" userId="c4d8cb49210192e2" providerId="LiveId" clId="{94E37231-6C28-40B4-96A3-05FF8B509A9C}"/>
    <pc:docChg chg="custSel modSld">
      <pc:chgData name="Songqing Gu" userId="c4d8cb49210192e2" providerId="LiveId" clId="{94E37231-6C28-40B4-96A3-05FF8B509A9C}" dt="2023-05-28T12:22:26.750" v="48" actId="255"/>
      <pc:docMkLst>
        <pc:docMk/>
      </pc:docMkLst>
      <pc:sldChg chg="modSp mod">
        <pc:chgData name="Songqing Gu" userId="c4d8cb49210192e2" providerId="LiveId" clId="{94E37231-6C28-40B4-96A3-05FF8B509A9C}" dt="2023-05-28T12:21:11.939" v="8" actId="1076"/>
        <pc:sldMkLst>
          <pc:docMk/>
          <pc:sldMk cId="3813058601" sldId="256"/>
        </pc:sldMkLst>
        <pc:spChg chg="mod">
          <ac:chgData name="Songqing Gu" userId="c4d8cb49210192e2" providerId="LiveId" clId="{94E37231-6C28-40B4-96A3-05FF8B509A9C}" dt="2023-05-28T12:21:11.939" v="8" actId="1076"/>
          <ac:spMkLst>
            <pc:docMk/>
            <pc:sldMk cId="3813058601" sldId="256"/>
            <ac:spMk id="2" creationId="{00000000-0000-0000-0000-000000000000}"/>
          </ac:spMkLst>
        </pc:spChg>
        <pc:spChg chg="mod">
          <ac:chgData name="Songqing Gu" userId="c4d8cb49210192e2" providerId="LiveId" clId="{94E37231-6C28-40B4-96A3-05FF8B509A9C}" dt="2023-05-28T12:21:07.846" v="7" actId="1076"/>
          <ac:spMkLst>
            <pc:docMk/>
            <pc:sldMk cId="3813058601" sldId="256"/>
            <ac:spMk id="3" creationId="{00000000-0000-0000-0000-000000000000}"/>
          </ac:spMkLst>
        </pc:spChg>
      </pc:sldChg>
      <pc:sldChg chg="modSp mod">
        <pc:chgData name="Songqing Gu" userId="c4d8cb49210192e2" providerId="LiveId" clId="{94E37231-6C28-40B4-96A3-05FF8B509A9C}" dt="2023-05-28T12:22:26.750" v="48" actId="255"/>
        <pc:sldMkLst>
          <pc:docMk/>
          <pc:sldMk cId="3113703618" sldId="261"/>
        </pc:sldMkLst>
        <pc:spChg chg="mod">
          <ac:chgData name="Songqing Gu" userId="c4d8cb49210192e2" providerId="LiveId" clId="{94E37231-6C28-40B4-96A3-05FF8B509A9C}" dt="2023-05-28T12:21:35.669" v="37" actId="14100"/>
          <ac:spMkLst>
            <pc:docMk/>
            <pc:sldMk cId="3113703618" sldId="261"/>
            <ac:spMk id="2" creationId="{00000000-0000-0000-0000-000000000000}"/>
          </ac:spMkLst>
        </pc:spChg>
        <pc:spChg chg="mod">
          <ac:chgData name="Songqing Gu" userId="c4d8cb49210192e2" providerId="LiveId" clId="{94E37231-6C28-40B4-96A3-05FF8B509A9C}" dt="2023-05-28T12:22:26.750" v="48" actId="255"/>
          <ac:spMkLst>
            <pc:docMk/>
            <pc:sldMk cId="3113703618" sldId="261"/>
            <ac:spMk id="4" creationId="{00000000-0000-0000-0000-000000000000}"/>
          </ac:spMkLst>
        </pc:spChg>
      </pc:sldChg>
      <pc:sldChg chg="modSp mod">
        <pc:chgData name="Songqing Gu" userId="c4d8cb49210192e2" providerId="LiveId" clId="{94E37231-6C28-40B4-96A3-05FF8B509A9C}" dt="2023-05-24T08:42:03.824" v="0" actId="14100"/>
        <pc:sldMkLst>
          <pc:docMk/>
          <pc:sldMk cId="3644665972" sldId="291"/>
        </pc:sldMkLst>
        <pc:spChg chg="mod">
          <ac:chgData name="Songqing Gu" userId="c4d8cb49210192e2" providerId="LiveId" clId="{94E37231-6C28-40B4-96A3-05FF8B509A9C}" dt="2023-05-24T08:42:03.824" v="0" actId="14100"/>
          <ac:spMkLst>
            <pc:docMk/>
            <pc:sldMk cId="3644665972" sldId="291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1/5/2025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09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0270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978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To request </a:t>
            </a:r>
            <a:r>
              <a:rPr lang="en-AU" dirty="0">
                <a:highlight>
                  <a:srgbClr val="00FF00"/>
                </a:highlight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on-demand web browsers</a:t>
            </a: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 hosted by the providers. </a:t>
            </a:r>
            <a:r>
              <a:rPr lang="en-AU" dirty="0">
                <a:highlight>
                  <a:srgbClr val="FFFF00"/>
                </a:highlight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These browsers are usually of different types, versions, and operating systems</a:t>
            </a: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. This feature is typically used for cross-browser automated or live testing.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To monitor and debug automated tests. To that aim, cloud providers typically support session recordings or rich error-reporting features.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To request emulated (and real) mobile devices on different platforms, such as Android and iOS.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Automatically inspect the UI and ensure that end users have a correct visual experience.</a:t>
            </a:r>
            <a:endParaRPr lang="en-A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2589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5137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8151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yizeng.me/2014/03/23/evaluate-and-validate-xpath-css-selectors-in-chrome-developer-tools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utorialspoint.com/selenium/selenium_keyboard_actions.htm" TargetMode="External"/><Relationship Id="rId3" Type="http://schemas.openxmlformats.org/officeDocument/2006/relationships/hyperlink" Target="https://www.tutorialspoint.com/selenium/selenium_radio_button.htm" TargetMode="External"/><Relationship Id="rId7" Type="http://schemas.openxmlformats.org/officeDocument/2006/relationships/hyperlink" Target="https://www.tutorialspoint.com/selenium/selenium_drag_drop.htm" TargetMode="External"/><Relationship Id="rId2" Type="http://schemas.openxmlformats.org/officeDocument/2006/relationships/hyperlink" Target="https://www.tutorialspoint.com/selenium/selenium_textbox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utorialspoint.com/selenium/selenium_synchronization.htm" TargetMode="External"/><Relationship Id="rId11" Type="http://schemas.openxmlformats.org/officeDocument/2006/relationships/hyperlink" Target="https://www.tutorialspoint.com/selenium/selenium_find_all_links.htm" TargetMode="External"/><Relationship Id="rId5" Type="http://schemas.openxmlformats.org/officeDocument/2006/relationships/hyperlink" Target="https://www.tutorialspoint.com/selenium/selenium_drop_down.htm" TargetMode="External"/><Relationship Id="rId10" Type="http://schemas.openxmlformats.org/officeDocument/2006/relationships/hyperlink" Target="https://www.tutorialspoint.com/selenium/selenium_multi_select.htm" TargetMode="External"/><Relationship Id="rId4" Type="http://schemas.openxmlformats.org/officeDocument/2006/relationships/hyperlink" Target="https://www.tutorialspoint.com/selenium/selenium_check_box.htm" TargetMode="External"/><Relationship Id="rId9" Type="http://schemas.openxmlformats.org/officeDocument/2006/relationships/hyperlink" Target="https://www.tutorialspoint.com/selenium/selenium_mouse_actions.htm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uru99.com/xpath-selenium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hyperlink" Target="https://www.calculator.ne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7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testingbot.com/" TargetMode="External"/><Relationship Id="rId3" Type="http://schemas.openxmlformats.org/officeDocument/2006/relationships/hyperlink" Target="https://saucelabs.com/" TargetMode="External"/><Relationship Id="rId7" Type="http://schemas.openxmlformats.org/officeDocument/2006/relationships/hyperlink" Target="https://aerokube.com/moon-clou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ossbrowsertesting.com/" TargetMode="External"/><Relationship Id="rId5" Type="http://schemas.openxmlformats.org/officeDocument/2006/relationships/hyperlink" Target="https://www.lambdatest.com/" TargetMode="External"/><Relationship Id="rId10" Type="http://schemas.openxmlformats.org/officeDocument/2006/relationships/hyperlink" Target="https://testinium.com/" TargetMode="External"/><Relationship Id="rId4" Type="http://schemas.openxmlformats.org/officeDocument/2006/relationships/hyperlink" Target="https://www.browserstack.com/" TargetMode="External"/><Relationship Id="rId9" Type="http://schemas.openxmlformats.org/officeDocument/2006/relationships/hyperlink" Target="https://www.perfecto.io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lenium.dev/download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ven.apache.org/download.cgi" TargetMode="External"/><Relationship Id="rId5" Type="http://schemas.openxmlformats.org/officeDocument/2006/relationships/hyperlink" Target="https://www.browserstack.com/guide/selenium-with-java-for-automated-test" TargetMode="External"/><Relationship Id="rId4" Type="http://schemas.openxmlformats.org/officeDocument/2006/relationships/hyperlink" Target="https://chromedriver.chromium.org/downloads" TargetMode="Externa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ambdatest.com/blog/selenium-webdriver-tutorial-with-examples/" TargetMode="External"/><Relationship Id="rId3" Type="http://schemas.openxmlformats.org/officeDocument/2006/relationships/hyperlink" Target="https://www.vogella.com/tutorials/Eclipse/article.html" TargetMode="External"/><Relationship Id="rId7" Type="http://schemas.openxmlformats.org/officeDocument/2006/relationships/hyperlink" Target="https://www.tutorialspoint.com/selenium/selenium_webdriver.ht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rowserstack.com/guide/selenium-with-java-for-automated-test" TargetMode="External"/><Relationship Id="rId5" Type="http://schemas.openxmlformats.org/officeDocument/2006/relationships/hyperlink" Target="https://www.selenium.dev/documentation/webdriver/getting_started/" TargetMode="External"/><Relationship Id="rId4" Type="http://schemas.openxmlformats.org/officeDocument/2006/relationships/hyperlink" Target="https://www.guru99.com/xpath-selenium.htm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mt.linkedin.com/in/songqing-gu-2ba9034b/de" TargetMode="External"/><Relationship Id="rId2" Type="http://schemas.openxmlformats.org/officeDocument/2006/relationships/hyperlink" Target="http://www.funnygorilla.com.a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75031" y="6095220"/>
            <a:ext cx="524135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2060"/>
                </a:solidFill>
              </a:rPr>
              <a:t>Funny Training Gorilla    </a:t>
            </a:r>
            <a:r>
              <a:rPr lang="zh-CN" altLang="en-US" sz="2000" b="1" dirty="0">
                <a:solidFill>
                  <a:srgbClr val="002060"/>
                </a:solidFill>
              </a:rPr>
              <a:t>澳洲土逗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1"/>
                </a:solidFill>
              </a:rPr>
              <a:t>IT</a:t>
            </a:r>
            <a:r>
              <a:rPr lang="zh-CN" altLang="en-US" sz="2000" b="1" i="1" dirty="0">
                <a:solidFill>
                  <a:schemeClr val="accent1"/>
                </a:solidFill>
              </a:rPr>
              <a:t>培训</a:t>
            </a:r>
            <a:endParaRPr lang="en-AU" sz="1400" b="1" i="1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8307" y="2795798"/>
            <a:ext cx="8425407" cy="763831"/>
          </a:xfrm>
          <a:effectLst/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Working with Selenium APIs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664931"/>
            <a:ext cx="4560170" cy="66898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Learning Objectives</a:t>
            </a:r>
            <a:endParaRPr lang="en-AU" sz="3200" b="1" dirty="0">
              <a:solidFill>
                <a:srgbClr val="00206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83372" y="1531345"/>
            <a:ext cx="7549611" cy="4825388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Checking for an element's presence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Checking for an element's state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Advanced User Interactions API for mouse and keyboard events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Performing double-click on an element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Performing drag-and-drop operations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Working with context menus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Executing the JavaScript code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Capturing screenshots with Selenium WebDriver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Maximizing the browser window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Handling session cookies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Working with browser navigation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AU" b="1" kern="0" dirty="0">
                <a:solidFill>
                  <a:srgbClr val="3D3B4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Working with WebDriver events</a:t>
            </a:r>
            <a:endParaRPr lang="en-AU" b="1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11370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664931"/>
            <a:ext cx="2485261" cy="66898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Agenda</a:t>
            </a:r>
            <a:endParaRPr lang="en-AU" sz="32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734" y="1763487"/>
            <a:ext cx="6987495" cy="485775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Big Picture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Logically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POM </a:t>
            </a:r>
          </a:p>
          <a:p>
            <a:pPr lvl="1"/>
            <a:r>
              <a:rPr lang="en-AU" altLang="zh-CN" sz="1400" b="1" dirty="0">
                <a:solidFill>
                  <a:srgbClr val="00B0F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altLang="zh-CN" sz="2400" b="1" dirty="0">
                <a:solidFill>
                  <a:srgbClr val="002060"/>
                </a:solidFill>
              </a:rPr>
              <a:t>How Selenium Works Physically</a:t>
            </a:r>
            <a:endParaRPr lang="en-AU" altLang="zh-CN" sz="1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Selenium Test</a:t>
            </a:r>
          </a:p>
          <a:p>
            <a:pPr marL="0" indent="0">
              <a:buNone/>
            </a:pPr>
            <a:r>
              <a:rPr lang="en-AU" sz="2400" b="1" dirty="0">
                <a:solidFill>
                  <a:srgbClr val="002060"/>
                </a:solidFill>
              </a:rPr>
              <a:t>Demo – Mouse Action</a:t>
            </a:r>
            <a:endParaRPr lang="en-AU" sz="15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552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4008668" y="3149028"/>
            <a:ext cx="6776357" cy="2174085"/>
          </a:xfrm>
          <a:prstGeom prst="rect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660" y="650819"/>
            <a:ext cx="6974424" cy="715163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Client – Server Delivery Model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6" name="Flowchart: Magnetic Disk 5"/>
          <p:cNvSpPr/>
          <p:nvPr/>
        </p:nvSpPr>
        <p:spPr>
          <a:xfrm>
            <a:off x="9339942" y="3776069"/>
            <a:ext cx="821983" cy="79193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Rounded Rectangle 18"/>
          <p:cNvSpPr/>
          <p:nvPr/>
        </p:nvSpPr>
        <p:spPr>
          <a:xfrm>
            <a:off x="7168242" y="3510651"/>
            <a:ext cx="968645" cy="135527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Rounded Rectangle 27"/>
          <p:cNvSpPr/>
          <p:nvPr/>
        </p:nvSpPr>
        <p:spPr>
          <a:xfrm>
            <a:off x="4383370" y="3737448"/>
            <a:ext cx="925285" cy="67951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829" y="3556742"/>
            <a:ext cx="804195" cy="7591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936352" y="3837222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51888" y="4355654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API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496756" y="3740185"/>
            <a:ext cx="612656" cy="612656"/>
          </a:xfrm>
          <a:prstGeom prst="rect">
            <a:avLst/>
          </a:prstGeom>
        </p:spPr>
      </p:pic>
      <p:cxnSp>
        <p:nvCxnSpPr>
          <p:cNvPr id="32" name="Straight Arrow Connector 31"/>
          <p:cNvCxnSpPr/>
          <p:nvPr/>
        </p:nvCxnSpPr>
        <p:spPr>
          <a:xfrm flipV="1">
            <a:off x="5429262" y="4016836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319256" y="4535268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Web Tier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6352" y="4874086"/>
            <a:ext cx="1494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Business 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8826" y="4633626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Database Tier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8243210" y="4152908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3254837" y="4063099"/>
            <a:ext cx="1012371" cy="8164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420673" y="3769513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JSON/Http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6433" y="3824533"/>
            <a:ext cx="9236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SQL/JDBC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35713" y="3769514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HTML/CSS/JS</a:t>
            </a:r>
          </a:p>
        </p:txBody>
      </p:sp>
    </p:spTree>
    <p:extLst>
      <p:ext uri="{BB962C8B-B14F-4D97-AF65-F5344CB8AC3E}">
        <p14:creationId xmlns:p14="http://schemas.microsoft.com/office/powerpoint/2010/main" val="221631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4502584" y="1725607"/>
            <a:ext cx="1327224" cy="374740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/>
          <p:cNvSpPr/>
          <p:nvPr/>
        </p:nvSpPr>
        <p:spPr>
          <a:xfrm>
            <a:off x="1176160" y="1755321"/>
            <a:ext cx="2495117" cy="371769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Big Picture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Cube 2"/>
          <p:cNvSpPr/>
          <p:nvPr/>
        </p:nvSpPr>
        <p:spPr>
          <a:xfrm>
            <a:off x="1360205" y="3207009"/>
            <a:ext cx="710361" cy="612119"/>
          </a:xfrm>
          <a:prstGeom prst="cub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Folded Corner 5"/>
          <p:cNvSpPr/>
          <p:nvPr/>
        </p:nvSpPr>
        <p:spPr>
          <a:xfrm>
            <a:off x="1526461" y="2186989"/>
            <a:ext cx="377850" cy="589447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928354" y="4068318"/>
            <a:ext cx="138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 Page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022743" y="2922743"/>
            <a:ext cx="994586" cy="99458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140" y="2189661"/>
            <a:ext cx="804195" cy="759199"/>
          </a:xfrm>
          <a:prstGeom prst="rect">
            <a:avLst/>
          </a:prstGeom>
        </p:spPr>
      </p:pic>
      <p:sp>
        <p:nvSpPr>
          <p:cNvPr id="5" name="Chevron 4"/>
          <p:cNvSpPr/>
          <p:nvPr/>
        </p:nvSpPr>
        <p:spPr>
          <a:xfrm>
            <a:off x="1515394" y="4344216"/>
            <a:ext cx="555172" cy="145988"/>
          </a:xfrm>
          <a:prstGeom prst="chevr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16726" y="3265602"/>
            <a:ext cx="95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6437" y="3265602"/>
            <a:ext cx="78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5022" y="4283751"/>
            <a:ext cx="1448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2703" y="2186989"/>
            <a:ext cx="115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9597" y="2186989"/>
            <a:ext cx="78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HTML</a:t>
            </a:r>
          </a:p>
        </p:txBody>
      </p:sp>
      <p:sp>
        <p:nvSpPr>
          <p:cNvPr id="19" name="Chevron 18"/>
          <p:cNvSpPr/>
          <p:nvPr/>
        </p:nvSpPr>
        <p:spPr>
          <a:xfrm rot="10800000">
            <a:off x="1515394" y="4544728"/>
            <a:ext cx="555172" cy="145988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16726" y="4221562"/>
            <a:ext cx="1293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Interact </a:t>
            </a:r>
          </a:p>
          <a:p>
            <a:r>
              <a:rPr lang="en-AU" b="1" dirty="0"/>
              <a:t>with backend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3429000" y="2371655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442607" y="3454785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434447" y="4458990"/>
            <a:ext cx="1110343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037" y="4055333"/>
            <a:ext cx="925740" cy="7237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050174" y="5144892"/>
            <a:ext cx="50014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i="1" dirty="0">
                <a:solidFill>
                  <a:schemeClr val="accent1"/>
                </a:solidFill>
              </a:rPr>
              <a:t>Selenium emulates human </a:t>
            </a:r>
          </a:p>
          <a:p>
            <a:r>
              <a:rPr lang="en-AU" sz="2800" b="1" i="1" dirty="0">
                <a:solidFill>
                  <a:schemeClr val="accent1"/>
                </a:solidFill>
              </a:rPr>
              <a:t>to interact with browser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273" y="4160292"/>
            <a:ext cx="525040" cy="5138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726" y="2120817"/>
            <a:ext cx="841793" cy="501676"/>
          </a:xfrm>
          <a:prstGeom prst="rect">
            <a:avLst/>
          </a:prstGeom>
        </p:spPr>
      </p:pic>
      <p:cxnSp>
        <p:nvCxnSpPr>
          <p:cNvPr id="37" name="Curved Connector 36"/>
          <p:cNvCxnSpPr>
            <a:endCxn id="14" idx="1"/>
          </p:cNvCxnSpPr>
          <p:nvPr/>
        </p:nvCxnSpPr>
        <p:spPr>
          <a:xfrm>
            <a:off x="5444040" y="2371655"/>
            <a:ext cx="1578703" cy="10483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/>
          <p:cNvCxnSpPr>
            <a:endCxn id="14" idx="1"/>
          </p:cNvCxnSpPr>
          <p:nvPr/>
        </p:nvCxnSpPr>
        <p:spPr>
          <a:xfrm flipV="1">
            <a:off x="5310428" y="3420036"/>
            <a:ext cx="1712315" cy="153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/>
          <p:cNvCxnSpPr>
            <a:stCxn id="17" idx="3"/>
            <a:endCxn id="14" idx="1"/>
          </p:cNvCxnSpPr>
          <p:nvPr/>
        </p:nvCxnSpPr>
        <p:spPr>
          <a:xfrm flipV="1">
            <a:off x="5933059" y="3420036"/>
            <a:ext cx="1089684" cy="10483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/>
          <p:cNvCxnSpPr>
            <a:stCxn id="14" idx="3"/>
            <a:endCxn id="15" idx="1"/>
          </p:cNvCxnSpPr>
          <p:nvPr/>
        </p:nvCxnSpPr>
        <p:spPr>
          <a:xfrm flipV="1">
            <a:off x="8017329" y="2569261"/>
            <a:ext cx="1188811" cy="850775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819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758F2B4-9475-B877-FBE9-1244D308D3A1}"/>
              </a:ext>
            </a:extLst>
          </p:cNvPr>
          <p:cNvSpPr/>
          <p:nvPr/>
        </p:nvSpPr>
        <p:spPr>
          <a:xfrm>
            <a:off x="1806021" y="1817404"/>
            <a:ext cx="3326622" cy="2457709"/>
          </a:xfrm>
          <a:prstGeom prst="rect">
            <a:avLst/>
          </a:prstGeom>
          <a:solidFill>
            <a:schemeClr val="bg1"/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How Selenium Works - Logically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47715" y="4396338"/>
            <a:ext cx="1385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 Page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479291" y="2859833"/>
            <a:ext cx="994586" cy="994586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448" y="2911375"/>
            <a:ext cx="925740" cy="72375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14056" y="6168641"/>
            <a:ext cx="1071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i="1" dirty="0">
                <a:solidFill>
                  <a:schemeClr val="accent1"/>
                </a:solidFill>
              </a:rPr>
              <a:t>Selenium emulates human  to interact with browser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8820320" y="3499846"/>
            <a:ext cx="837391" cy="86794"/>
            <a:chOff x="8336817" y="3368108"/>
            <a:chExt cx="837391" cy="86794"/>
          </a:xfrm>
        </p:grpSpPr>
        <p:cxnSp>
          <p:nvCxnSpPr>
            <p:cNvPr id="31" name="Straight Arrow Connector 30"/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Vertical Scroll 7"/>
          <p:cNvSpPr/>
          <p:nvPr/>
        </p:nvSpPr>
        <p:spPr>
          <a:xfrm>
            <a:off x="2178547" y="1720693"/>
            <a:ext cx="908050" cy="1002995"/>
          </a:xfrm>
          <a:prstGeom prst="verticalScrol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020" y="3041897"/>
            <a:ext cx="1292223" cy="115043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95171" y="2959132"/>
            <a:ext cx="2261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Selenium Java 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73331" y="2100330"/>
            <a:ext cx="2196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HTML Source 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87069" y="3782582"/>
            <a:ext cx="2227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Selenium WebDriver</a:t>
            </a:r>
          </a:p>
        </p:txBody>
      </p:sp>
      <p:grpSp>
        <p:nvGrpSpPr>
          <p:cNvPr id="43" name="Group 42"/>
          <p:cNvGrpSpPr/>
          <p:nvPr/>
        </p:nvGrpSpPr>
        <p:grpSpPr>
          <a:xfrm rot="19468211">
            <a:off x="6083792" y="4565466"/>
            <a:ext cx="1571878" cy="183456"/>
            <a:chOff x="8336817" y="3368108"/>
            <a:chExt cx="837391" cy="86794"/>
          </a:xfrm>
        </p:grpSpPr>
        <p:cxnSp>
          <p:nvCxnSpPr>
            <p:cNvPr id="44" name="Straight Arrow Connector 43"/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>
            <a:off x="2349277" y="2100330"/>
            <a:ext cx="91196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HTML</a:t>
            </a:r>
          </a:p>
          <a:p>
            <a:r>
              <a:rPr lang="en-AU" sz="1100" dirty="0"/>
              <a:t>CSS</a:t>
            </a:r>
          </a:p>
          <a:p>
            <a:r>
              <a:rPr lang="en-AU" sz="1100" dirty="0"/>
              <a:t>JavaScript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76813F-CE22-FF38-2F53-0E7A201C42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504" y="4606031"/>
            <a:ext cx="804195" cy="75919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E451EEC-27F1-1564-7E56-C440B27B2E17}"/>
              </a:ext>
            </a:extLst>
          </p:cNvPr>
          <p:cNvGrpSpPr/>
          <p:nvPr/>
        </p:nvGrpSpPr>
        <p:grpSpPr>
          <a:xfrm>
            <a:off x="5923942" y="3450086"/>
            <a:ext cx="837391" cy="86794"/>
            <a:chOff x="8336817" y="3368108"/>
            <a:chExt cx="837391" cy="8679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8911E22-2030-DA9F-19AE-BE7475346AFC}"/>
                </a:ext>
              </a:extLst>
            </p:cNvPr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277053D-2B2D-4F59-F646-9FFA1D16BDD5}"/>
                </a:ext>
              </a:extLst>
            </p:cNvPr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5296C8B-FF76-31C5-6FB1-0A3FA8AB756D}"/>
              </a:ext>
            </a:extLst>
          </p:cNvPr>
          <p:cNvSpPr/>
          <p:nvPr/>
        </p:nvSpPr>
        <p:spPr>
          <a:xfrm>
            <a:off x="7143159" y="3311765"/>
            <a:ext cx="432707" cy="3592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2078F98-2687-4230-9182-4196B73855CD}"/>
              </a:ext>
            </a:extLst>
          </p:cNvPr>
          <p:cNvGrpSpPr/>
          <p:nvPr/>
        </p:nvGrpSpPr>
        <p:grpSpPr>
          <a:xfrm>
            <a:off x="3564551" y="3211748"/>
            <a:ext cx="837391" cy="86794"/>
            <a:chOff x="8336817" y="3368108"/>
            <a:chExt cx="837391" cy="8679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782FC9C-FAC3-10FA-3CEB-648A7A5098ED}"/>
                </a:ext>
              </a:extLst>
            </p:cNvPr>
            <p:cNvCxnSpPr/>
            <p:nvPr/>
          </p:nvCxnSpPr>
          <p:spPr>
            <a:xfrm>
              <a:off x="8372200" y="3454902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7E809AA-24F8-DF3D-14CA-0A7F831FBEF8}"/>
                </a:ext>
              </a:extLst>
            </p:cNvPr>
            <p:cNvCxnSpPr/>
            <p:nvPr/>
          </p:nvCxnSpPr>
          <p:spPr>
            <a:xfrm>
              <a:off x="8336817" y="3368108"/>
              <a:ext cx="802008" cy="0"/>
            </a:xfrm>
            <a:prstGeom prst="straightConnector1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ounded Rectangle 27">
            <a:extLst>
              <a:ext uri="{FF2B5EF4-FFF2-40B4-BE49-F238E27FC236}">
                <a16:creationId xmlns:a16="http://schemas.microsoft.com/office/drawing/2014/main" id="{3D20E5C2-0A9E-E3C2-C36A-F19C77806FEF}"/>
              </a:ext>
            </a:extLst>
          </p:cNvPr>
          <p:cNvSpPr/>
          <p:nvPr/>
        </p:nvSpPr>
        <p:spPr>
          <a:xfrm>
            <a:off x="10385980" y="3017367"/>
            <a:ext cx="925285" cy="67951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45561A-5DBF-ABB7-C16C-E7EE929E1C12}"/>
              </a:ext>
            </a:extLst>
          </p:cNvPr>
          <p:cNvSpPr txBox="1"/>
          <p:nvPr/>
        </p:nvSpPr>
        <p:spPr>
          <a:xfrm>
            <a:off x="9429750" y="2438884"/>
            <a:ext cx="2627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http://www.google.com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186DF2-A70A-D807-963F-3DB3A3063EEA}"/>
              </a:ext>
            </a:extLst>
          </p:cNvPr>
          <p:cNvSpPr txBox="1"/>
          <p:nvPr/>
        </p:nvSpPr>
        <p:spPr>
          <a:xfrm>
            <a:off x="9930500" y="3878185"/>
            <a:ext cx="2261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Web App Server</a:t>
            </a:r>
          </a:p>
        </p:txBody>
      </p:sp>
    </p:spTree>
    <p:extLst>
      <p:ext uri="{BB962C8B-B14F-4D97-AF65-F5344CB8AC3E}">
        <p14:creationId xmlns:p14="http://schemas.microsoft.com/office/powerpoint/2010/main" val="379927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Take “human”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022" y="4932650"/>
            <a:ext cx="35929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tag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b="1" i="1" dirty="0" err="1"/>
              <a:t>Xpath</a:t>
            </a:r>
            <a:r>
              <a:rPr lang="en-AU" sz="1600" dirty="0"/>
              <a:t>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element,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attributes (Id, name, class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link 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CSS Selectors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 err="1"/>
              <a:t>etc</a:t>
            </a:r>
            <a:endParaRPr lang="en-AU" sz="1600" dirty="0"/>
          </a:p>
        </p:txBody>
      </p:sp>
      <p:sp>
        <p:nvSpPr>
          <p:cNvPr id="3" name="Rectangle 2"/>
          <p:cNvSpPr/>
          <p:nvPr/>
        </p:nvSpPr>
        <p:spPr>
          <a:xfrm>
            <a:off x="4997275" y="5257970"/>
            <a:ext cx="331585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Open/close window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Click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Summit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Select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navigate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dirty="0"/>
              <a:t>etc.</a:t>
            </a:r>
          </a:p>
        </p:txBody>
      </p:sp>
      <p:cxnSp>
        <p:nvCxnSpPr>
          <p:cNvPr id="10" name="Straight Arrow Connector 9"/>
          <p:cNvCxnSpPr>
            <a:stCxn id="47" idx="3"/>
            <a:endCxn id="16" idx="2"/>
          </p:cNvCxnSpPr>
          <p:nvPr/>
        </p:nvCxnSpPr>
        <p:spPr>
          <a:xfrm flipV="1">
            <a:off x="5823237" y="4170356"/>
            <a:ext cx="2347223" cy="29971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459861" y="5007423"/>
            <a:ext cx="1823610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 err="1">
                <a:solidFill>
                  <a:schemeClr val="bg1"/>
                </a:solidFill>
              </a:rPr>
              <a:t>WebElement</a:t>
            </a:r>
            <a:r>
              <a:rPr lang="en-AU" sz="1400" dirty="0">
                <a:solidFill>
                  <a:schemeClr val="bg1"/>
                </a:solidFill>
              </a:rPr>
              <a:t> methods</a:t>
            </a:r>
          </a:p>
        </p:txBody>
      </p:sp>
      <p:sp>
        <p:nvSpPr>
          <p:cNvPr id="13" name="Oval 12"/>
          <p:cNvSpPr/>
          <p:nvPr/>
        </p:nvSpPr>
        <p:spPr>
          <a:xfrm>
            <a:off x="9540372" y="2589404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Keyboard Action </a:t>
            </a:r>
          </a:p>
        </p:txBody>
      </p:sp>
      <p:sp>
        <p:nvSpPr>
          <p:cNvPr id="14" name="Oval 13"/>
          <p:cNvSpPr/>
          <p:nvPr/>
        </p:nvSpPr>
        <p:spPr>
          <a:xfrm>
            <a:off x="7097461" y="25765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Mouse Action </a:t>
            </a:r>
          </a:p>
        </p:txBody>
      </p:sp>
      <p:sp>
        <p:nvSpPr>
          <p:cNvPr id="15" name="Oval 14"/>
          <p:cNvSpPr/>
          <p:nvPr/>
        </p:nvSpPr>
        <p:spPr>
          <a:xfrm>
            <a:off x="6616977" y="5120766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User Gestures</a:t>
            </a:r>
          </a:p>
        </p:txBody>
      </p:sp>
      <p:sp>
        <p:nvSpPr>
          <p:cNvPr id="16" name="Oval 15"/>
          <p:cNvSpPr/>
          <p:nvPr/>
        </p:nvSpPr>
        <p:spPr>
          <a:xfrm>
            <a:off x="8170460" y="3849656"/>
            <a:ext cx="2327271" cy="641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Take actions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9224439" y="5120766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Waiting strategy</a:t>
            </a:r>
          </a:p>
        </p:txBody>
      </p:sp>
      <p:cxnSp>
        <p:nvCxnSpPr>
          <p:cNvPr id="19" name="Curved Connector 18"/>
          <p:cNvCxnSpPr>
            <a:stCxn id="16" idx="0"/>
            <a:endCxn id="13" idx="4"/>
          </p:cNvCxnSpPr>
          <p:nvPr/>
        </p:nvCxnSpPr>
        <p:spPr>
          <a:xfrm rot="5400000" flipH="1" flipV="1">
            <a:off x="9626544" y="2758476"/>
            <a:ext cx="798732" cy="138362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/>
          <p:cNvCxnSpPr>
            <a:stCxn id="16" idx="4"/>
            <a:endCxn id="15" idx="0"/>
          </p:cNvCxnSpPr>
          <p:nvPr/>
        </p:nvCxnSpPr>
        <p:spPr>
          <a:xfrm rot="5400000">
            <a:off x="8249358" y="4036028"/>
            <a:ext cx="629710" cy="15397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/>
          <p:cNvCxnSpPr>
            <a:stCxn id="16" idx="0"/>
            <a:endCxn id="14" idx="4"/>
          </p:cNvCxnSpPr>
          <p:nvPr/>
        </p:nvCxnSpPr>
        <p:spPr>
          <a:xfrm rot="16200000" flipV="1">
            <a:off x="8398668" y="2914227"/>
            <a:ext cx="811574" cy="105928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/>
          <p:cNvCxnSpPr>
            <a:stCxn id="16" idx="4"/>
            <a:endCxn id="17" idx="0"/>
          </p:cNvCxnSpPr>
          <p:nvPr/>
        </p:nvCxnSpPr>
        <p:spPr>
          <a:xfrm rot="16200000" flipH="1">
            <a:off x="9553088" y="4272063"/>
            <a:ext cx="629710" cy="106769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677764" y="2036384"/>
            <a:ext cx="286326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/>
              <a:t>Compound Locators</a:t>
            </a:r>
          </a:p>
        </p:txBody>
      </p:sp>
      <p:sp>
        <p:nvSpPr>
          <p:cNvPr id="32" name="Oval 31"/>
          <p:cNvSpPr/>
          <p:nvPr/>
        </p:nvSpPr>
        <p:spPr>
          <a:xfrm>
            <a:off x="4156873" y="2576562"/>
            <a:ext cx="2597463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/>
              <a:t>Relative Locators</a:t>
            </a:r>
          </a:p>
        </p:txBody>
      </p:sp>
      <p:cxnSp>
        <p:nvCxnSpPr>
          <p:cNvPr id="33" name="Curved Connector 32"/>
          <p:cNvCxnSpPr>
            <a:stCxn id="47" idx="0"/>
            <a:endCxn id="5" idx="2"/>
          </p:cNvCxnSpPr>
          <p:nvPr/>
        </p:nvCxnSpPr>
        <p:spPr>
          <a:xfrm rot="16200000" flipV="1">
            <a:off x="2943932" y="2356802"/>
            <a:ext cx="721461" cy="23467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47" idx="2"/>
            <a:endCxn id="12" idx="0"/>
          </p:cNvCxnSpPr>
          <p:nvPr/>
        </p:nvCxnSpPr>
        <p:spPr>
          <a:xfrm rot="5400000">
            <a:off x="3676013" y="4205398"/>
            <a:ext cx="497678" cy="110637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47" idx="0"/>
            <a:endCxn id="32" idx="4"/>
          </p:cNvCxnSpPr>
          <p:nvPr/>
        </p:nvCxnSpPr>
        <p:spPr>
          <a:xfrm rot="5400000" flipH="1" flipV="1">
            <a:off x="4540408" y="2975712"/>
            <a:ext cx="852826" cy="9775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/>
          <p:cNvCxnSpPr>
            <a:stCxn id="47" idx="0"/>
            <a:endCxn id="31" idx="4"/>
          </p:cNvCxnSpPr>
          <p:nvPr/>
        </p:nvCxnSpPr>
        <p:spPr>
          <a:xfrm rot="16200000" flipV="1">
            <a:off x="3097215" y="2510085"/>
            <a:ext cx="1393004" cy="136864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132839" y="3890908"/>
            <a:ext cx="2690398" cy="6188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Locate the right place</a:t>
            </a:r>
          </a:p>
        </p:txBody>
      </p:sp>
      <p:sp>
        <p:nvSpPr>
          <p:cNvPr id="48" name="Vertical Scroll 47"/>
          <p:cNvSpPr/>
          <p:nvPr/>
        </p:nvSpPr>
        <p:spPr>
          <a:xfrm>
            <a:off x="283448" y="3766574"/>
            <a:ext cx="908050" cy="831850"/>
          </a:xfrm>
          <a:prstGeom prst="verticalScroll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dirty="0"/>
              <a:t>POM</a:t>
            </a:r>
          </a:p>
        </p:txBody>
      </p:sp>
      <p:cxnSp>
        <p:nvCxnSpPr>
          <p:cNvPr id="49" name="Straight Arrow Connector 48"/>
          <p:cNvCxnSpPr>
            <a:stCxn id="48" idx="3"/>
            <a:endCxn id="47" idx="1"/>
          </p:cNvCxnSpPr>
          <p:nvPr/>
        </p:nvCxnSpPr>
        <p:spPr>
          <a:xfrm>
            <a:off x="1087517" y="4182499"/>
            <a:ext cx="2045322" cy="17828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lowchart: Connector 3"/>
          <p:cNvSpPr/>
          <p:nvPr/>
        </p:nvSpPr>
        <p:spPr>
          <a:xfrm>
            <a:off x="9645" y="3556087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1</a:t>
            </a:r>
          </a:p>
        </p:txBody>
      </p:sp>
      <p:sp>
        <p:nvSpPr>
          <p:cNvPr id="27" name="Flowchart: Connector 26"/>
          <p:cNvSpPr/>
          <p:nvPr/>
        </p:nvSpPr>
        <p:spPr>
          <a:xfrm>
            <a:off x="2078982" y="3604347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2</a:t>
            </a:r>
          </a:p>
        </p:txBody>
      </p:sp>
      <p:sp>
        <p:nvSpPr>
          <p:cNvPr id="28" name="Flowchart: Connector 27"/>
          <p:cNvSpPr/>
          <p:nvPr/>
        </p:nvSpPr>
        <p:spPr>
          <a:xfrm>
            <a:off x="7425822" y="3620471"/>
            <a:ext cx="525542" cy="527861"/>
          </a:xfrm>
          <a:prstGeom prst="flowChartConnec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/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128" y="2800115"/>
            <a:ext cx="21323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dirty="0">
                <a:solidFill>
                  <a:schemeClr val="accent1"/>
                </a:solidFill>
              </a:rPr>
              <a:t>Location strategy</a:t>
            </a:r>
          </a:p>
        </p:txBody>
      </p:sp>
    </p:spTree>
    <p:extLst>
      <p:ext uri="{BB962C8B-B14F-4D97-AF65-F5344CB8AC3E}">
        <p14:creationId xmlns:p14="http://schemas.microsoft.com/office/powerpoint/2010/main" val="2644837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osw 030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921" y="1486232"/>
            <a:ext cx="3810000" cy="40204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920" y="624111"/>
            <a:ext cx="8972549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Understand Web Page Object Model (POM)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57550" y="1569480"/>
            <a:ext cx="326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HTML + CSS + JavaScript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577" y="2317603"/>
            <a:ext cx="100828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/>
              <a:t>&lt;HTML&gt;</a:t>
            </a:r>
          </a:p>
          <a:p>
            <a:r>
              <a:rPr lang="en-AU" sz="1400" dirty="0"/>
              <a:t>	&lt;HEAD&gt;</a:t>
            </a:r>
          </a:p>
          <a:p>
            <a:r>
              <a:rPr lang="en-AU" sz="1400" dirty="0"/>
              <a:t>		&lt;TITLE&gt;Your Title Here&lt;/TITLE&gt;</a:t>
            </a:r>
          </a:p>
          <a:p>
            <a:r>
              <a:rPr lang="en-AU" sz="1400" dirty="0"/>
              <a:t>	&lt;/HEAD&gt;</a:t>
            </a:r>
          </a:p>
          <a:p>
            <a:r>
              <a:rPr lang="en-AU" sz="1400" dirty="0"/>
              <a:t>	&lt;BODY BGCOLOR="FFFFFF"&gt;</a:t>
            </a:r>
          </a:p>
          <a:p>
            <a:r>
              <a:rPr lang="en-AU" sz="1400" dirty="0"/>
              <a:t>		&lt;CENTER&gt;&lt;IMG SRC="clouds.jpg" ALIGN="BOTTOM"&gt; &lt;/CENTER&gt;</a:t>
            </a:r>
          </a:p>
          <a:p>
            <a:r>
              <a:rPr lang="en-AU" sz="1400" dirty="0"/>
              <a:t>		&lt;HR&gt;</a:t>
            </a:r>
          </a:p>
          <a:p>
            <a:r>
              <a:rPr lang="en-AU" sz="1400" dirty="0"/>
              <a:t>			&lt;a </a:t>
            </a:r>
            <a:r>
              <a:rPr lang="en-AU" sz="1400" dirty="0" err="1"/>
              <a:t>href</a:t>
            </a:r>
            <a:r>
              <a:rPr lang="en-AU" sz="1400" dirty="0"/>
              <a:t>="http://somegreatsite.com"&gt;Link Name&lt;/a&gt;</a:t>
            </a:r>
          </a:p>
          <a:p>
            <a:r>
              <a:rPr lang="en-AU" sz="1400" dirty="0"/>
              <a:t>			is a link to another nifty site</a:t>
            </a:r>
          </a:p>
          <a:p>
            <a:r>
              <a:rPr lang="en-AU" sz="1400" dirty="0"/>
              <a:t>			&lt;H1&gt;This is a Header&lt;/H1&gt;</a:t>
            </a:r>
          </a:p>
          <a:p>
            <a:r>
              <a:rPr lang="en-AU" sz="1400" dirty="0"/>
              <a:t>			&lt;H2&gt;This is a Medium Header&lt;/H2&gt;</a:t>
            </a:r>
          </a:p>
          <a:p>
            <a:r>
              <a:rPr lang="en-AU" sz="1400" dirty="0"/>
              <a:t>			Send me mail at &lt;a </a:t>
            </a:r>
            <a:r>
              <a:rPr lang="en-AU" sz="1400" dirty="0" err="1"/>
              <a:t>href</a:t>
            </a:r>
            <a:r>
              <a:rPr lang="en-AU" sz="1400" dirty="0"/>
              <a:t>="mailto:support@yourcompany.com"&gt;support@company.com&lt;/a&gt;.</a:t>
            </a:r>
          </a:p>
          <a:p>
            <a:r>
              <a:rPr lang="en-AU" sz="1400" dirty="0"/>
              <a:t>			&lt;P&gt; This is a new paragraph!</a:t>
            </a:r>
          </a:p>
          <a:p>
            <a:r>
              <a:rPr lang="en-AU" sz="1400" dirty="0"/>
              <a:t>			&lt;P&gt; &lt;B&gt;This is a new paragraph!&lt;/B&gt;</a:t>
            </a:r>
          </a:p>
          <a:p>
            <a:r>
              <a:rPr lang="en-AU" sz="1400" dirty="0"/>
              <a:t>			&lt;BR&gt; &lt;B&gt;&lt;I&gt;This is a new sentence without a paragraph break, in bold italics.&lt;/I&gt;&lt;/B&gt;</a:t>
            </a:r>
          </a:p>
          <a:p>
            <a:r>
              <a:rPr lang="en-AU" sz="1400" dirty="0"/>
              <a:t>		&lt;HR&gt;</a:t>
            </a:r>
          </a:p>
          <a:p>
            <a:r>
              <a:rPr lang="en-AU" sz="1400" dirty="0"/>
              <a:t>    &lt;/BODY&gt;</a:t>
            </a:r>
          </a:p>
          <a:p>
            <a:r>
              <a:rPr lang="en-AU" sz="1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243758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Location Strategy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250570"/>
              </p:ext>
            </p:extLst>
          </p:nvPr>
        </p:nvGraphicFramePr>
        <p:xfrm>
          <a:off x="1404259" y="1396092"/>
          <a:ext cx="9837964" cy="4325758"/>
        </p:xfrm>
        <a:graphic>
          <a:graphicData uri="http://schemas.openxmlformats.org/drawingml/2006/table">
            <a:tbl>
              <a:tblPr/>
              <a:tblGrid>
                <a:gridCol w="1690006">
                  <a:extLst>
                    <a:ext uri="{9D8B030D-6E8A-4147-A177-3AD203B41FA5}">
                      <a16:colId xmlns:a16="http://schemas.microsoft.com/office/drawing/2014/main" val="3162004415"/>
                    </a:ext>
                  </a:extLst>
                </a:gridCol>
                <a:gridCol w="4272786">
                  <a:extLst>
                    <a:ext uri="{9D8B030D-6E8A-4147-A177-3AD203B41FA5}">
                      <a16:colId xmlns:a16="http://schemas.microsoft.com/office/drawing/2014/main" val="1033602467"/>
                    </a:ext>
                  </a:extLst>
                </a:gridCol>
                <a:gridCol w="3875172">
                  <a:extLst>
                    <a:ext uri="{9D8B030D-6E8A-4147-A177-3AD203B41FA5}">
                      <a16:colId xmlns:a16="http://schemas.microsoft.com/office/drawing/2014/main" val="1173028185"/>
                    </a:ext>
                  </a:extLst>
                </a:gridCol>
              </a:tblGrid>
              <a:tr h="195279"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Method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Syntax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AU" sz="1800" b="1" dirty="0">
                          <a:effectLst/>
                        </a:rPr>
                        <a:t>Description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99069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effectLst/>
                        </a:rPr>
                        <a:t>By ID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(By.id (&lt;element ID&gt;))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ID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086320"/>
                  </a:ext>
                </a:extLst>
              </a:tr>
              <a:tr h="600860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effectLst/>
                        </a:rPr>
                        <a:t>By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(By.name (&lt;element name&gt;))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an element using the Name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37578"/>
                  </a:ext>
                </a:extLst>
              </a:tr>
              <a:tr h="600860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class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By.className</a:t>
                      </a:r>
                      <a:r>
                        <a:rPr lang="en-AU" sz="1200" dirty="0">
                          <a:effectLst/>
                        </a:rPr>
                        <a:t> (&lt;element class&gt;))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Class attribute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38901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tag name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By.tagName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htmltagname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an element using the HTML tag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1567047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link text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By.linkText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linktext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>
                          <a:effectLst/>
                        </a:rPr>
                        <a:t>Locates a link using link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847897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t"/>
                      <a:r>
                        <a:rPr lang="en-AU" sz="1200" b="1">
                          <a:effectLst/>
                        </a:rPr>
                        <a:t>By partial link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 dirty="0" err="1">
                          <a:effectLst/>
                        </a:rPr>
                        <a:t>driver.findElement</a:t>
                      </a:r>
                      <a:r>
                        <a:rPr lang="en-AU" sz="1200" dirty="0">
                          <a:effectLst/>
                        </a:rPr>
                        <a:t>(</a:t>
                      </a:r>
                      <a:r>
                        <a:rPr lang="en-AU" sz="1200" dirty="0" err="1">
                          <a:effectLst/>
                        </a:rPr>
                        <a:t>By.partialLinkText</a:t>
                      </a:r>
                      <a:r>
                        <a:rPr lang="en-AU" sz="1200" dirty="0">
                          <a:effectLst/>
                        </a:rPr>
                        <a:t> (&lt;</a:t>
                      </a:r>
                      <a:r>
                        <a:rPr lang="en-AU" sz="1200" dirty="0" err="1">
                          <a:effectLst/>
                        </a:rPr>
                        <a:t>linktext</a:t>
                      </a:r>
                      <a:r>
                        <a:rPr lang="en-AU" sz="1200" dirty="0">
                          <a:effectLst/>
                        </a:rPr>
                        <a:t>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 link using the link's partial text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14228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>
                          <a:effectLst/>
                        </a:rPr>
                        <a:t>By CSS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>
                          <a:effectLst/>
                        </a:rPr>
                        <a:t>driver.findElement(By.cssSelector (&lt;css selector&gt;))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the CSS selector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574308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pPr fontAlgn="ctr"/>
                      <a:r>
                        <a:rPr lang="en-AU" sz="1200" b="1" dirty="0">
                          <a:solidFill>
                            <a:srgbClr val="00B0F0"/>
                          </a:solidFill>
                          <a:effectLst/>
                        </a:rPr>
                        <a:t>By XPath</a:t>
                      </a:r>
                    </a:p>
                  </a:txBody>
                  <a:tcPr marL="27858" marR="27858" marT="27858" marB="2785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AU" sz="1200">
                          <a:effectLst/>
                        </a:rPr>
                        <a:t>driver.findElement(By.xpath (&lt;xpath&gt;))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</a:rPr>
                        <a:t>Locates an element using XPath query</a:t>
                      </a:r>
                    </a:p>
                  </a:txBody>
                  <a:tcPr marL="27858" marR="27858" marT="27858" marB="27858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89971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04259" y="5926506"/>
            <a:ext cx="104965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dirty="0">
                <a:solidFill>
                  <a:srgbClr val="C00000"/>
                </a:solidFill>
              </a:rPr>
              <a:t>Chrome Developer Tool</a:t>
            </a:r>
          </a:p>
          <a:p>
            <a:r>
              <a:rPr lang="en-AU" sz="1400" dirty="0">
                <a:hlinkClick r:id="rId2"/>
              </a:rPr>
              <a:t>https://yizeng.me/2014/03/23/evaluate-and-validate-xpath-css-selectors-in-chrome-developer-tools/</a:t>
            </a:r>
            <a:endParaRPr lang="en-AU" sz="1400" dirty="0"/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1939562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6" y="624111"/>
            <a:ext cx="721302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XPath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58" y="2198104"/>
            <a:ext cx="8042746" cy="294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63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2686" y="692124"/>
            <a:ext cx="8609050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Common Selenium Action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77934" y="1888671"/>
            <a:ext cx="8915400" cy="20056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6" name="Oval 5"/>
          <p:cNvSpPr/>
          <p:nvPr/>
        </p:nvSpPr>
        <p:spPr>
          <a:xfrm>
            <a:off x="835334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Mouse Action </a:t>
            </a:r>
          </a:p>
        </p:txBody>
      </p:sp>
      <p:sp>
        <p:nvSpPr>
          <p:cNvPr id="7" name="Oval 6"/>
          <p:cNvSpPr/>
          <p:nvPr/>
        </p:nvSpPr>
        <p:spPr>
          <a:xfrm>
            <a:off x="3386910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Keyboard Action </a:t>
            </a:r>
          </a:p>
        </p:txBody>
      </p:sp>
      <p:sp>
        <p:nvSpPr>
          <p:cNvPr id="8" name="Oval 7"/>
          <p:cNvSpPr/>
          <p:nvPr/>
        </p:nvSpPr>
        <p:spPr>
          <a:xfrm>
            <a:off x="5966970" y="2525762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User Gestures</a:t>
            </a:r>
          </a:p>
        </p:txBody>
      </p:sp>
      <p:sp>
        <p:nvSpPr>
          <p:cNvPr id="9" name="Oval 8"/>
          <p:cNvSpPr/>
          <p:nvPr/>
        </p:nvSpPr>
        <p:spPr>
          <a:xfrm>
            <a:off x="8547030" y="2508604"/>
            <a:ext cx="2354704" cy="46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</a:rPr>
              <a:t>Waiting strategy</a:t>
            </a:r>
          </a:p>
        </p:txBody>
      </p:sp>
    </p:spTree>
    <p:extLst>
      <p:ext uri="{BB962C8B-B14F-4D97-AF65-F5344CB8AC3E}">
        <p14:creationId xmlns:p14="http://schemas.microsoft.com/office/powerpoint/2010/main" val="661429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2686" y="692124"/>
            <a:ext cx="8609050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Common Selenium Action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77934" y="1888671"/>
            <a:ext cx="8915400" cy="200569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008570"/>
              </p:ext>
            </p:extLst>
          </p:nvPr>
        </p:nvGraphicFramePr>
        <p:xfrm>
          <a:off x="726621" y="1888671"/>
          <a:ext cx="1084217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4165">
                  <a:extLst>
                    <a:ext uri="{9D8B030D-6E8A-4147-A177-3AD203B41FA5}">
                      <a16:colId xmlns:a16="http://schemas.microsoft.com/office/drawing/2014/main" val="4084520574"/>
                    </a:ext>
                  </a:extLst>
                </a:gridCol>
                <a:gridCol w="6028007">
                  <a:extLst>
                    <a:ext uri="{9D8B030D-6E8A-4147-A177-3AD203B41FA5}">
                      <a16:colId xmlns:a16="http://schemas.microsoft.com/office/drawing/2014/main" val="1968787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733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driver.get</a:t>
                      </a:r>
                      <a:r>
                        <a:rPr lang="en-US" sz="1400" b="1" dirty="0"/>
                        <a:t>("URL")</a:t>
                      </a:r>
                      <a:r>
                        <a:rPr lang="en-US" sz="1400" dirty="0"/>
                        <a:t> 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To navigate to an application.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982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element.sendKeys</a:t>
                      </a:r>
                      <a:r>
                        <a:rPr lang="en-US" sz="1400" b="1" dirty="0"/>
                        <a:t>("</a:t>
                      </a:r>
                      <a:r>
                        <a:rPr lang="en-US" sz="1400" b="1" dirty="0" err="1"/>
                        <a:t>inputtext</a:t>
                      </a:r>
                      <a:r>
                        <a:rPr lang="en-US" sz="1400" b="1" dirty="0"/>
                        <a:t>")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Enter some text into an input box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37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element.clear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Clear the contents from the input box.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936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select.deselectAll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Deselect all OPTIONs from the first SELECT on the page.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485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select.selectByVisibleText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("some text")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 the OPTION with the input specified by the user.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272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driver.switchTo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().window("</a:t>
                      </a:r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windowName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")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 the focus from one window to another.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32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driver.switchTo</a:t>
                      </a:r>
                      <a:r>
                        <a:rPr lang="en-A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().frame("</a:t>
                      </a:r>
                      <a:r>
                        <a:rPr lang="en-AU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frameName</a:t>
                      </a:r>
                      <a:r>
                        <a:rPr lang="en-A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")</a:t>
                      </a:r>
                      <a:endParaRPr lang="en-AU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Swing from frame to frame.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632291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077933" y="5204057"/>
            <a:ext cx="91071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/>
              <a:t>https://www.tutorialspoint.com/selenium/selenium_webdriver.htm</a:t>
            </a:r>
          </a:p>
        </p:txBody>
      </p:sp>
    </p:spTree>
    <p:extLst>
      <p:ext uri="{BB962C8B-B14F-4D97-AF65-F5344CB8AC3E}">
        <p14:creationId xmlns:p14="http://schemas.microsoft.com/office/powerpoint/2010/main" val="1152462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465" y="721538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Interaction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79865" y="1641021"/>
            <a:ext cx="74703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2"/>
              </a:rPr>
              <a:t>Text Box Interaction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3"/>
              </a:rPr>
              <a:t>Radio Button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4"/>
              </a:rPr>
              <a:t>Check Box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5"/>
              </a:rPr>
              <a:t>Drop Down Item Selection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6"/>
              </a:rPr>
              <a:t>Synchronization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7"/>
              </a:rPr>
              <a:t>Drag &amp; Drop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8"/>
              </a:rPr>
              <a:t>Keyboard Actions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  <a:hlinkClick r:id="rId9"/>
              </a:rPr>
              <a:t>Mouse Actions</a:t>
            </a:r>
            <a:endParaRPr lang="en-US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10"/>
              </a:rPr>
              <a:t>Multi Select</a:t>
            </a:r>
            <a:endParaRPr lang="en-US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hlinkClick r:id="rId11"/>
              </a:rPr>
              <a:t>Find All Links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91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465" y="721538"/>
            <a:ext cx="7895876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Java Implementation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84465" y="1730828"/>
            <a:ext cx="747032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1. Understand Web page source file: Page Object Model (POM)</a:t>
            </a:r>
          </a:p>
          <a:p>
            <a:endParaRPr lang="en-AU" b="1" dirty="0">
              <a:solidFill>
                <a:srgbClr val="002060"/>
              </a:solidFill>
            </a:endParaRPr>
          </a:p>
          <a:p>
            <a:r>
              <a:rPr lang="en-AU" b="1" dirty="0">
                <a:solidFill>
                  <a:srgbClr val="002060"/>
                </a:solidFill>
              </a:rPr>
              <a:t>2. Locate POM object: XPath, Id, name, etc.</a:t>
            </a:r>
          </a:p>
          <a:p>
            <a:r>
              <a:rPr lang="en-AU" sz="1400" u="sng" dirty="0">
                <a:hlinkClick r:id="rId2"/>
              </a:rPr>
              <a:t> https://www.guru99.com/xpath-selenium.html</a:t>
            </a:r>
            <a:endParaRPr lang="en-AU" sz="1400" u="sng" dirty="0"/>
          </a:p>
          <a:p>
            <a:endParaRPr lang="en-AU" b="1" dirty="0">
              <a:solidFill>
                <a:srgbClr val="002060"/>
              </a:solidFill>
            </a:endParaRPr>
          </a:p>
          <a:p>
            <a:r>
              <a:rPr lang="en-AU" b="1" dirty="0">
                <a:solidFill>
                  <a:srgbClr val="002060"/>
                </a:solidFill>
              </a:rPr>
              <a:t>3. Take action against selected element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0084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599" y="479491"/>
            <a:ext cx="4673659" cy="5940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en-AU" b="1" i="1" dirty="0">
                <a:solidFill>
                  <a:srgbClr val="002060"/>
                </a:solidFill>
              </a:rPr>
              <a:t>Selenium Java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r>
              <a:rPr lang="en-AU" b="1" dirty="0">
                <a:solidFill>
                  <a:srgbClr val="002060"/>
                </a:solidFill>
              </a:rPr>
              <a:t>Part 1 - Setup</a:t>
            </a: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1026" name="Picture 3" descr="image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729" y="2465616"/>
            <a:ext cx="10229850" cy="3339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3468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1045" y="816469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Part 2 – execute human actions</a:t>
            </a: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2050" name="Picture 4" descr="image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045" y="1853680"/>
            <a:ext cx="9446077" cy="3577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9354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4769" y="746031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Part 3 – close window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980" y="2346611"/>
            <a:ext cx="7839075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58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377" y="602867"/>
            <a:ext cx="699258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Execute – </a:t>
            </a:r>
            <a:r>
              <a:rPr lang="en-AU" b="1" dirty="0">
                <a:solidFill>
                  <a:schemeClr val="accent2"/>
                </a:solidFill>
              </a:rPr>
              <a:t>Junit framework</a:t>
            </a:r>
            <a:endParaRPr lang="en-AU" sz="2200" b="1" dirty="0">
              <a:solidFill>
                <a:schemeClr val="accent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23412" y="2406869"/>
            <a:ext cx="256771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tx1"/>
                </a:solidFill>
              </a:rPr>
              <a:t>Junit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3411" y="3148542"/>
            <a:ext cx="2567710" cy="332509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Junit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3410" y="3824645"/>
            <a:ext cx="3463639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>
                <a:solidFill>
                  <a:schemeClr val="tx1"/>
                </a:solidFill>
              </a:rPr>
              <a:t>Junit 5 with Selenium-Jupiter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3411" y="4500748"/>
            <a:ext cx="2567710" cy="3325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 err="1">
                <a:solidFill>
                  <a:schemeClr val="tx1"/>
                </a:solidFill>
              </a:rPr>
              <a:t>TestNG</a:t>
            </a:r>
            <a:endParaRPr lang="en-AU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81447" y="2991530"/>
            <a:ext cx="179185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Run as </a:t>
            </a:r>
          </a:p>
          <a:p>
            <a:r>
              <a:rPr lang="en-A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Junit Test Cases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cxnSp>
        <p:nvCxnSpPr>
          <p:cNvPr id="4" name="Curved Connector 3"/>
          <p:cNvCxnSpPr>
            <a:stCxn id="9" idx="3"/>
            <a:endCxn id="5" idx="1"/>
          </p:cNvCxnSpPr>
          <p:nvPr/>
        </p:nvCxnSpPr>
        <p:spPr>
          <a:xfrm flipV="1">
            <a:off x="3673301" y="2573124"/>
            <a:ext cx="1450111" cy="115707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9" idx="3"/>
            <a:endCxn id="6" idx="1"/>
          </p:cNvCxnSpPr>
          <p:nvPr/>
        </p:nvCxnSpPr>
        <p:spPr>
          <a:xfrm flipV="1">
            <a:off x="3673301" y="3314797"/>
            <a:ext cx="1450110" cy="41539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>
            <a:stCxn id="9" idx="3"/>
            <a:endCxn id="7" idx="1"/>
          </p:cNvCxnSpPr>
          <p:nvPr/>
        </p:nvCxnSpPr>
        <p:spPr>
          <a:xfrm>
            <a:off x="3673301" y="3730194"/>
            <a:ext cx="1450109" cy="26070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9" idx="3"/>
            <a:endCxn id="8" idx="1"/>
          </p:cNvCxnSpPr>
          <p:nvPr/>
        </p:nvCxnSpPr>
        <p:spPr>
          <a:xfrm>
            <a:off x="3673301" y="3730194"/>
            <a:ext cx="1450110" cy="93680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xplosion 1 11"/>
          <p:cNvSpPr/>
          <p:nvPr/>
        </p:nvSpPr>
        <p:spPr>
          <a:xfrm>
            <a:off x="7383284" y="2939140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2078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249" y="381195"/>
            <a:ext cx="153693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Junit 5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" name="Picture 4" descr="hosw 020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909" y="556685"/>
            <a:ext cx="5948218" cy="6022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hosw 020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2328" y="969685"/>
            <a:ext cx="2973733" cy="5006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3554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3367668" y="4606170"/>
            <a:ext cx="4906537" cy="2251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3573473" y="5195646"/>
            <a:ext cx="4434550" cy="15774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44EA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7368" y="789392"/>
            <a:ext cx="7134580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WebDriver Deployment 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83927" y="5225207"/>
            <a:ext cx="19143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Selenium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1596" y="4750082"/>
            <a:ext cx="20168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44EA8"/>
                </a:solidFill>
                <a:latin typeface="+mj-lt"/>
                <a:ea typeface="+mj-ea"/>
                <a:cs typeface="+mj-cs"/>
              </a:rPr>
              <a:t>Local browsers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3927" y="5748799"/>
            <a:ext cx="20409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Cloud 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3927" y="6265245"/>
            <a:ext cx="37240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Containerized Selenium Grid</a:t>
            </a:r>
          </a:p>
        </p:txBody>
      </p:sp>
      <p:sp>
        <p:nvSpPr>
          <p:cNvPr id="7" name="Flowchart: Connector 6"/>
          <p:cNvSpPr/>
          <p:nvPr/>
        </p:nvSpPr>
        <p:spPr>
          <a:xfrm>
            <a:off x="3739260" y="4755998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1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3739259" y="5241912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2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3751035" y="5734684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3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739258" y="6227456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4</a:t>
            </a:r>
          </a:p>
        </p:txBody>
      </p:sp>
      <p:sp>
        <p:nvSpPr>
          <p:cNvPr id="11" name="Explosion 1 10"/>
          <p:cNvSpPr/>
          <p:nvPr/>
        </p:nvSpPr>
        <p:spPr>
          <a:xfrm>
            <a:off x="6338495" y="5151329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Line Callout 1 (Accent Bar) 12"/>
          <p:cNvSpPr/>
          <p:nvPr/>
        </p:nvSpPr>
        <p:spPr>
          <a:xfrm>
            <a:off x="9236811" y="5150192"/>
            <a:ext cx="2162231" cy="457200"/>
          </a:xfrm>
          <a:prstGeom prst="accentCallout1">
            <a:avLst>
              <a:gd name="adj1" fmla="val 48018"/>
              <a:gd name="adj2" fmla="val -8848"/>
              <a:gd name="adj3" fmla="val 149085"/>
              <a:gd name="adj4" fmla="val -6773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chemeClr val="tx1"/>
                </a:solidFill>
              </a:rPr>
              <a:t>Remote browsers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646" y="2579347"/>
            <a:ext cx="32784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Different Browser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Different 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Different OS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000" b="1" dirty="0">
                <a:solidFill>
                  <a:srgbClr val="002060"/>
                </a:solidFill>
              </a:rPr>
              <a:t>Parallel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669" y="2038719"/>
            <a:ext cx="2573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In real life: </a:t>
            </a:r>
          </a:p>
        </p:txBody>
      </p:sp>
      <p:sp>
        <p:nvSpPr>
          <p:cNvPr id="16" name="Chevron 15"/>
          <p:cNvSpPr/>
          <p:nvPr/>
        </p:nvSpPr>
        <p:spPr>
          <a:xfrm>
            <a:off x="4280911" y="2601136"/>
            <a:ext cx="804732" cy="88998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" name="Line Callout 1 (Accent Bar) 16"/>
          <p:cNvSpPr/>
          <p:nvPr/>
        </p:nvSpPr>
        <p:spPr>
          <a:xfrm>
            <a:off x="448636" y="5138110"/>
            <a:ext cx="2162231" cy="457200"/>
          </a:xfrm>
          <a:prstGeom prst="accentCallout1">
            <a:avLst>
              <a:gd name="adj1" fmla="val 43140"/>
              <a:gd name="adj2" fmla="val 96876"/>
              <a:gd name="adj3" fmla="val -26524"/>
              <a:gd name="adj4" fmla="val 14629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chemeClr val="tx1"/>
                </a:solidFill>
              </a:rPr>
              <a:t>Local browsers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5645" y="2637326"/>
            <a:ext cx="35911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2060"/>
                </a:solidFill>
              </a:rPr>
              <a:t>A fleet of different browsers </a:t>
            </a:r>
          </a:p>
          <a:p>
            <a:r>
              <a:rPr lang="en-AU" sz="2000" b="1" dirty="0">
                <a:solidFill>
                  <a:srgbClr val="002060"/>
                </a:solidFill>
              </a:rPr>
              <a:t>with different versions </a:t>
            </a:r>
          </a:p>
          <a:p>
            <a:r>
              <a:rPr lang="en-AU" sz="2000" b="1" dirty="0">
                <a:solidFill>
                  <a:srgbClr val="002060"/>
                </a:solidFill>
              </a:rPr>
              <a:t>deployed in different 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5645" y="2038719"/>
            <a:ext cx="4948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A remote environment: </a:t>
            </a:r>
          </a:p>
        </p:txBody>
      </p:sp>
      <p:sp>
        <p:nvSpPr>
          <p:cNvPr id="20" name="Chevron 19"/>
          <p:cNvSpPr/>
          <p:nvPr/>
        </p:nvSpPr>
        <p:spPr>
          <a:xfrm rot="5400000">
            <a:off x="7038862" y="3759910"/>
            <a:ext cx="804732" cy="88998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665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Using local browsers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2" name="Picture 51" descr="hosw 060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537" y="2318220"/>
            <a:ext cx="6457570" cy="374804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785090" y="2410692"/>
            <a:ext cx="372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Simple setup</a:t>
            </a:r>
          </a:p>
        </p:txBody>
      </p:sp>
    </p:spTree>
    <p:extLst>
      <p:ext uri="{BB962C8B-B14F-4D97-AF65-F5344CB8AC3E}">
        <p14:creationId xmlns:p14="http://schemas.microsoft.com/office/powerpoint/2010/main" val="2304226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Using remote browser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51" name="Picture 50" descr="hosw 060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211" y="2113100"/>
            <a:ext cx="7167418" cy="37776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858982" y="2299854"/>
            <a:ext cx="3722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Cross browser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Parallel testing</a:t>
            </a:r>
          </a:p>
        </p:txBody>
      </p:sp>
    </p:spTree>
    <p:extLst>
      <p:ext uri="{BB962C8B-B14F-4D97-AF65-F5344CB8AC3E}">
        <p14:creationId xmlns:p14="http://schemas.microsoft.com/office/powerpoint/2010/main" val="1897699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ounded Rectangle 50"/>
          <p:cNvSpPr/>
          <p:nvPr/>
        </p:nvSpPr>
        <p:spPr>
          <a:xfrm>
            <a:off x="7657637" y="2230631"/>
            <a:ext cx="2969723" cy="3011413"/>
          </a:xfrm>
          <a:prstGeom prst="roundRect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" name="Rounded Rectangle 52"/>
          <p:cNvSpPr/>
          <p:nvPr/>
        </p:nvSpPr>
        <p:spPr>
          <a:xfrm>
            <a:off x="9688390" y="2844212"/>
            <a:ext cx="604156" cy="695972"/>
          </a:xfrm>
          <a:prstGeom prst="roundRect">
            <a:avLst/>
          </a:prstGeom>
          <a:solidFill>
            <a:srgbClr val="00206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9" name="Rounded Rectangle 48"/>
          <p:cNvSpPr/>
          <p:nvPr/>
        </p:nvSpPr>
        <p:spPr>
          <a:xfrm>
            <a:off x="4380606" y="2230632"/>
            <a:ext cx="2404783" cy="3011413"/>
          </a:xfrm>
          <a:prstGeom prst="roundRect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ounded Rectangle 3"/>
          <p:cNvSpPr/>
          <p:nvPr/>
        </p:nvSpPr>
        <p:spPr>
          <a:xfrm>
            <a:off x="1112036" y="2230633"/>
            <a:ext cx="1808861" cy="3011413"/>
          </a:xfrm>
          <a:prstGeom prst="roundRect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ounded Rectangle 27"/>
          <p:cNvSpPr/>
          <p:nvPr/>
        </p:nvSpPr>
        <p:spPr>
          <a:xfrm>
            <a:off x="5187126" y="3424867"/>
            <a:ext cx="735502" cy="491041"/>
          </a:xfrm>
          <a:prstGeom prst="roundRect">
            <a:avLst/>
          </a:prstGeom>
          <a:solidFill>
            <a:srgbClr val="00206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30" y="629900"/>
            <a:ext cx="9184115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Grid – </a:t>
            </a:r>
            <a:r>
              <a:rPr lang="en-AU" b="1" dirty="0">
                <a:solidFill>
                  <a:schemeClr val="accent2"/>
                </a:solidFill>
              </a:rPr>
              <a:t>Remote Browser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356861" y="4260906"/>
            <a:ext cx="361020" cy="42866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820740" y="2809234"/>
            <a:ext cx="548992" cy="54899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325" y="3564155"/>
            <a:ext cx="620514" cy="62051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840" y="4012652"/>
            <a:ext cx="1352181" cy="106071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53679" y="2435204"/>
            <a:ext cx="1170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>
                <a:solidFill>
                  <a:srgbClr val="00B0F0"/>
                </a:solidFill>
              </a:rPr>
              <a:t>Test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1948" y="3573394"/>
            <a:ext cx="604156" cy="628675"/>
          </a:xfrm>
          <a:prstGeom prst="roundRect">
            <a:avLst/>
          </a:prstGeom>
          <a:solidFill>
            <a:srgbClr val="00206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/>
          <p:cNvSpPr txBox="1"/>
          <p:nvPr/>
        </p:nvSpPr>
        <p:spPr>
          <a:xfrm>
            <a:off x="8255704" y="2521604"/>
            <a:ext cx="2087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Web</a:t>
            </a:r>
            <a:r>
              <a:rPr lang="en-AU" b="1" dirty="0"/>
              <a:t> </a:t>
            </a:r>
            <a:r>
              <a:rPr lang="en-AU" b="1" dirty="0">
                <a:solidFill>
                  <a:srgbClr val="00B0F0"/>
                </a:solidFill>
              </a:rPr>
              <a:t>Application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69983" y="4286233"/>
            <a:ext cx="318444" cy="403334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stCxn id="50" idx="3"/>
          </p:cNvCxnSpPr>
          <p:nvPr/>
        </p:nvCxnSpPr>
        <p:spPr>
          <a:xfrm flipV="1">
            <a:off x="3192159" y="3615203"/>
            <a:ext cx="1732512" cy="16763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74068" y="3295209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b="1" dirty="0">
                <a:solidFill>
                  <a:srgbClr val="002060"/>
                </a:solidFill>
              </a:rPr>
              <a:t>JSON/Http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8410896" y="3792769"/>
            <a:ext cx="1012371" cy="8164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04606" y="4703921"/>
            <a:ext cx="978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Chrome </a:t>
            </a:r>
          </a:p>
          <a:p>
            <a:r>
              <a:rPr lang="en-AU" sz="1200" dirty="0"/>
              <a:t>WebDriver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4195" y="2573855"/>
            <a:ext cx="187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B0F0"/>
                </a:solidFill>
              </a:rPr>
              <a:t>Selenium Grid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24075" y="4703920"/>
            <a:ext cx="1052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Safari </a:t>
            </a:r>
          </a:p>
          <a:p>
            <a:r>
              <a:rPr lang="en-AU" sz="1200" dirty="0"/>
              <a:t>WebDriver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740" y="4371577"/>
            <a:ext cx="579472" cy="57947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172905" y="4268526"/>
            <a:ext cx="325885" cy="42104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/>
          <p:cNvSpPr txBox="1"/>
          <p:nvPr/>
        </p:nvSpPr>
        <p:spPr>
          <a:xfrm>
            <a:off x="6115615" y="4711540"/>
            <a:ext cx="1052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Firefox</a:t>
            </a:r>
          </a:p>
          <a:p>
            <a:r>
              <a:rPr lang="en-AU" sz="1200" dirty="0"/>
              <a:t>WebDriver</a:t>
            </a:r>
          </a:p>
        </p:txBody>
      </p:sp>
      <p:cxnSp>
        <p:nvCxnSpPr>
          <p:cNvPr id="39" name="Straight Arrow Connector 38"/>
          <p:cNvCxnSpPr>
            <a:stCxn id="28" idx="2"/>
            <a:endCxn id="19" idx="0"/>
          </p:cNvCxnSpPr>
          <p:nvPr/>
        </p:nvCxnSpPr>
        <p:spPr>
          <a:xfrm flipH="1">
            <a:off x="4729205" y="3915908"/>
            <a:ext cx="825672" cy="3703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8" idx="2"/>
            <a:endCxn id="8" idx="0"/>
          </p:cNvCxnSpPr>
          <p:nvPr/>
        </p:nvCxnSpPr>
        <p:spPr>
          <a:xfrm flipH="1">
            <a:off x="5537371" y="3915908"/>
            <a:ext cx="17506" cy="3449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8" idx="2"/>
            <a:endCxn id="36" idx="0"/>
          </p:cNvCxnSpPr>
          <p:nvPr/>
        </p:nvCxnSpPr>
        <p:spPr>
          <a:xfrm>
            <a:off x="5554877" y="3915908"/>
            <a:ext cx="780971" cy="3526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8238377" y="1903376"/>
            <a:ext cx="19614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200" dirty="0">
                <a:solidFill>
                  <a:srgbClr val="313131"/>
                </a:solidFill>
                <a:latin typeface="Arial" panose="020B0604020202020204" pitchFamily="34" charset="0"/>
                <a:hlinkClick r:id="rId7"/>
              </a:rPr>
              <a:t>https://www.calculator.net/</a:t>
            </a:r>
            <a:endParaRPr lang="en-AU" sz="1200" dirty="0"/>
          </a:p>
        </p:txBody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037" y="4330664"/>
            <a:ext cx="336447" cy="336447"/>
          </a:xfrm>
          <a:prstGeom prst="rect">
            <a:avLst/>
          </a:prstGeom>
        </p:spPr>
      </p:pic>
      <p:pic>
        <p:nvPicPr>
          <p:cNvPr id="73" name="Picture 7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861" y="4304473"/>
            <a:ext cx="381206" cy="381206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581673" y="4344031"/>
            <a:ext cx="323080" cy="323080"/>
          </a:xfrm>
          <a:prstGeom prst="rect">
            <a:avLst/>
          </a:prstGeom>
        </p:spPr>
      </p:pic>
      <p:cxnSp>
        <p:nvCxnSpPr>
          <p:cNvPr id="47" name="Straight Arrow Connector 46"/>
          <p:cNvCxnSpPr/>
          <p:nvPr/>
        </p:nvCxnSpPr>
        <p:spPr>
          <a:xfrm>
            <a:off x="8456761" y="3250780"/>
            <a:ext cx="938251" cy="34467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8569563" y="3985839"/>
            <a:ext cx="813746" cy="38573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365" y="3424867"/>
            <a:ext cx="529794" cy="414197"/>
          </a:xfrm>
          <a:prstGeom prst="rect">
            <a:avLst/>
          </a:prstGeom>
        </p:spPr>
      </p:pic>
      <p:sp>
        <p:nvSpPr>
          <p:cNvPr id="57" name="Vertical Scroll 56"/>
          <p:cNvSpPr/>
          <p:nvPr/>
        </p:nvSpPr>
        <p:spPr>
          <a:xfrm>
            <a:off x="1601824" y="3131080"/>
            <a:ext cx="778632" cy="605258"/>
          </a:xfrm>
          <a:prstGeom prst="verticalScroll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POM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39080" y="4274737"/>
            <a:ext cx="604156" cy="699858"/>
          </a:xfrm>
          <a:prstGeom prst="roundRect">
            <a:avLst/>
          </a:prstGeom>
          <a:solidFill>
            <a:srgbClr val="00206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4" name="Straight Arrow Connector 53"/>
          <p:cNvCxnSpPr/>
          <p:nvPr/>
        </p:nvCxnSpPr>
        <p:spPr>
          <a:xfrm flipV="1">
            <a:off x="6063705" y="3666306"/>
            <a:ext cx="1561621" cy="4082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337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30" y="629900"/>
            <a:ext cx="3688479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Grid </a:t>
            </a: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82800" y="2948817"/>
            <a:ext cx="2576946" cy="80021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rgbClr val="002060"/>
                </a:solidFill>
              </a:rPr>
              <a:t>Hub-nodes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sp>
        <p:nvSpPr>
          <p:cNvPr id="49" name="Rectangle 48"/>
          <p:cNvSpPr/>
          <p:nvPr/>
        </p:nvSpPr>
        <p:spPr>
          <a:xfrm>
            <a:off x="2082800" y="2306890"/>
            <a:ext cx="2576946" cy="80021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accent2"/>
                </a:solidFill>
              </a:rPr>
              <a:t>Standalone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sp>
        <p:nvSpPr>
          <p:cNvPr id="52" name="Rectangle 51"/>
          <p:cNvSpPr/>
          <p:nvPr/>
        </p:nvSpPr>
        <p:spPr>
          <a:xfrm>
            <a:off x="2082799" y="3590744"/>
            <a:ext cx="3237345" cy="80021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rgbClr val="002060"/>
                </a:solidFill>
              </a:rPr>
              <a:t>Fully distributed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dirty="0"/>
          </a:p>
        </p:txBody>
      </p:sp>
      <p:sp>
        <p:nvSpPr>
          <p:cNvPr id="7" name="Flowchart: Connector 6"/>
          <p:cNvSpPr/>
          <p:nvPr/>
        </p:nvSpPr>
        <p:spPr>
          <a:xfrm>
            <a:off x="1542472" y="2382981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1</a:t>
            </a:r>
          </a:p>
        </p:txBody>
      </p:sp>
      <p:sp>
        <p:nvSpPr>
          <p:cNvPr id="53" name="Flowchart: Connector 52"/>
          <p:cNvSpPr/>
          <p:nvPr/>
        </p:nvSpPr>
        <p:spPr>
          <a:xfrm>
            <a:off x="1542472" y="3034144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2</a:t>
            </a:r>
          </a:p>
        </p:txBody>
      </p:sp>
      <p:sp>
        <p:nvSpPr>
          <p:cNvPr id="54" name="Flowchart: Connector 53"/>
          <p:cNvSpPr/>
          <p:nvPr/>
        </p:nvSpPr>
        <p:spPr>
          <a:xfrm>
            <a:off x="1544781" y="3685307"/>
            <a:ext cx="387927" cy="39716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3</a:t>
            </a:r>
          </a:p>
        </p:txBody>
      </p:sp>
      <p:pic>
        <p:nvPicPr>
          <p:cNvPr id="55" name="Picture 54" descr="hosw 060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127" y="1547578"/>
            <a:ext cx="4816388" cy="29731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xplosion 1 2"/>
          <p:cNvSpPr/>
          <p:nvPr/>
        </p:nvSpPr>
        <p:spPr>
          <a:xfrm>
            <a:off x="4298345" y="2365462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1223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054" y="476329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Standalone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2215" y="5258019"/>
            <a:ext cx="89901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java -jar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webdrivermanager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-5.0.3-fat.jar resolveDriverFor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chrome</a:t>
            </a:r>
            <a:endParaRPr lang="en-AU" dirty="0"/>
          </a:p>
        </p:txBody>
      </p:sp>
      <p:sp>
        <p:nvSpPr>
          <p:cNvPr id="6" name="Rectangle 5"/>
          <p:cNvSpPr/>
          <p:nvPr/>
        </p:nvSpPr>
        <p:spPr>
          <a:xfrm>
            <a:off x="622215" y="5630028"/>
            <a:ext cx="81649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java -jar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selenium-server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</a:rPr>
              <a:t>-4.0.0.jar </a:t>
            </a:r>
            <a:r>
              <a:rPr lang="en-AU" b="1" dirty="0">
                <a:solidFill>
                  <a:srgbClr val="2F5597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standalone</a:t>
            </a:r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622215" y="6004715"/>
            <a:ext cx="11452303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AU" dirty="0">
                <a:solidFill>
                  <a:srgbClr val="00008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WebDriver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008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driver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66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008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RemoteWebDriver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AU" dirty="0">
                <a:solidFill>
                  <a:srgbClr val="CC33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"http://localhost:4444/"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0066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AU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dirty="0">
                <a:solidFill>
                  <a:srgbClr val="CC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ChromeOptions</a:t>
            </a:r>
            <a:r>
              <a:rPr lang="en-AU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());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hosw ab0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033" y="428194"/>
            <a:ext cx="4897047" cy="445246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xplosion 1 8"/>
          <p:cNvSpPr/>
          <p:nvPr/>
        </p:nvSpPr>
        <p:spPr>
          <a:xfrm>
            <a:off x="3595818" y="428193"/>
            <a:ext cx="722802" cy="583355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0490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559457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Cloud Providers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79055" y="1763204"/>
            <a:ext cx="3455785" cy="1277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Browsers as a service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Analysis capabilities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Mobile testing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Visual testing</a:t>
            </a:r>
            <a:endParaRPr lang="en-AU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68012" y="1763204"/>
            <a:ext cx="347618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Sauce</a:t>
            </a:r>
            <a:r>
              <a:rPr lang="en-AU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Labs</a:t>
            </a:r>
            <a:r>
              <a:rPr lang="en-A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BrowserStack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LambdaTest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CrossBrowserTesting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Moon Cloud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TestingBot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Perfecto</a:t>
            </a:r>
            <a:r>
              <a:rPr lang="en-AU" i="1" dirty="0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</a:rPr>
              <a:t>, or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 err="1">
                <a:solidFill>
                  <a:srgbClr val="002060"/>
                </a:solidFill>
                <a:latin typeface="inherit"/>
                <a:ea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Testinium</a:t>
            </a:r>
            <a:endParaRPr lang="en-AU" i="1" dirty="0">
              <a:solidFill>
                <a:srgbClr val="002060"/>
              </a:solidFill>
              <a:latin typeface="inheri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393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559457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Cloud Providers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1565911"/>
            <a:ext cx="10360955" cy="503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586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6453744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Containerized Selenium Grid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1549173"/>
            <a:ext cx="728662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87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8256" y="1329434"/>
            <a:ext cx="6026217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Put Everything Together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796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256" y="726837"/>
            <a:ext cx="8664498" cy="1472589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Selenium Environment Setup </a:t>
            </a:r>
            <a:br>
              <a:rPr lang="en-AU" b="1" dirty="0">
                <a:solidFill>
                  <a:srgbClr val="002060"/>
                </a:solidFill>
              </a:rPr>
            </a:br>
            <a:r>
              <a:rPr lang="en-AU" b="1" dirty="0">
                <a:solidFill>
                  <a:srgbClr val="002060"/>
                </a:solidFill>
              </a:rPr>
              <a:t>      – </a:t>
            </a:r>
            <a:r>
              <a:rPr lang="en-AU" b="1" dirty="0">
                <a:solidFill>
                  <a:schemeClr val="accent2"/>
                </a:solidFill>
              </a:rPr>
              <a:t>Standalone Grid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90315" y="2328995"/>
            <a:ext cx="8915400" cy="2101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Download </a:t>
            </a:r>
            <a:r>
              <a:rPr lang="en-AU" dirty="0" err="1"/>
              <a:t>Seleniue</a:t>
            </a:r>
            <a:r>
              <a:rPr lang="en-AU" dirty="0"/>
              <a:t> Grid</a:t>
            </a:r>
          </a:p>
          <a:p>
            <a:pPr marL="0" indent="0">
              <a:buNone/>
            </a:pPr>
            <a:r>
              <a:rPr lang="en-AU" u="sng" dirty="0">
                <a:hlinkClick r:id="rId3"/>
              </a:rPr>
              <a:t>https://www.selenium.dev/downloads/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  </a:t>
            </a:r>
          </a:p>
          <a:p>
            <a:pPr marL="0" indent="0">
              <a:buNone/>
            </a:pPr>
            <a:r>
              <a:rPr lang="en-AU" dirty="0"/>
              <a:t>Download Chrome Driver</a:t>
            </a:r>
          </a:p>
          <a:p>
            <a:pPr marL="0" indent="0">
              <a:buNone/>
            </a:pPr>
            <a:r>
              <a:rPr lang="en-AU" u="sng" dirty="0">
                <a:hlinkClick r:id="rId4"/>
              </a:rPr>
              <a:t>https://chromedriver.chromium.org/downloads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1612256" y="5554418"/>
            <a:ext cx="101884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Prepare eclipse</a:t>
            </a:r>
          </a:p>
          <a:p>
            <a:r>
              <a:rPr lang="en-AU" dirty="0">
                <a:hlinkClick r:id="rId5"/>
              </a:rPr>
              <a:t>https://www.browserstack.com/guide/selenium-with-java-for-automated-test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1612256" y="4733913"/>
            <a:ext cx="88838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Download and configure Maven</a:t>
            </a:r>
          </a:p>
          <a:p>
            <a:r>
              <a:rPr lang="en-AU" dirty="0">
                <a:hlinkClick r:id="rId6"/>
              </a:rPr>
              <a:t>https://maven.apache.org/download.cgi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4037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961" y="545581"/>
            <a:ext cx="2408173" cy="69669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71961" y="1462627"/>
            <a:ext cx="9299948" cy="486977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Maven</a:t>
            </a: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  <a:hlinkClick r:id="rId3"/>
              </a:rPr>
              <a:t>Eclipse</a:t>
            </a:r>
          </a:p>
          <a:p>
            <a:pPr marL="0" indent="0">
              <a:buNone/>
            </a:pPr>
            <a:r>
              <a:rPr lang="en-AU" sz="1600" dirty="0">
                <a:hlinkClick r:id="rId3"/>
              </a:rPr>
              <a:t>https://www.vogella.com/tutorials/Eclipse/article.html</a:t>
            </a:r>
            <a:endParaRPr lang="en-AU" sz="1600" dirty="0"/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Java</a:t>
            </a: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XPath</a:t>
            </a:r>
          </a:p>
          <a:p>
            <a:pPr marL="0" indent="0">
              <a:buNone/>
            </a:pPr>
            <a:r>
              <a:rPr lang="en-AU" u="sng" dirty="0">
                <a:hlinkClick r:id="rId4"/>
              </a:rPr>
              <a:t>https://www.guru99.com/xpath-selenium.html</a:t>
            </a:r>
            <a:endParaRPr lang="en-AU" u="sng" dirty="0"/>
          </a:p>
          <a:p>
            <a:pPr marL="0" indent="0">
              <a:buNone/>
            </a:pPr>
            <a:endParaRPr lang="en-AU" u="sng" dirty="0"/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Selenium tutorial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5"/>
              </a:rPr>
              <a:t>https://www.selenium.dev/documentation/webdriver/getting_started/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6"/>
              </a:rPr>
              <a:t>https://www.browserstack.com/guide/selenium-with-java-for-automated-test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7"/>
              </a:rPr>
              <a:t>https://www.tutorialspoint.com/selenium/selenium_webdriver.htm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AU" sz="1600" b="1" dirty="0">
                <a:solidFill>
                  <a:srgbClr val="002060"/>
                </a:solidFill>
              </a:rPr>
              <a:t>Code sample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002060"/>
                </a:solidFill>
                <a:hlinkClick r:id="rId8"/>
              </a:rPr>
              <a:t>https://www.lambdatest.com/blog/selenium-webdriver-tutorial-with-examples/</a:t>
            </a:r>
            <a:endParaRPr lang="en-AU" sz="16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sz="16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sz="1200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248" y="863588"/>
            <a:ext cx="2459366" cy="64127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AU" b="1" dirty="0">
                <a:solidFill>
                  <a:srgbClr val="002060"/>
                </a:solidFill>
              </a:rP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7248" y="2041236"/>
            <a:ext cx="7616970" cy="2086769"/>
          </a:xfrm>
        </p:spPr>
        <p:txBody>
          <a:bodyPr/>
          <a:lstStyle/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WebSite</a:t>
            </a:r>
            <a:r>
              <a:rPr lang="en-AU" dirty="0"/>
              <a:t>:  </a:t>
            </a:r>
            <a:r>
              <a:rPr lang="en-AU" dirty="0">
                <a:hlinkClick r:id="rId2"/>
              </a:rPr>
              <a:t>www.funnygorilla.com.au</a:t>
            </a:r>
            <a:endParaRPr lang="en-AU" dirty="0"/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Mail</a:t>
            </a:r>
            <a:r>
              <a:rPr lang="en-AU" dirty="0"/>
              <a:t>: info@funnygorilla.com.au</a:t>
            </a:r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Linkedin</a:t>
            </a:r>
            <a:r>
              <a:rPr lang="en-AU" dirty="0"/>
              <a:t>:  </a:t>
            </a:r>
            <a:r>
              <a:rPr lang="en-AU" dirty="0">
                <a:hlinkClick r:id="rId3"/>
              </a:rPr>
              <a:t>https://mt.linkedin.com/in/songqing-gu-2ba9034b/de</a:t>
            </a:r>
            <a:endParaRPr lang="en-AU" dirty="0"/>
          </a:p>
          <a:p>
            <a:pPr marL="0" indent="0">
              <a:buNone/>
            </a:pPr>
            <a:r>
              <a:rPr lang="en-AU" b="1" dirty="0" err="1">
                <a:solidFill>
                  <a:srgbClr val="002060"/>
                </a:solidFill>
              </a:rPr>
              <a:t>WebChat</a:t>
            </a:r>
            <a:r>
              <a:rPr lang="en-AU" dirty="0"/>
              <a:t>: Funny Training Gorilla</a:t>
            </a:r>
          </a:p>
          <a:p>
            <a:pPr marL="0" indent="0">
              <a:buNone/>
            </a:pPr>
            <a:r>
              <a:rPr lang="en-AU" b="1" dirty="0">
                <a:solidFill>
                  <a:srgbClr val="002060"/>
                </a:solidFill>
              </a:rPr>
              <a:t>Phone</a:t>
            </a:r>
            <a:r>
              <a:rPr lang="en-AU" dirty="0"/>
              <a:t>: 0420891343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85" y="4128005"/>
            <a:ext cx="2820988" cy="254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04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15892</TotalTime>
  <Words>1374</Words>
  <Application>Microsoft Macintosh PowerPoint</Application>
  <PresentationFormat>Widescreen</PresentationFormat>
  <Paragraphs>298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Arial</vt:lpstr>
      <vt:lpstr>Calibri</vt:lpstr>
      <vt:lpstr>Century Gothic</vt:lpstr>
      <vt:lpstr>Consolas</vt:lpstr>
      <vt:lpstr>Courier New</vt:lpstr>
      <vt:lpstr>inherit</vt:lpstr>
      <vt:lpstr>Symbol</vt:lpstr>
      <vt:lpstr>Times New Roman</vt:lpstr>
      <vt:lpstr>Wingdings</vt:lpstr>
      <vt:lpstr>Wingdings 3</vt:lpstr>
      <vt:lpstr>Wisp</vt:lpstr>
      <vt:lpstr>Funny Training Gorilla    澳洲土逗-IT培训</vt:lpstr>
      <vt:lpstr>Learning Objectives</vt:lpstr>
      <vt:lpstr>Agenda</vt:lpstr>
      <vt:lpstr>Client – Server Delivery Model</vt:lpstr>
      <vt:lpstr>Big Picture </vt:lpstr>
      <vt:lpstr>How Selenium Works - Logically </vt:lpstr>
      <vt:lpstr>Take “human” Action</vt:lpstr>
      <vt:lpstr>Understand Web Page Object Model (POM) </vt:lpstr>
      <vt:lpstr>Location Strategy</vt:lpstr>
      <vt:lpstr>XPath</vt:lpstr>
      <vt:lpstr>Common Selenium Action</vt:lpstr>
      <vt:lpstr>Common Selenium Action</vt:lpstr>
      <vt:lpstr>Interaction </vt:lpstr>
      <vt:lpstr>Java Implementation</vt:lpstr>
      <vt:lpstr>Selenium Java  Part 1 - Setup</vt:lpstr>
      <vt:lpstr>Part 2 – execute human actions</vt:lpstr>
      <vt:lpstr>Part 3 – close window </vt:lpstr>
      <vt:lpstr>Execute – Junit framework</vt:lpstr>
      <vt:lpstr>Junit 5 </vt:lpstr>
      <vt:lpstr>Selenium WebDriver Deployment   </vt:lpstr>
      <vt:lpstr>Using local browsers </vt:lpstr>
      <vt:lpstr>Using remote browser </vt:lpstr>
      <vt:lpstr>Selenium Grid – Remote Browser </vt:lpstr>
      <vt:lpstr>Selenium Grid </vt:lpstr>
      <vt:lpstr>Standalone </vt:lpstr>
      <vt:lpstr>Cloud Providers </vt:lpstr>
      <vt:lpstr>Cloud Providers </vt:lpstr>
      <vt:lpstr>Containerized Selenium Grid </vt:lpstr>
      <vt:lpstr>Put Everything Together  </vt:lpstr>
      <vt:lpstr>Selenium Environment Setup        – Standalone Grid  </vt:lpstr>
      <vt:lpstr>References  </vt:lpstr>
      <vt:lpstr>Contact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754</cp:revision>
  <dcterms:created xsi:type="dcterms:W3CDTF">2020-08-03T09:43:10Z</dcterms:created>
  <dcterms:modified xsi:type="dcterms:W3CDTF">2025-04-30T14:12:37Z</dcterms:modified>
</cp:coreProperties>
</file>