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308" r:id="rId3"/>
    <p:sldId id="303" r:id="rId4"/>
    <p:sldId id="304" r:id="rId5"/>
    <p:sldId id="305" r:id="rId6"/>
    <p:sldId id="311" r:id="rId7"/>
    <p:sldId id="309" r:id="rId8"/>
    <p:sldId id="331" r:id="rId9"/>
    <p:sldId id="317" r:id="rId10"/>
    <p:sldId id="333" r:id="rId11"/>
    <p:sldId id="312" r:id="rId12"/>
    <p:sldId id="340" r:id="rId13"/>
    <p:sldId id="338" r:id="rId14"/>
    <p:sldId id="327" r:id="rId15"/>
    <p:sldId id="342" r:id="rId16"/>
    <p:sldId id="343" r:id="rId17"/>
    <p:sldId id="341" r:id="rId18"/>
    <p:sldId id="322" r:id="rId19"/>
    <p:sldId id="339" r:id="rId20"/>
    <p:sldId id="337" r:id="rId21"/>
    <p:sldId id="325" r:id="rId22"/>
    <p:sldId id="328" r:id="rId23"/>
    <p:sldId id="323" r:id="rId24"/>
    <p:sldId id="334" r:id="rId25"/>
    <p:sldId id="330" r:id="rId26"/>
    <p:sldId id="344" r:id="rId27"/>
    <p:sldId id="315" r:id="rId28"/>
    <p:sldId id="316" r:id="rId29"/>
    <p:sldId id="332" r:id="rId30"/>
    <p:sldId id="318" r:id="rId31"/>
    <p:sldId id="30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03"/>
            <p14:sldId id="304"/>
            <p14:sldId id="305"/>
            <p14:sldId id="311"/>
            <p14:sldId id="309"/>
            <p14:sldId id="331"/>
            <p14:sldId id="317"/>
            <p14:sldId id="333"/>
            <p14:sldId id="312"/>
            <p14:sldId id="340"/>
            <p14:sldId id="338"/>
            <p14:sldId id="327"/>
            <p14:sldId id="342"/>
            <p14:sldId id="343"/>
            <p14:sldId id="341"/>
            <p14:sldId id="322"/>
            <p14:sldId id="339"/>
            <p14:sldId id="337"/>
            <p14:sldId id="325"/>
            <p14:sldId id="328"/>
            <p14:sldId id="323"/>
            <p14:sldId id="334"/>
            <p14:sldId id="330"/>
            <p14:sldId id="344"/>
            <p14:sldId id="315"/>
            <p14:sldId id="316"/>
          </p14:sldIdLst>
        </p14:section>
        <p14:section name="Untitled Section" id="{96B2A4F6-E483-46D3-B718-858E0B0CB8CB}">
          <p14:sldIdLst>
            <p14:sldId id="332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53B87B-FCD9-46BC-920B-DA31D69B59D7}" v="114" dt="2023-04-22T13:18:51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8" autoAdjust="0"/>
    <p:restoredTop sz="94660"/>
  </p:normalViewPr>
  <p:slideViewPr>
    <p:cSldViewPr snapToGrid="0">
      <p:cViewPr varScale="1">
        <p:scale>
          <a:sx n="59" d="100"/>
          <a:sy n="59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9:39:44.363" v="2137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9:39:44.363" v="2137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9:39:34.972" v="2135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9:39:40.525" v="2136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9:39:44.363" v="2137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22/06/2024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Execution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835004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1819559"/>
            <a:ext cx="7315200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API Testing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Test scripts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5948287" y="3594858"/>
            <a:ext cx="3286974" cy="12852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Testing tools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8370481" y="3963032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6278336" y="3761944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037073" y="3920316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62" y="3429000"/>
            <a:ext cx="570610" cy="5386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23125" y="3927287"/>
            <a:ext cx="279771" cy="2092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700501" y="41446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33381" y="330284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6946" y="4531157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137" y="4501272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7543" y="3900442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4339" y="3900441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86314" y="306059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41773" y="3926135"/>
            <a:ext cx="420887" cy="420887"/>
          </a:xfrm>
          <a:prstGeom prst="rect">
            <a:avLst/>
          </a:prstGeom>
        </p:spPr>
      </p:pic>
      <p:cxnSp>
        <p:nvCxnSpPr>
          <p:cNvPr id="30" name="Curved Connector 29"/>
          <p:cNvCxnSpPr>
            <a:stCxn id="25" idx="3"/>
            <a:endCxn id="28" idx="1"/>
          </p:cNvCxnSpPr>
          <p:nvPr/>
        </p:nvCxnSpPr>
        <p:spPr>
          <a:xfrm>
            <a:off x="2362660" y="4136578"/>
            <a:ext cx="1674413" cy="127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257508" y="4157564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763" y="2285800"/>
            <a:ext cx="1123265" cy="773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11379" y="1852997"/>
            <a:ext cx="273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API service description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96" y="5380311"/>
            <a:ext cx="614805" cy="54611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06" y="4963260"/>
            <a:ext cx="726350" cy="622387"/>
          </a:xfrm>
          <a:prstGeom prst="rect">
            <a:avLst/>
          </a:prstGeom>
        </p:spPr>
      </p:pic>
      <p:cxnSp>
        <p:nvCxnSpPr>
          <p:cNvPr id="7" name="Curved Connector 6"/>
          <p:cNvCxnSpPr>
            <a:stCxn id="31" idx="2"/>
            <a:endCxn id="20" idx="1"/>
          </p:cNvCxnSpPr>
          <p:nvPr/>
        </p:nvCxnSpPr>
        <p:spPr>
          <a:xfrm rot="5400000">
            <a:off x="5701980" y="3480516"/>
            <a:ext cx="972563" cy="130271"/>
          </a:xfrm>
          <a:prstGeom prst="curvedConnector4">
            <a:avLst>
              <a:gd name="adj1" fmla="val 44620"/>
              <a:gd name="adj2" fmla="val 275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cxnSpLocks/>
            <a:stCxn id="35" idx="3"/>
            <a:endCxn id="20" idx="1"/>
          </p:cNvCxnSpPr>
          <p:nvPr/>
        </p:nvCxnSpPr>
        <p:spPr>
          <a:xfrm flipV="1">
            <a:off x="4700501" y="4031933"/>
            <a:ext cx="1422624" cy="16214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at is curl and its top uses">
            <a:extLst>
              <a:ext uri="{FF2B5EF4-FFF2-40B4-BE49-F238E27FC236}">
                <a16:creationId xmlns:a16="http://schemas.microsoft.com/office/drawing/2014/main" id="{70F56220-2D46-A331-9E1A-14A5B3EE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595" y="5596261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2B082-6869-DDCA-1DDF-6DDAF735C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4" y="4031932"/>
            <a:ext cx="570610" cy="538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0C6C7-F5B8-6FF4-7219-17EBCD89C1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3" y="4072389"/>
            <a:ext cx="570610" cy="53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3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2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91" y="731353"/>
            <a:ext cx="1123265" cy="77357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39" y="845082"/>
            <a:ext cx="614805" cy="546112"/>
          </a:xfrm>
          <a:prstGeom prst="rect">
            <a:avLst/>
          </a:prstGeom>
        </p:spPr>
      </p:pic>
      <p:cxnSp>
        <p:nvCxnSpPr>
          <p:cNvPr id="11" name="Curved Connector 10"/>
          <p:cNvCxnSpPr>
            <a:stCxn id="36" idx="1"/>
            <a:endCxn id="44" idx="2"/>
          </p:cNvCxnSpPr>
          <p:nvPr/>
        </p:nvCxnSpPr>
        <p:spPr>
          <a:xfrm rot="10800000" flipH="1">
            <a:off x="3561304" y="1504924"/>
            <a:ext cx="391120" cy="2268923"/>
          </a:xfrm>
          <a:prstGeom prst="curvedConnector4">
            <a:avLst>
              <a:gd name="adj1" fmla="val -58448"/>
              <a:gd name="adj2" fmla="val 52306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51" idx="0"/>
            <a:endCxn id="44" idx="2"/>
          </p:cNvCxnSpPr>
          <p:nvPr/>
        </p:nvCxnSpPr>
        <p:spPr>
          <a:xfrm rot="16200000" flipV="1">
            <a:off x="4536095" y="921252"/>
            <a:ext cx="946072" cy="2113414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9" idx="1"/>
            <a:endCxn id="44" idx="3"/>
          </p:cNvCxnSpPr>
          <p:nvPr/>
        </p:nvCxnSpPr>
        <p:spPr>
          <a:xfrm rot="10800000">
            <a:off x="4514057" y="1118138"/>
            <a:ext cx="5682291" cy="1420310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50" idx="0"/>
            <a:endCxn id="44" idx="2"/>
          </p:cNvCxnSpPr>
          <p:nvPr/>
        </p:nvCxnSpPr>
        <p:spPr>
          <a:xfrm rot="16200000" flipV="1">
            <a:off x="3958674" y="1498673"/>
            <a:ext cx="2114866" cy="2127365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47" idx="1"/>
            <a:endCxn id="44" idx="3"/>
          </p:cNvCxnSpPr>
          <p:nvPr/>
        </p:nvCxnSpPr>
        <p:spPr>
          <a:xfrm rot="10800000">
            <a:off x="4514056" y="1118139"/>
            <a:ext cx="5632934" cy="3607123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48" idx="0"/>
            <a:endCxn id="44" idx="2"/>
          </p:cNvCxnSpPr>
          <p:nvPr/>
        </p:nvCxnSpPr>
        <p:spPr>
          <a:xfrm rot="16200000" flipV="1">
            <a:off x="3438967" y="2018380"/>
            <a:ext cx="3163348" cy="2136433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2" idx="3"/>
            <a:endCxn id="44" idx="1"/>
          </p:cNvCxnSpPr>
          <p:nvPr/>
        </p:nvCxnSpPr>
        <p:spPr>
          <a:xfrm>
            <a:off x="2767244" y="1118138"/>
            <a:ext cx="623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what is curl and its top uses">
            <a:extLst>
              <a:ext uri="{FF2B5EF4-FFF2-40B4-BE49-F238E27FC236}">
                <a16:creationId xmlns:a16="http://schemas.microsoft.com/office/drawing/2014/main" id="{BFF8A6D2-538D-A98A-5B80-DCCE40B0E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5" y="891886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0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768" y="1420208"/>
            <a:ext cx="945204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cURL 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Get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Post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Put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Delete</a:t>
            </a:r>
            <a:b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63989" y="5437792"/>
            <a:ext cx="4701557" cy="1017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78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Elbow Connector 61"/>
          <p:cNvCxnSpPr>
            <a:stCxn id="56" idx="2"/>
            <a:endCxn id="9" idx="3"/>
          </p:cNvCxnSpPr>
          <p:nvPr/>
        </p:nvCxnSpPr>
        <p:spPr>
          <a:xfrm rot="5400000">
            <a:off x="7066510" y="3194442"/>
            <a:ext cx="2723479" cy="19116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870219" y="4657916"/>
            <a:ext cx="318570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/>
          <p:cNvSpPr/>
          <p:nvPr/>
        </p:nvSpPr>
        <p:spPr>
          <a:xfrm>
            <a:off x="7859816" y="3607224"/>
            <a:ext cx="319611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7807609" y="2465705"/>
            <a:ext cx="318436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1" y="2188263"/>
            <a:ext cx="817809" cy="632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366" y="678186"/>
            <a:ext cx="8650433" cy="696690"/>
          </a:xfrm>
          <a:effectLst/>
        </p:spPr>
        <p:txBody>
          <a:bodyPr>
            <a:no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How does Postman organize scripts </a:t>
            </a: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439" y="3452849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011" y="3941657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6838" y="5327349"/>
            <a:ext cx="16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19" name="Straight Arrow Connector 18"/>
          <p:cNvCxnSpPr>
            <a:stCxn id="28" idx="6"/>
            <a:endCxn id="45" idx="1"/>
          </p:cNvCxnSpPr>
          <p:nvPr/>
        </p:nvCxnSpPr>
        <p:spPr>
          <a:xfrm flipV="1">
            <a:off x="4240641" y="3572057"/>
            <a:ext cx="1894202" cy="5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8391" y="4253529"/>
            <a:ext cx="31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Project – application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116" y="5616324"/>
            <a:ext cx="41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Deployment environment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712" y="2404150"/>
            <a:ext cx="66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500" y="3551405"/>
            <a:ext cx="5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2" y="4632188"/>
            <a:ext cx="62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UAT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3704829" y="2226110"/>
            <a:ext cx="515929" cy="480867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3704831" y="2788534"/>
            <a:ext cx="515928" cy="499197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3713805" y="3332404"/>
            <a:ext cx="526836" cy="489777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4708" y="2783777"/>
            <a:ext cx="618422" cy="503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3261695"/>
            <a:ext cx="817809" cy="632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4409574"/>
            <a:ext cx="817809" cy="632828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28" idx="6"/>
            <a:endCxn id="42" idx="1"/>
          </p:cNvCxnSpPr>
          <p:nvPr/>
        </p:nvCxnSpPr>
        <p:spPr>
          <a:xfrm flipV="1">
            <a:off x="4240641" y="2506420"/>
            <a:ext cx="1894202" cy="10708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6"/>
            <a:endCxn id="46" idx="1"/>
          </p:cNvCxnSpPr>
          <p:nvPr/>
        </p:nvCxnSpPr>
        <p:spPr>
          <a:xfrm>
            <a:off x="4240641" y="3577293"/>
            <a:ext cx="1894202" cy="1180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34843" y="234908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6134843" y="3414721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134843" y="460052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/>
          <p:cNvSpPr txBox="1"/>
          <p:nvPr/>
        </p:nvSpPr>
        <p:spPr>
          <a:xfrm>
            <a:off x="7869357" y="4681944"/>
            <a:ext cx="324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uat:8080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9357" y="3631596"/>
            <a:ext cx="307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sit:8080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7609" y="2480759"/>
            <a:ext cx="315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test:8080</a:t>
            </a:r>
            <a:r>
              <a:rPr lang="en-AU" sz="1400" i="1" dirty="0"/>
              <a:t>/api/v1/customers/</a:t>
            </a:r>
          </a:p>
        </p:txBody>
      </p:sp>
      <p:cxnSp>
        <p:nvCxnSpPr>
          <p:cNvPr id="64" name="Elbow Connector 63"/>
          <p:cNvCxnSpPr>
            <a:stCxn id="9" idx="1"/>
            <a:endCxn id="18" idx="2"/>
          </p:cNvCxnSpPr>
          <p:nvPr/>
        </p:nvCxnSpPr>
        <p:spPr>
          <a:xfrm rot="10800000">
            <a:off x="4130392" y="4622861"/>
            <a:ext cx="1706447" cy="88915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21533" y="1685464"/>
            <a:ext cx="3423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{{base_url}}</a:t>
            </a:r>
            <a:r>
              <a:rPr lang="en-AU" sz="1400" i="1" dirty="0"/>
              <a:t>/api/v1/customers/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0689" y="5982161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test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4116" y="5952476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97" y="6283260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sitEV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6692" y="6338682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sit]</a:t>
            </a:r>
          </a:p>
        </p:txBody>
      </p:sp>
      <p:cxnSp>
        <p:nvCxnSpPr>
          <p:cNvPr id="7" name="Straight Connector 6"/>
          <p:cNvCxnSpPr>
            <a:stCxn id="5" idx="3"/>
            <a:endCxn id="22" idx="2"/>
          </p:cNvCxnSpPr>
          <p:nvPr/>
        </p:nvCxnSpPr>
        <p:spPr>
          <a:xfrm flipV="1">
            <a:off x="2173130" y="2466544"/>
            <a:ext cx="1531699" cy="56921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23" idx="2"/>
          </p:cNvCxnSpPr>
          <p:nvPr/>
        </p:nvCxnSpPr>
        <p:spPr>
          <a:xfrm>
            <a:off x="2173130" y="3035755"/>
            <a:ext cx="1531701" cy="23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3"/>
            <a:endCxn id="28" idx="2"/>
          </p:cNvCxnSpPr>
          <p:nvPr/>
        </p:nvCxnSpPr>
        <p:spPr>
          <a:xfrm>
            <a:off x="2173130" y="3035755"/>
            <a:ext cx="1540675" cy="5415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4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617" y="2378151"/>
            <a:ext cx="9575154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Workspace</a:t>
            </a:r>
            <a:r>
              <a:rPr lang="en-US" sz="4000" b="1" i="1" dirty="0">
                <a:solidFill>
                  <a:schemeClr val="accent2"/>
                </a:solidFill>
              </a:rPr>
              <a:t>,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Collection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52341" y="5209192"/>
            <a:ext cx="4701557" cy="1017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00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Environment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65601"/>
            <a:ext cx="9752532" cy="1050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needs to be deployed in different environments along its testing journey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569" y="2280180"/>
            <a:ext cx="6308717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Environment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8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249" y="736148"/>
            <a:ext cx="873844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- Parameterize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Requests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5454" y="1791855"/>
            <a:ext cx="591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 types</a:t>
            </a:r>
            <a:r>
              <a:rPr lang="en-AU" b="1" dirty="0"/>
              <a:t>: </a:t>
            </a:r>
            <a:r>
              <a:rPr lang="en-AU" b="1" dirty="0">
                <a:solidFill>
                  <a:schemeClr val="accent2"/>
                </a:solidFill>
              </a:rPr>
              <a:t>default type, secrete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85453" y="2320698"/>
            <a:ext cx="2119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</a:t>
            </a:r>
            <a:r>
              <a:rPr lang="en-AU" b="1" dirty="0">
                <a:solidFill>
                  <a:srgbClr val="212121"/>
                </a:solidFill>
                <a:latin typeface="Degular-Display-Semibold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Scope</a:t>
            </a:r>
            <a:r>
              <a:rPr lang="en-AU" b="1" dirty="0">
                <a:solidFill>
                  <a:srgbClr val="212121"/>
                </a:solidFill>
                <a:latin typeface="Degular-Display-Semibold"/>
              </a:rPr>
              <a:t>: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endParaRPr lang="en-AU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Degular-Display-Semibold"/>
            </a:endParaRPr>
          </a:p>
        </p:txBody>
      </p:sp>
      <p:cxnSp>
        <p:nvCxnSpPr>
          <p:cNvPr id="26" name="Elbow Connector 25"/>
          <p:cNvCxnSpPr>
            <a:cxnSpLocks/>
            <a:stCxn id="35" idx="2"/>
            <a:endCxn id="40" idx="1"/>
          </p:cNvCxnSpPr>
          <p:nvPr/>
        </p:nvCxnSpPr>
        <p:spPr>
          <a:xfrm rot="16200000" flipH="1">
            <a:off x="2171577" y="3351153"/>
            <a:ext cx="186773" cy="702406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cxnSpLocks/>
            <a:stCxn id="40" idx="2"/>
            <a:endCxn id="55" idx="1"/>
          </p:cNvCxnSpPr>
          <p:nvPr/>
        </p:nvCxnSpPr>
        <p:spPr>
          <a:xfrm rot="16200000" flipH="1">
            <a:off x="3946663" y="3582422"/>
            <a:ext cx="189374" cy="1016050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cxnSpLocks/>
            <a:stCxn id="55" idx="2"/>
            <a:endCxn id="66" idx="1"/>
          </p:cNvCxnSpPr>
          <p:nvPr/>
        </p:nvCxnSpPr>
        <p:spPr>
          <a:xfrm rot="16200000" flipH="1">
            <a:off x="6112378" y="3880290"/>
            <a:ext cx="292637" cy="1271655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704938" y="4556282"/>
            <a:ext cx="200018" cy="81236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92249" y="3265850"/>
            <a:ext cx="1243022" cy="343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16166" y="3595725"/>
            <a:ext cx="1834318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49375" y="4000467"/>
            <a:ext cx="2146987" cy="369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94524" y="4462419"/>
            <a:ext cx="1008485" cy="400035"/>
          </a:xfrm>
          <a:prstGeom prst="rect">
            <a:avLst/>
          </a:prstGeom>
          <a:solidFill>
            <a:srgbClr val="74B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128" y="4862454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8FD81-6557-1BCD-8860-5248CF024BA1}"/>
              </a:ext>
            </a:extLst>
          </p:cNvPr>
          <p:cNvSpPr/>
          <p:nvPr/>
        </p:nvSpPr>
        <p:spPr>
          <a:xfrm>
            <a:off x="338950" y="4525381"/>
            <a:ext cx="1922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workspace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943EE-24E8-6AF6-03DD-E42797DB8381}"/>
              </a:ext>
            </a:extLst>
          </p:cNvPr>
          <p:cNvSpPr/>
          <p:nvPr/>
        </p:nvSpPr>
        <p:spPr>
          <a:xfrm>
            <a:off x="2362200" y="5305148"/>
            <a:ext cx="1922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collection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CA38A-031F-E342-D3B6-1F264A9A02AD}"/>
              </a:ext>
            </a:extLst>
          </p:cNvPr>
          <p:cNvSpPr/>
          <p:nvPr/>
        </p:nvSpPr>
        <p:spPr>
          <a:xfrm>
            <a:off x="4524844" y="5888145"/>
            <a:ext cx="45077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Up to selection by collection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DC6D3-CB7A-13C2-1800-B29FFF45855A}"/>
              </a:ext>
            </a:extLst>
          </p:cNvPr>
          <p:cNvSpPr/>
          <p:nvPr/>
        </p:nvSpPr>
        <p:spPr>
          <a:xfrm>
            <a:off x="9421090" y="3738819"/>
            <a:ext cx="11851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script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6A99A32-9358-86D9-38BC-9217D7DDCA0C}"/>
              </a:ext>
            </a:extLst>
          </p:cNvPr>
          <p:cNvCxnSpPr>
            <a:cxnSpLocks/>
            <a:stCxn id="3" idx="0"/>
            <a:endCxn id="35" idx="2"/>
          </p:cNvCxnSpPr>
          <p:nvPr/>
        </p:nvCxnSpPr>
        <p:spPr>
          <a:xfrm rot="5400000" flipH="1" flipV="1">
            <a:off x="1148890" y="3760512"/>
            <a:ext cx="916411" cy="6133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C0B6F6A-ED35-C4AC-A5D9-CBE250E56391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2968930" y="4430423"/>
            <a:ext cx="1229476" cy="5199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2C8B685-C108-F089-329B-E887F3898BC8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5428255" y="4537658"/>
            <a:ext cx="1487644" cy="12133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703C5D7-934B-978B-7EBD-A11E9680479A}"/>
              </a:ext>
            </a:extLst>
          </p:cNvPr>
          <p:cNvCxnSpPr>
            <a:cxnSpLocks/>
            <a:stCxn id="8" idx="2"/>
            <a:endCxn id="73" idx="0"/>
          </p:cNvCxnSpPr>
          <p:nvPr/>
        </p:nvCxnSpPr>
        <p:spPr>
          <a:xfrm rot="5400000">
            <a:off x="9033529" y="3882326"/>
            <a:ext cx="661970" cy="12982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88D52B7-8BA6-1FE8-CF64-2349AC93704A}"/>
              </a:ext>
            </a:extLst>
          </p:cNvPr>
          <p:cNvSpPr/>
          <p:nvPr/>
        </p:nvSpPr>
        <p:spPr>
          <a:xfrm>
            <a:off x="7536213" y="2864317"/>
            <a:ext cx="4220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Used in data driven testing</a:t>
            </a:r>
            <a:endParaRPr lang="en-AU" sz="2400" b="1" i="0" dirty="0">
              <a:solidFill>
                <a:srgbClr val="0070C0"/>
              </a:solidFill>
              <a:effectLst/>
              <a:latin typeface="Degular-Display-Semibold"/>
            </a:endParaRP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E1C6BF6-4737-2D1B-9CFA-E7A7B0C220F1}"/>
              </a:ext>
            </a:extLst>
          </p:cNvPr>
          <p:cNvCxnSpPr>
            <a:cxnSpLocks/>
            <a:stCxn id="23" idx="2"/>
            <a:endCxn id="66" idx="0"/>
          </p:cNvCxnSpPr>
          <p:nvPr/>
        </p:nvCxnSpPr>
        <p:spPr>
          <a:xfrm rot="5400000">
            <a:off x="7954362" y="2770388"/>
            <a:ext cx="1136437" cy="22476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4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215315" y="1595511"/>
            <a:ext cx="87015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Lower variable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Degular-Display-Semibold"/>
              </a:rPr>
              <a:t>s override higher variables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endParaRPr lang="en-AU" sz="32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Degular-Display-Semibold"/>
            </a:endParaRPr>
          </a:p>
        </p:txBody>
      </p:sp>
      <p:cxnSp>
        <p:nvCxnSpPr>
          <p:cNvPr id="26" name="Elbow Connector 25"/>
          <p:cNvCxnSpPr>
            <a:stCxn id="35" idx="2"/>
            <a:endCxn id="40" idx="1"/>
          </p:cNvCxnSpPr>
          <p:nvPr/>
        </p:nvCxnSpPr>
        <p:spPr>
          <a:xfrm rot="16200000" flipH="1">
            <a:off x="2940877" y="3333644"/>
            <a:ext cx="200018" cy="750670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40" idx="2"/>
            <a:endCxn id="55" idx="1"/>
          </p:cNvCxnSpPr>
          <p:nvPr/>
        </p:nvCxnSpPr>
        <p:spPr>
          <a:xfrm rot="16200000" flipH="1">
            <a:off x="4498382" y="3594577"/>
            <a:ext cx="191480" cy="1020335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55" idx="2"/>
            <a:endCxn id="66" idx="1"/>
          </p:cNvCxnSpPr>
          <p:nvPr/>
        </p:nvCxnSpPr>
        <p:spPr>
          <a:xfrm rot="16200000" flipH="1">
            <a:off x="6266458" y="4034370"/>
            <a:ext cx="261935" cy="994198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704938" y="4556282"/>
            <a:ext cx="200018" cy="81236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61308" y="3208935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6221" y="3608970"/>
            <a:ext cx="1335468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04290" y="4000467"/>
            <a:ext cx="1592072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94524" y="4462419"/>
            <a:ext cx="1008485" cy="400035"/>
          </a:xfrm>
          <a:prstGeom prst="rect">
            <a:avLst/>
          </a:prstGeom>
          <a:solidFill>
            <a:srgbClr val="74B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128" y="4862454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58006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7311" y="2454351"/>
            <a:ext cx="556848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Variables</a:t>
            </a: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37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02" y="2732310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Introduction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92" y="999035"/>
            <a:ext cx="389730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8393" y="2174380"/>
            <a:ext cx="6430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introduction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8391" y="2914645"/>
            <a:ext cx="3654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D6F5-B7F9-A23F-F679-7C53A5368C79}"/>
              </a:ext>
            </a:extLst>
          </p:cNvPr>
          <p:cNvSpPr txBox="1"/>
          <p:nvPr/>
        </p:nvSpPr>
        <p:spPr>
          <a:xfrm>
            <a:off x="1418391" y="3606582"/>
            <a:ext cx="506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order of script</a:t>
            </a:r>
          </a:p>
        </p:txBody>
      </p:sp>
    </p:spTree>
    <p:extLst>
      <p:ext uri="{BB962C8B-B14F-4D97-AF65-F5344CB8AC3E}">
        <p14:creationId xmlns:p14="http://schemas.microsoft.com/office/powerpoint/2010/main" val="350163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49" y="955493"/>
            <a:ext cx="805217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JavaScript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9557E-3D00-FB86-0801-1FB082497C76}"/>
              </a:ext>
            </a:extLst>
          </p:cNvPr>
          <p:cNvSpPr txBox="1"/>
          <p:nvPr/>
        </p:nvSpPr>
        <p:spPr>
          <a:xfrm>
            <a:off x="1396621" y="3825164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530C-1314-107A-662D-D1071FEAB061}"/>
              </a:ext>
            </a:extLst>
          </p:cNvPr>
          <p:cNvSpPr txBox="1"/>
          <p:nvPr/>
        </p:nvSpPr>
        <p:spPr>
          <a:xfrm>
            <a:off x="1396621" y="3032836"/>
            <a:ext cx="315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57E2B-C95E-F46A-E30B-C42948C4E099}"/>
              </a:ext>
            </a:extLst>
          </p:cNvPr>
          <p:cNvSpPr txBox="1"/>
          <p:nvPr/>
        </p:nvSpPr>
        <p:spPr>
          <a:xfrm>
            <a:off x="1396621" y="2263928"/>
            <a:ext cx="643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- pm</a:t>
            </a:r>
          </a:p>
        </p:txBody>
      </p:sp>
    </p:spTree>
    <p:extLst>
      <p:ext uri="{BB962C8B-B14F-4D97-AF65-F5344CB8AC3E}">
        <p14:creationId xmlns:p14="http://schemas.microsoft.com/office/powerpoint/2010/main" val="361454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70D8B-6555-B9F3-73FB-189BD416DD3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349403" y="3020734"/>
            <a:ext cx="2197" cy="7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209" y="922088"/>
            <a:ext cx="523390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Types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2006" y="2606724"/>
            <a:ext cx="3635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Pre-request script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7506" y="369139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332F776-7F90-7DD1-C814-F573542A311C}"/>
              </a:ext>
            </a:extLst>
          </p:cNvPr>
          <p:cNvSpPr/>
          <p:nvPr/>
        </p:nvSpPr>
        <p:spPr>
          <a:xfrm>
            <a:off x="2197003" y="2715934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BE08B85-3881-3C42-5278-6EDCB7E9AEC9}"/>
              </a:ext>
            </a:extLst>
          </p:cNvPr>
          <p:cNvSpPr/>
          <p:nvPr/>
        </p:nvSpPr>
        <p:spPr>
          <a:xfrm>
            <a:off x="2199200" y="378289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261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10" y="831186"/>
            <a:ext cx="598172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Pre-request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58D55-368D-8F97-0B82-3D4CF27F02E0}"/>
              </a:ext>
            </a:extLst>
          </p:cNvPr>
          <p:cNvSpPr txBox="1"/>
          <p:nvPr/>
        </p:nvSpPr>
        <p:spPr>
          <a:xfrm>
            <a:off x="1616509" y="1964467"/>
            <a:ext cx="598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Prepare for next request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B8279-6158-4CA8-53F1-60E42474F6AC}"/>
              </a:ext>
            </a:extLst>
          </p:cNvPr>
          <p:cNvSpPr txBox="1"/>
          <p:nvPr/>
        </p:nvSpPr>
        <p:spPr>
          <a:xfrm>
            <a:off x="1590595" y="2554772"/>
            <a:ext cx="63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before request sent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DC746-B924-ADCD-A1D8-B8D65E28B2D4}"/>
              </a:ext>
            </a:extLst>
          </p:cNvPr>
          <p:cNvSpPr/>
          <p:nvPr/>
        </p:nvSpPr>
        <p:spPr>
          <a:xfrm>
            <a:off x="8924148" y="5543416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71E0D-B194-01E5-DFBD-F2E3ABB562A2}"/>
              </a:ext>
            </a:extLst>
          </p:cNvPr>
          <p:cNvSpPr/>
          <p:nvPr/>
        </p:nvSpPr>
        <p:spPr>
          <a:xfrm>
            <a:off x="7943697" y="4856277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525E1-8DCC-09C2-7936-63F5FA30DF0E}"/>
              </a:ext>
            </a:extLst>
          </p:cNvPr>
          <p:cNvSpPr/>
          <p:nvPr/>
        </p:nvSpPr>
        <p:spPr>
          <a:xfrm>
            <a:off x="6955973" y="4129964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44EF8AD3-E487-8D9E-5147-5EAE52BC0E04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16200000" flipH="1">
            <a:off x="7629134" y="4791095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2">
            <a:extLst>
              <a:ext uri="{FF2B5EF4-FFF2-40B4-BE49-F238E27FC236}">
                <a16:creationId xmlns:a16="http://schemas.microsoft.com/office/drawing/2014/main" id="{C87DADED-675C-9F28-DCD5-FEF933547109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rot="16200000" flipH="1">
            <a:off x="8632809" y="5501458"/>
            <a:ext cx="437757" cy="144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41FC7A-B4C9-8834-F34D-548FF51B21C1}"/>
              </a:ext>
            </a:extLst>
          </p:cNvPr>
          <p:cNvSpPr txBox="1"/>
          <p:nvPr/>
        </p:nvSpPr>
        <p:spPr>
          <a:xfrm>
            <a:off x="1616509" y="3145077"/>
            <a:ext cx="361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</p:spTree>
    <p:extLst>
      <p:ext uri="{BB962C8B-B14F-4D97-AF65-F5344CB8AC3E}">
        <p14:creationId xmlns:p14="http://schemas.microsoft.com/office/powerpoint/2010/main" val="367230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D1D074-DA44-42AE-E1F0-56B2EC8870BF}"/>
              </a:ext>
            </a:extLst>
          </p:cNvPr>
          <p:cNvSpPr txBox="1"/>
          <p:nvPr/>
        </p:nvSpPr>
        <p:spPr>
          <a:xfrm>
            <a:off x="1104880" y="1025216"/>
            <a:ext cx="4991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Common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cases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E1624-1E21-D720-B2C2-1D8728AA0F33}"/>
              </a:ext>
            </a:extLst>
          </p:cNvPr>
          <p:cNvSpPr txBox="1"/>
          <p:nvPr/>
        </p:nvSpPr>
        <p:spPr>
          <a:xfrm>
            <a:off x="1104879" y="2040667"/>
            <a:ext cx="639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 data between requests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5D8AA-D7CF-1730-A917-03B73B0D8B80}"/>
              </a:ext>
            </a:extLst>
          </p:cNvPr>
          <p:cNvSpPr txBox="1"/>
          <p:nvPr/>
        </p:nvSpPr>
        <p:spPr>
          <a:xfrm>
            <a:off x="1104879" y="2732953"/>
            <a:ext cx="541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request flow</a:t>
            </a:r>
          </a:p>
        </p:txBody>
      </p:sp>
    </p:spTree>
    <p:extLst>
      <p:ext uri="{BB962C8B-B14F-4D97-AF65-F5344CB8AC3E}">
        <p14:creationId xmlns:p14="http://schemas.microsoft.com/office/powerpoint/2010/main" val="76530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Pre-request 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99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423" y="1069722"/>
            <a:ext cx="4566577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9C82-686A-5084-4B0E-203431BA7E7D}"/>
              </a:ext>
            </a:extLst>
          </p:cNvPr>
          <p:cNvSpPr txBox="1"/>
          <p:nvPr/>
        </p:nvSpPr>
        <p:spPr>
          <a:xfrm>
            <a:off x="1474994" y="21354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BD748-9D45-EEF1-6772-0C2B9E132AA6}"/>
              </a:ext>
            </a:extLst>
          </p:cNvPr>
          <p:cNvSpPr txBox="1"/>
          <p:nvPr/>
        </p:nvSpPr>
        <p:spPr>
          <a:xfrm>
            <a:off x="1474994" y="2768474"/>
            <a:ext cx="7581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after response received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9DFC-73B1-C5FA-6AD3-65B9B1C06AFE}"/>
              </a:ext>
            </a:extLst>
          </p:cNvPr>
          <p:cNvSpPr txBox="1"/>
          <p:nvPr/>
        </p:nvSpPr>
        <p:spPr>
          <a:xfrm>
            <a:off x="1474994" y="3435384"/>
            <a:ext cx="361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026B-1365-CB6C-5011-288E2CB6BC94}"/>
              </a:ext>
            </a:extLst>
          </p:cNvPr>
          <p:cNvSpPr/>
          <p:nvPr/>
        </p:nvSpPr>
        <p:spPr>
          <a:xfrm>
            <a:off x="7984365" y="4363553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0957D-9DE9-1537-C8BA-894AA172403F}"/>
              </a:ext>
            </a:extLst>
          </p:cNvPr>
          <p:cNvSpPr/>
          <p:nvPr/>
        </p:nvSpPr>
        <p:spPr>
          <a:xfrm>
            <a:off x="8948567" y="5081311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54A6E-2602-2475-C1B8-F1624EF4760A}"/>
              </a:ext>
            </a:extLst>
          </p:cNvPr>
          <p:cNvSpPr/>
          <p:nvPr/>
        </p:nvSpPr>
        <p:spPr>
          <a:xfrm>
            <a:off x="9916272" y="5799069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11" name="Elbow Connector 47">
            <a:extLst>
              <a:ext uri="{FF2B5EF4-FFF2-40B4-BE49-F238E27FC236}">
                <a16:creationId xmlns:a16="http://schemas.microsoft.com/office/drawing/2014/main" id="{503EADA5-9E66-9E2A-2EA7-D31436E9C95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8650042" y="5032168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49">
            <a:extLst>
              <a:ext uri="{FF2B5EF4-FFF2-40B4-BE49-F238E27FC236}">
                <a16:creationId xmlns:a16="http://schemas.microsoft.com/office/drawing/2014/main" id="{A506EC48-98E8-5C14-0399-EE24AF935F8C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9615996" y="5748175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47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056" y="559934"/>
            <a:ext cx="7649835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58829" y="2030101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status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152" y="5009256"/>
            <a:ext cx="3073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the response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6394" y="3506382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header</a:t>
            </a:r>
          </a:p>
        </p:txBody>
      </p:sp>
      <p:cxnSp>
        <p:nvCxnSpPr>
          <p:cNvPr id="12" name="Straight Connector 11"/>
          <p:cNvCxnSpPr>
            <a:stCxn id="13" idx="4"/>
            <a:endCxn id="15" idx="0"/>
          </p:cNvCxnSpPr>
          <p:nvPr/>
        </p:nvCxnSpPr>
        <p:spPr>
          <a:xfrm>
            <a:off x="3591769" y="2408150"/>
            <a:ext cx="10410" cy="2651933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439369" y="2103350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3449779" y="355630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5" name="Flowchart: Connector 14"/>
          <p:cNvSpPr/>
          <p:nvPr/>
        </p:nvSpPr>
        <p:spPr>
          <a:xfrm>
            <a:off x="3449779" y="506008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9582" y="2012059"/>
            <a:ext cx="4230254" cy="106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pm.test(“Status code 200", function () {</a:t>
            </a:r>
          </a:p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pm.response.to.have.status (200);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3049" y="5009256"/>
            <a:ext cx="6817315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pm.test(“Body checking",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jsonData = pm.response.json();</a:t>
            </a:r>
            <a:endParaRPr lang="en-AU" sz="28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 pm.expect(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pm.response.text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()).to.include("string_to_search");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3049" y="3449679"/>
            <a:ext cx="6817315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pm.test(“Header Content-Type",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pm.response.to.have.header ("Content-Type", "application/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15647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865482" y="3260434"/>
            <a:ext cx="3772336" cy="2669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43345" y="2225963"/>
            <a:ext cx="3921413" cy="263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8514130" cy="69669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Execution Order of Scripts</a:t>
            </a:r>
            <a:br>
              <a:rPr lang="en-AU" sz="4000" b="1" dirty="0"/>
            </a:br>
            <a:br>
              <a:rPr lang="en-AU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53693" y="3260435"/>
            <a:ext cx="1447055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9446" y="3260434"/>
            <a:ext cx="1414727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9050" y="3813571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8599" y="3126432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" y="2400119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1" name="Elbow Connector 10"/>
          <p:cNvCxnSpPr>
            <a:stCxn id="9" idx="2"/>
            <a:endCxn id="8" idx="1"/>
          </p:cNvCxnSpPr>
          <p:nvPr/>
        </p:nvCxnSpPr>
        <p:spPr>
          <a:xfrm rot="16200000" flipH="1">
            <a:off x="1284036" y="3061250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1"/>
          </p:cNvCxnSpPr>
          <p:nvPr/>
        </p:nvCxnSpPr>
        <p:spPr>
          <a:xfrm rot="16200000" flipH="1">
            <a:off x="2163020" y="3646923"/>
            <a:ext cx="687138" cy="1449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5" idx="1"/>
          </p:cNvCxnSpPr>
          <p:nvPr/>
        </p:nvCxnSpPr>
        <p:spPr>
          <a:xfrm flipV="1">
            <a:off x="4250108" y="4059640"/>
            <a:ext cx="303585" cy="3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" idx="3"/>
            <a:endCxn id="6" idx="1"/>
          </p:cNvCxnSpPr>
          <p:nvPr/>
        </p:nvCxnSpPr>
        <p:spPr>
          <a:xfrm flipV="1">
            <a:off x="6000748" y="4059639"/>
            <a:ext cx="22869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19051" y="3813571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3253" y="4531329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0958" y="5249087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48" name="Elbow Connector 47"/>
          <p:cNvCxnSpPr>
            <a:stCxn id="26" idx="2"/>
            <a:endCxn id="27" idx="1"/>
          </p:cNvCxnSpPr>
          <p:nvPr/>
        </p:nvCxnSpPr>
        <p:spPr>
          <a:xfrm rot="16200000" flipH="1">
            <a:off x="8584728" y="4482186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7" idx="2"/>
            <a:endCxn id="28" idx="1"/>
          </p:cNvCxnSpPr>
          <p:nvPr/>
        </p:nvCxnSpPr>
        <p:spPr>
          <a:xfrm rot="16200000" flipH="1">
            <a:off x="9550682" y="5198193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3"/>
            <a:endCxn id="26" idx="1"/>
          </p:cNvCxnSpPr>
          <p:nvPr/>
        </p:nvCxnSpPr>
        <p:spPr>
          <a:xfrm>
            <a:off x="7644173" y="4059639"/>
            <a:ext cx="274878" cy="33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</p:spTree>
    <p:extLst>
      <p:ext uri="{BB962C8B-B14F-4D97-AF65-F5344CB8AC3E}">
        <p14:creationId xmlns:p14="http://schemas.microsoft.com/office/powerpoint/2010/main" val="3278352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574" y="2636236"/>
            <a:ext cx="884994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Execution of Order of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80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648" y="2004082"/>
            <a:ext cx="7109666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Run 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8617" y="2826328"/>
            <a:ext cx="41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Manually run test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170BE-3862-6D30-B833-CD725827E4D6}"/>
              </a:ext>
            </a:extLst>
          </p:cNvPr>
          <p:cNvSpPr txBox="1"/>
          <p:nvPr/>
        </p:nvSpPr>
        <p:spPr>
          <a:xfrm>
            <a:off x="2798616" y="3348925"/>
            <a:ext cx="609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Automate script testing by Newman</a:t>
            </a:r>
          </a:p>
        </p:txBody>
      </p:sp>
    </p:spTree>
    <p:extLst>
      <p:ext uri="{BB962C8B-B14F-4D97-AF65-F5344CB8AC3E}">
        <p14:creationId xmlns:p14="http://schemas.microsoft.com/office/powerpoint/2010/main" val="3373275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145" y="1634750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Manually run API Tests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57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22" y="2568067"/>
            <a:ext cx="9125556" cy="860933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Automating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testing by Newman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08348" y="5485603"/>
            <a:ext cx="8037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2525518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Newman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1417" y="1720564"/>
            <a:ext cx="10427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Postman's collection runner engine that sends API requests, receives the response, and then runs your test against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like postman's command line companion that generates specified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extensible and so can be integrated into continuous integration (CI/CD) servers and build systems.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144467" y="3955811"/>
            <a:ext cx="10715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000000"/>
                </a:solidFill>
                <a:latin typeface="Calibri" panose="020F0502020204030204" pitchFamily="34" charset="0"/>
              </a:rPr>
              <a:t>Benefits of using Newman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Makes it easy to run a collection of tests using command line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Gives the ability to run a collection of tests written in postman right from most build tools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Enables generating and storing report directly from the command line after Installing Newman.</a:t>
            </a:r>
          </a:p>
        </p:txBody>
      </p:sp>
    </p:spTree>
    <p:extLst>
      <p:ext uri="{BB962C8B-B14F-4D97-AF65-F5344CB8AC3E}">
        <p14:creationId xmlns:p14="http://schemas.microsoft.com/office/powerpoint/2010/main" val="3858815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053" y="2723043"/>
            <a:ext cx="5329003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Newman</a:t>
            </a:r>
            <a:b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9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22878</TotalTime>
  <Words>834</Words>
  <Application>Microsoft Office PowerPoint</Application>
  <PresentationFormat>Widescreen</PresentationFormat>
  <Paragraphs>179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Degular-Display-Semibold</vt:lpstr>
      <vt:lpstr>Monaco</vt:lpstr>
      <vt:lpstr>幼圆</vt:lpstr>
      <vt:lpstr>Arial</vt:lpstr>
      <vt:lpstr>Arial Black</vt:lpstr>
      <vt:lpstr>Calibri</vt:lpstr>
      <vt:lpstr>Century Gothic</vt:lpstr>
      <vt:lpstr>Wingdings</vt:lpstr>
      <vt:lpstr>Wingdings 3</vt:lpstr>
      <vt:lpstr>Wisp</vt:lpstr>
      <vt:lpstr>PowerPoint Presentation</vt:lpstr>
      <vt:lpstr>Learning Objectives   </vt:lpstr>
      <vt:lpstr>API Testing tools</vt:lpstr>
      <vt:lpstr>PowerPoint Presentation</vt:lpstr>
      <vt:lpstr>PowerPoint Presentation</vt:lpstr>
      <vt:lpstr>cURL Demo – Get, Post, Put, Delete   </vt:lpstr>
      <vt:lpstr>How does Postman organize scripts   </vt:lpstr>
      <vt:lpstr>Demo – Workspace, Collection  </vt:lpstr>
      <vt:lpstr>Environment </vt:lpstr>
      <vt:lpstr>Demo – Environment  </vt:lpstr>
      <vt:lpstr>Variable - Parameterize Requests  </vt:lpstr>
      <vt:lpstr>PowerPoint Presentation</vt:lpstr>
      <vt:lpstr>Demo – Variables  </vt:lpstr>
      <vt:lpstr>Test Scripting Introduction   </vt:lpstr>
      <vt:lpstr>Test Scripting   </vt:lpstr>
      <vt:lpstr>Postman JavaScript introduction    </vt:lpstr>
      <vt:lpstr>Test Scripting Types   </vt:lpstr>
      <vt:lpstr>Pre-request scripts </vt:lpstr>
      <vt:lpstr>PowerPoint Presentation</vt:lpstr>
      <vt:lpstr>Demo – Pre-request script  </vt:lpstr>
      <vt:lpstr>Test scripts </vt:lpstr>
      <vt:lpstr>Demo – Check response message   </vt:lpstr>
      <vt:lpstr>Execution Order of Scripts   </vt:lpstr>
      <vt:lpstr>Demo – Execution of Order of Scripts </vt:lpstr>
      <vt:lpstr>Run test scripts </vt:lpstr>
      <vt:lpstr>Demo – Manually run API Tests </vt:lpstr>
      <vt:lpstr>Automating testing by Newman  </vt:lpstr>
      <vt:lpstr>Newman Introduction </vt:lpstr>
      <vt:lpstr>Demo – Newman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700</cp:revision>
  <dcterms:created xsi:type="dcterms:W3CDTF">2020-08-03T09:43:10Z</dcterms:created>
  <dcterms:modified xsi:type="dcterms:W3CDTF">2024-06-22T09:30:15Z</dcterms:modified>
</cp:coreProperties>
</file>