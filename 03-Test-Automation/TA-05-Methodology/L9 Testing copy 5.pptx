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  <p:sldMasterId id="2147483659" r:id="rId2"/>
  </p:sldMasterIdLst>
  <p:notesMasterIdLst>
    <p:notesMasterId r:id="rId45"/>
  </p:notesMasterIdLst>
  <p:sldIdLst>
    <p:sldId id="256" r:id="rId3"/>
    <p:sldId id="258" r:id="rId4"/>
    <p:sldId id="260" r:id="rId5"/>
    <p:sldId id="349" r:id="rId6"/>
    <p:sldId id="259" r:id="rId7"/>
    <p:sldId id="262" r:id="rId8"/>
    <p:sldId id="263" r:id="rId9"/>
    <p:sldId id="264" r:id="rId10"/>
    <p:sldId id="265" r:id="rId11"/>
    <p:sldId id="292" r:id="rId12"/>
    <p:sldId id="271" r:id="rId13"/>
    <p:sldId id="287" r:id="rId14"/>
    <p:sldId id="273" r:id="rId15"/>
    <p:sldId id="333" r:id="rId16"/>
    <p:sldId id="300" r:id="rId17"/>
    <p:sldId id="337" r:id="rId18"/>
    <p:sldId id="301" r:id="rId19"/>
    <p:sldId id="276" r:id="rId20"/>
    <p:sldId id="339" r:id="rId21"/>
    <p:sldId id="336" r:id="rId22"/>
    <p:sldId id="279" r:id="rId23"/>
    <p:sldId id="346" r:id="rId24"/>
    <p:sldId id="280" r:id="rId25"/>
    <p:sldId id="345" r:id="rId26"/>
    <p:sldId id="302" r:id="rId27"/>
    <p:sldId id="295" r:id="rId28"/>
    <p:sldId id="296" r:id="rId29"/>
    <p:sldId id="347" r:id="rId30"/>
    <p:sldId id="282" r:id="rId31"/>
    <p:sldId id="299" r:id="rId32"/>
    <p:sldId id="324" r:id="rId33"/>
    <p:sldId id="334" r:id="rId34"/>
    <p:sldId id="325" r:id="rId35"/>
    <p:sldId id="343" r:id="rId36"/>
    <p:sldId id="326" r:id="rId37"/>
    <p:sldId id="335" r:id="rId38"/>
    <p:sldId id="341" r:id="rId39"/>
    <p:sldId id="327" r:id="rId40"/>
    <p:sldId id="328" r:id="rId41"/>
    <p:sldId id="338" r:id="rId42"/>
    <p:sldId id="329" r:id="rId43"/>
    <p:sldId id="348" r:id="rId44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/>
    <p:restoredTop sz="80042"/>
  </p:normalViewPr>
  <p:slideViewPr>
    <p:cSldViewPr snapToGrid="0">
      <p:cViewPr varScale="1">
        <p:scale>
          <a:sx n="118" d="100"/>
          <a:sy n="118" d="100"/>
        </p:scale>
        <p:origin x="2600" y="496"/>
      </p:cViewPr>
      <p:guideLst>
        <p:guide orient="horz" pos="2880"/>
        <p:guide pos="2160"/>
      </p:guideLst>
    </p:cSldViewPr>
  </p:slideViewPr>
  <p:notesTextViewPr>
    <p:cViewPr>
      <p:scale>
        <a:sx n="160" d="100"/>
        <a:sy n="16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842daad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" name="Google Shape;97;g381842daad3_0_10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1842daad3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6" name="Google Shape;116;g381842daad3_0_1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B99ACD0-64ED-BD2D-7517-4FBD5BE8A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842daad3_0_127:notes">
            <a:extLst>
              <a:ext uri="{FF2B5EF4-FFF2-40B4-BE49-F238E27FC236}">
                <a16:creationId xmlns:a16="http://schemas.microsoft.com/office/drawing/2014/main" id="{867BDC9E-BFC1-BF22-B181-F5A7D35F6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5" name="Google Shape;125;g381842daad3_0_127:notes">
            <a:extLst>
              <a:ext uri="{FF2B5EF4-FFF2-40B4-BE49-F238E27FC236}">
                <a16:creationId xmlns:a16="http://schemas.microsoft.com/office/drawing/2014/main" id="{C66AA482-44A1-5020-6BED-6247BFFFE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241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1842daad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7" name="Google Shape;107;g381842daad3_0_1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1842daad3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4" name="Google Shape;134;g381842daad3_0_1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1842daad3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43" name="Google Shape;143;g381842daad3_0_1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221425DB-C249-7ADB-301F-64F83F62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92F7CEE6-3CC2-B9C6-5ECA-C52B5733A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8C78DB0F-B1FA-4BCD-C5F4-C4A7C603A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10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4AEC862F-B421-0A1F-300D-78DE0147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>
            <a:extLst>
              <a:ext uri="{FF2B5EF4-FFF2-40B4-BE49-F238E27FC236}">
                <a16:creationId xmlns:a16="http://schemas.microsoft.com/office/drawing/2014/main" id="{3879A4F2-D97E-C82D-DC99-9D58BD08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>
            <a:extLst>
              <a:ext uri="{FF2B5EF4-FFF2-40B4-BE49-F238E27FC236}">
                <a16:creationId xmlns:a16="http://schemas.microsoft.com/office/drawing/2014/main" id="{D93CFC90-C3FC-724E-382D-B1CB024EB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83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6A45A77B-3B8A-6052-191A-670A023C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>
            <a:extLst>
              <a:ext uri="{FF2B5EF4-FFF2-40B4-BE49-F238E27FC236}">
                <a16:creationId xmlns:a16="http://schemas.microsoft.com/office/drawing/2014/main" id="{D9FEEE09-13D4-F9C0-67D2-D3DDBAE003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>
            <a:extLst>
              <a:ext uri="{FF2B5EF4-FFF2-40B4-BE49-F238E27FC236}">
                <a16:creationId xmlns:a16="http://schemas.microsoft.com/office/drawing/2014/main" id="{5931652B-F742-F7E2-875D-55CF22C0C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5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269949A9-D943-B615-3FE3-83D40385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>
            <a:extLst>
              <a:ext uri="{FF2B5EF4-FFF2-40B4-BE49-F238E27FC236}">
                <a16:creationId xmlns:a16="http://schemas.microsoft.com/office/drawing/2014/main" id="{EB587A25-A568-40A6-A582-15C828BE5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>
            <a:extLst>
              <a:ext uri="{FF2B5EF4-FFF2-40B4-BE49-F238E27FC236}">
                <a16:creationId xmlns:a16="http://schemas.microsoft.com/office/drawing/2014/main" id="{1FEE73A0-6805-C997-44C6-C2E8759B9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197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C68A9C93-E22D-71E9-ABE9-E782E8DE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>
            <a:extLst>
              <a:ext uri="{FF2B5EF4-FFF2-40B4-BE49-F238E27FC236}">
                <a16:creationId xmlns:a16="http://schemas.microsoft.com/office/drawing/2014/main" id="{5364B34A-B82B-10E7-6B00-0FB8EF7FF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>
            <a:extLst>
              <a:ext uri="{FF2B5EF4-FFF2-40B4-BE49-F238E27FC236}">
                <a16:creationId xmlns:a16="http://schemas.microsoft.com/office/drawing/2014/main" id="{FD29F438-A123-526C-241C-1258EE3662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71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1920DA19-9747-6982-7159-D5FB6161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>
            <a:extLst>
              <a:ext uri="{FF2B5EF4-FFF2-40B4-BE49-F238E27FC236}">
                <a16:creationId xmlns:a16="http://schemas.microsoft.com/office/drawing/2014/main" id="{B7058A7F-973D-8CDD-A172-591195526B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>
            <a:extLst>
              <a:ext uri="{FF2B5EF4-FFF2-40B4-BE49-F238E27FC236}">
                <a16:creationId xmlns:a16="http://schemas.microsoft.com/office/drawing/2014/main" id="{DF3C66AE-A023-ED95-B79F-85ACCC507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97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AF3EE55-7B9C-6FB4-9B08-11BA01A8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>
            <a:extLst>
              <a:ext uri="{FF2B5EF4-FFF2-40B4-BE49-F238E27FC236}">
                <a16:creationId xmlns:a16="http://schemas.microsoft.com/office/drawing/2014/main" id="{8F927EEE-5CC1-15F0-4DAF-BEE6339B8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30:notes">
            <a:extLst>
              <a:ext uri="{FF2B5EF4-FFF2-40B4-BE49-F238E27FC236}">
                <a16:creationId xmlns:a16="http://schemas.microsoft.com/office/drawing/2014/main" id="{8CDAC221-ACB0-0924-FF8D-8A114AF14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9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9113717C-86CB-4A75-953A-7B3903F0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>
            <a:extLst>
              <a:ext uri="{FF2B5EF4-FFF2-40B4-BE49-F238E27FC236}">
                <a16:creationId xmlns:a16="http://schemas.microsoft.com/office/drawing/2014/main" id="{802CA06F-F91B-D810-EECD-42E2F7F03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30:notes">
            <a:extLst>
              <a:ext uri="{FF2B5EF4-FFF2-40B4-BE49-F238E27FC236}">
                <a16:creationId xmlns:a16="http://schemas.microsoft.com/office/drawing/2014/main" id="{FE5DA46C-CDFA-BDFA-0F5C-6224ACFBE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57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2CCC29B3-036C-EEEF-57E1-7D0EEF10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:notes">
            <a:extLst>
              <a:ext uri="{FF2B5EF4-FFF2-40B4-BE49-F238E27FC236}">
                <a16:creationId xmlns:a16="http://schemas.microsoft.com/office/drawing/2014/main" id="{6EE099E4-3682-B9BA-DAD1-AD5B82FC6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3:notes">
            <a:extLst>
              <a:ext uri="{FF2B5EF4-FFF2-40B4-BE49-F238E27FC236}">
                <a16:creationId xmlns:a16="http://schemas.microsoft.com/office/drawing/2014/main" id="{45E8E2B6-88BD-99DF-EE5C-47EE8CA3E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69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62EB4610-E48D-5FC0-3635-EC3663DD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5806017D-3920-44CA-05BB-DAD8107F0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89780B3B-9949-3BF6-E0CB-D1EA68329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19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9354CF66-F22C-0646-8F0F-5F5FDE91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9E34DE05-C130-567F-6F7D-AF740B6DC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F284D09C-EC57-8EE5-C5C2-A149AC1D2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581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>
          <a:extLst>
            <a:ext uri="{FF2B5EF4-FFF2-40B4-BE49-F238E27FC236}">
              <a16:creationId xmlns:a16="http://schemas.microsoft.com/office/drawing/2014/main" id="{FF08CFAA-1BFB-DE25-DE0E-7B62BAC8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>
            <a:extLst>
              <a:ext uri="{FF2B5EF4-FFF2-40B4-BE49-F238E27FC236}">
                <a16:creationId xmlns:a16="http://schemas.microsoft.com/office/drawing/2014/main" id="{41CFBFB2-622A-BA9D-3A0D-D97341448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24:notes">
            <a:extLst>
              <a:ext uri="{FF2B5EF4-FFF2-40B4-BE49-F238E27FC236}">
                <a16:creationId xmlns:a16="http://schemas.microsoft.com/office/drawing/2014/main" id="{7F4F2694-D962-38F4-A6BC-AC7F09D93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937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DEAB7881-5435-B615-87B9-01E603AD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15E4D9DA-6B32-6CB6-E5E9-BCC1677150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78C9080F-5268-DF79-A54D-6C095E6EB1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95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C2721366-3ED7-CD6F-6440-6546B177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84D021DC-998E-4150-B338-93036A180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80639722-0009-99B4-FF19-5349BC2C8D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007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760DCF83-683A-ECC7-3890-20272FFC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9785A6C9-966D-91A8-348A-1A847F896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D29B8327-2B1F-2648-6178-CF861656D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833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46947F42-45F4-6E55-CA2C-86552F97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:notes">
            <a:extLst>
              <a:ext uri="{FF2B5EF4-FFF2-40B4-BE49-F238E27FC236}">
                <a16:creationId xmlns:a16="http://schemas.microsoft.com/office/drawing/2014/main" id="{0CF99AD3-4D8C-F3B4-9358-F2012ECDBC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AU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72" name="Google Shape;372;p34:notes">
            <a:extLst>
              <a:ext uri="{FF2B5EF4-FFF2-40B4-BE49-F238E27FC236}">
                <a16:creationId xmlns:a16="http://schemas.microsoft.com/office/drawing/2014/main" id="{6DC4BD47-C364-24D0-9EE2-1279C9E048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16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56560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C66E-766D-16A5-0B93-5384BE6B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E16D9-4D09-5877-2953-E9A592BCF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A5BA0-C197-72E1-B443-DB9CC0F70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66DA0-E5A1-8A9A-1126-D41B94B79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3633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5879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D370-ABF1-717C-C37F-6AB25C6F7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F0DD9-5651-683A-DCB2-3CDB27AC2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E5591E-A8F2-BCDE-37F9-4D09C8E99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4403-169E-D732-D33E-9F094B85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73219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6868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6473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14145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3BA2-06E5-0E7E-C58B-7E2166F9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D988D-2373-6CE6-C195-0FE92BA71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5AFD9-C174-2FAA-4D9B-159F6D129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5AA05-6EFC-2862-A22A-E5B672F9D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3651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5514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>
          <a:extLst>
            <a:ext uri="{FF2B5EF4-FFF2-40B4-BE49-F238E27FC236}">
              <a16:creationId xmlns:a16="http://schemas.microsoft.com/office/drawing/2014/main" id="{590C4F86-5ED3-9CD9-EAD7-E943C5F5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:notes">
            <a:extLst>
              <a:ext uri="{FF2B5EF4-FFF2-40B4-BE49-F238E27FC236}">
                <a16:creationId xmlns:a16="http://schemas.microsoft.com/office/drawing/2014/main" id="{50C5D49E-DF0E-A669-668B-A351C3BDE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35:notes">
            <a:extLst>
              <a:ext uri="{FF2B5EF4-FFF2-40B4-BE49-F238E27FC236}">
                <a16:creationId xmlns:a16="http://schemas.microsoft.com/office/drawing/2014/main" id="{2671AEEB-65BE-5582-6745-7869F7751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9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3671951" y="1778126"/>
            <a:ext cx="4200525" cy="2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536575" y="414337"/>
            <a:ext cx="526097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7531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751205" y="1285811"/>
            <a:ext cx="4200600" cy="4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7531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ctrTitle"/>
          </p:nvPr>
        </p:nvSpPr>
        <p:spPr>
          <a:xfrm>
            <a:off x="3254120" y="1473580"/>
            <a:ext cx="26358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7531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7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700" cy="45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95262" y="1195450"/>
            <a:ext cx="8744585" cy="0"/>
          </a:xfrm>
          <a:custGeom>
            <a:avLst/>
            <a:gdLst/>
            <a:ahLst/>
            <a:cxnLst/>
            <a:rect l="l" t="t" r="r" b="b"/>
            <a:pathLst>
              <a:path w="8744585" h="120000" extrusionOk="0">
                <a:moveTo>
                  <a:pt x="0" y="0"/>
                </a:moveTo>
                <a:lnTo>
                  <a:pt x="8744013" y="0"/>
                </a:lnTo>
              </a:path>
            </a:pathLst>
          </a:custGeom>
          <a:noFill/>
          <a:ln w="9525" cap="flat" cmpd="sng">
            <a:solidFill>
              <a:srgbClr val="E646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671951" y="1778126"/>
            <a:ext cx="4200525" cy="2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/>
          <p:nvPr/>
        </p:nvSpPr>
        <p:spPr>
          <a:xfrm>
            <a:off x="195262" y="1195450"/>
            <a:ext cx="8744585" cy="0"/>
          </a:xfrm>
          <a:custGeom>
            <a:avLst/>
            <a:gdLst/>
            <a:ahLst/>
            <a:cxnLst/>
            <a:rect l="l" t="t" r="r" b="b"/>
            <a:pathLst>
              <a:path w="8744585" h="120000" extrusionOk="0">
                <a:moveTo>
                  <a:pt x="0" y="0"/>
                </a:moveTo>
                <a:lnTo>
                  <a:pt x="8744013" y="0"/>
                </a:lnTo>
              </a:path>
            </a:pathLst>
          </a:custGeom>
          <a:noFill/>
          <a:ln w="9525" cap="flat" cmpd="sng">
            <a:solidFill>
              <a:srgbClr val="E646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7531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751205" y="1285811"/>
            <a:ext cx="4200600" cy="40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3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700" lvl="0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700" lvl="1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700" lvl="2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700" lvl="3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700" lvl="4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700" lvl="5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700" lvl="6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700" lvl="7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700" lvl="8" indent="0">
              <a:lnSpc>
                <a:spcPct val="116666"/>
              </a:lnSpc>
              <a:spcBef>
                <a:spcPts val="0"/>
              </a:spcBef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/>
        </p:nvSpPr>
        <p:spPr>
          <a:xfrm>
            <a:off x="473075" y="6486479"/>
            <a:ext cx="8206105" cy="124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The University of Sydney	Page 1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3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81" name="Google Shape;81;p1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9144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572000" y="0"/>
              <a:ext cx="457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265026" y="1121850"/>
            <a:ext cx="4046400" cy="17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0" anchor="t" anchorCtr="0">
            <a:spAutoFit/>
          </a:bodyPr>
          <a:lstStyle/>
          <a:p>
            <a:pPr marL="12700" marR="5080" lvl="0" indent="3809" algn="ctr" rtl="0">
              <a:lnSpc>
                <a:spcPct val="1196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ELEC5619 – Object Oriented Application Frameworks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546100" y="3375025"/>
            <a:ext cx="3484200" cy="1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>
                <a:solidFill>
                  <a:srgbClr val="FFFFFF"/>
                </a:solidFill>
              </a:rPr>
              <a:t>Songqing Gu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12700" marR="5080" lvl="0" indent="0" algn="ctr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School of Electrical and Computer Engineering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  <a:p>
            <a:pPr marL="4445" lvl="0" indent="0" algn="ctr" rtl="0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University of Sydney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536575" y="543737"/>
            <a:ext cx="75318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Authentication vs Authorization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828625" y="2588010"/>
            <a:ext cx="6947700" cy="8771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900" dirty="0"/>
              <a:t>Authorization</a:t>
            </a:r>
            <a:r>
              <a:rPr lang="en-US" sz="1900" b="0" dirty="0"/>
              <a:t> determines what an authenticated </a:t>
            </a:r>
            <a:r>
              <a:rPr lang="en-US" sz="1900" b="0" dirty="0">
                <a:solidFill>
                  <a:srgbClr val="0000FF"/>
                </a:solidFill>
              </a:rPr>
              <a:t>user can do</a:t>
            </a:r>
            <a:r>
              <a:rPr lang="en-US" sz="1900" b="0" dirty="0"/>
              <a:t> by checking privileges and roles.</a:t>
            </a:r>
            <a:endParaRPr sz="19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dirty="0"/>
          </a:p>
        </p:txBody>
      </p:sp>
      <p:sp>
        <p:nvSpPr>
          <p:cNvPr id="103" name="Google Shape;103;p15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D2206-376E-A2FE-8C94-9AFB53129A57}"/>
              </a:ext>
            </a:extLst>
          </p:cNvPr>
          <p:cNvSpPr txBox="1"/>
          <p:nvPr/>
        </p:nvSpPr>
        <p:spPr>
          <a:xfrm>
            <a:off x="1681317" y="4118975"/>
            <a:ext cx="840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A51993-9B4F-1BEB-9752-EC661978BF95}"/>
              </a:ext>
            </a:extLst>
          </p:cNvPr>
          <p:cNvSpPr txBox="1"/>
          <p:nvPr/>
        </p:nvSpPr>
        <p:spPr>
          <a:xfrm>
            <a:off x="3318387" y="3622319"/>
            <a:ext cx="749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908E5-00C4-75BF-F5B5-793A68E0F7CF}"/>
              </a:ext>
            </a:extLst>
          </p:cNvPr>
          <p:cNvSpPr txBox="1"/>
          <p:nvPr/>
        </p:nvSpPr>
        <p:spPr>
          <a:xfrm>
            <a:off x="4753894" y="4085613"/>
            <a:ext cx="1388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Privilege - 01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5F0F6-0113-3F9C-8467-5AD774758205}"/>
              </a:ext>
            </a:extLst>
          </p:cNvPr>
          <p:cNvSpPr txBox="1"/>
          <p:nvPr/>
        </p:nvSpPr>
        <p:spPr>
          <a:xfrm>
            <a:off x="4753894" y="4856684"/>
            <a:ext cx="1388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Privilege - 03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3FE20B6E-8F3E-FC09-9D97-CDEE5FAA0D2E}"/>
              </a:ext>
            </a:extLst>
          </p:cNvPr>
          <p:cNvCxnSpPr>
            <a:cxnSpLocks/>
            <a:stCxn id="4" idx="1"/>
            <a:endCxn id="3" idx="3"/>
          </p:cNvCxnSpPr>
          <p:nvPr/>
        </p:nvCxnSpPr>
        <p:spPr>
          <a:xfrm rot="10800000">
            <a:off x="4068098" y="3776208"/>
            <a:ext cx="685797" cy="4632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28525091-F003-917B-C430-1145E4720E98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rot="10800000" flipV="1">
            <a:off x="2521975" y="3776208"/>
            <a:ext cx="796412" cy="49665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2F0A93-52CC-DCB3-E74A-29CD322F4B03}"/>
              </a:ext>
            </a:extLst>
          </p:cNvPr>
          <p:cNvSpPr txBox="1"/>
          <p:nvPr/>
        </p:nvSpPr>
        <p:spPr>
          <a:xfrm>
            <a:off x="3362632" y="4316446"/>
            <a:ext cx="749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DD890D-D5D0-B47D-6B4E-D48A9969BB99}"/>
              </a:ext>
            </a:extLst>
          </p:cNvPr>
          <p:cNvSpPr txBox="1"/>
          <p:nvPr/>
        </p:nvSpPr>
        <p:spPr>
          <a:xfrm>
            <a:off x="721704" y="1736080"/>
            <a:ext cx="6379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 b="1" dirty="0"/>
              <a:t>Authentication</a:t>
            </a:r>
            <a:r>
              <a:rPr lang="en-US" sz="1600" b="0" dirty="0"/>
              <a:t> verifies </a:t>
            </a:r>
            <a:r>
              <a:rPr lang="en-US" sz="1600" b="0" dirty="0">
                <a:solidFill>
                  <a:srgbClr val="0000FF"/>
                </a:solidFill>
              </a:rPr>
              <a:t>who you are</a:t>
            </a:r>
            <a:r>
              <a:rPr lang="en-US" sz="1600" b="0" dirty="0"/>
              <a:t> by validating credentials.</a:t>
            </a:r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31542928-6B5E-C80A-376B-0BBF9F01B921}"/>
              </a:ext>
            </a:extLst>
          </p:cNvPr>
          <p:cNvCxnSpPr>
            <a:cxnSpLocks/>
            <a:stCxn id="5" idx="1"/>
            <a:endCxn id="14" idx="3"/>
          </p:cNvCxnSpPr>
          <p:nvPr/>
        </p:nvCxnSpPr>
        <p:spPr>
          <a:xfrm rot="10800000">
            <a:off x="4112342" y="4470335"/>
            <a:ext cx="641552" cy="5402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BEDB37-0341-AFF7-E395-9214F9D0E1AB}"/>
              </a:ext>
            </a:extLst>
          </p:cNvPr>
          <p:cNvSpPr txBox="1"/>
          <p:nvPr/>
        </p:nvSpPr>
        <p:spPr>
          <a:xfrm>
            <a:off x="4753894" y="4316446"/>
            <a:ext cx="1388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Privilege - 02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A6AD00-9FEB-7AB6-363D-431E451B0F11}"/>
              </a:ext>
            </a:extLst>
          </p:cNvPr>
          <p:cNvSpPr txBox="1"/>
          <p:nvPr/>
        </p:nvSpPr>
        <p:spPr>
          <a:xfrm>
            <a:off x="1704431" y="4833078"/>
            <a:ext cx="840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02</a:t>
            </a:r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5BFDE2A0-54F3-0B69-F8C5-1B328C1D6B8A}"/>
              </a:ext>
            </a:extLst>
          </p:cNvPr>
          <p:cNvCxnSpPr>
            <a:cxnSpLocks/>
            <a:stCxn id="14" idx="1"/>
            <a:endCxn id="26" idx="3"/>
          </p:cNvCxnSpPr>
          <p:nvPr/>
        </p:nvCxnSpPr>
        <p:spPr>
          <a:xfrm rot="10800000" flipV="1">
            <a:off x="2545090" y="4470335"/>
            <a:ext cx="817543" cy="5166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536575" y="543725"/>
            <a:ext cx="81456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JWT Structure &amp; Usage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29" y="2484576"/>
            <a:ext cx="7378892" cy="1172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 txBox="1"/>
          <p:nvPr/>
        </p:nvSpPr>
        <p:spPr>
          <a:xfrm>
            <a:off x="840837" y="5065452"/>
            <a:ext cx="7804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en-US" dirty="0"/>
              <a:t>Send JWTs in the HTTP Authorization header (Bearer token) and verify signature on server.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D80FF0-1B15-8D31-8CF5-3C036F7E511E}"/>
              </a:ext>
            </a:extLst>
          </p:cNvPr>
          <p:cNvSpPr txBox="1"/>
          <p:nvPr/>
        </p:nvSpPr>
        <p:spPr>
          <a:xfrm>
            <a:off x="668556" y="1738208"/>
            <a:ext cx="3709219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Header: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Specifies algorithm &amp; token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62B22-24CB-732E-0B58-AC079F1E274B}"/>
              </a:ext>
            </a:extLst>
          </p:cNvPr>
          <p:cNvSpPr txBox="1"/>
          <p:nvPr/>
        </p:nvSpPr>
        <p:spPr>
          <a:xfrm>
            <a:off x="2904763" y="3757107"/>
            <a:ext cx="3775587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Payload: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Contains claims (issuer, subject, expiry, etc.)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1FADA-74FA-17B7-2D55-AF513C03AF9A}"/>
              </a:ext>
            </a:extLst>
          </p:cNvPr>
          <p:cNvSpPr txBox="1"/>
          <p:nvPr/>
        </p:nvSpPr>
        <p:spPr>
          <a:xfrm>
            <a:off x="5213555" y="1672703"/>
            <a:ext cx="3605834" cy="56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Signature: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>
                <a:solidFill>
                  <a:schemeClr val="dk1"/>
                </a:solidFill>
              </a:rPr>
              <a:t>Signed with secret to protect data integrity</a:t>
            </a: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E4AFAF3C-5684-CD42-033B-EEF4F440AF56}"/>
              </a:ext>
            </a:extLst>
          </p:cNvPr>
          <p:cNvCxnSpPr>
            <a:endCxn id="3" idx="2"/>
          </p:cNvCxnSpPr>
          <p:nvPr/>
        </p:nvCxnSpPr>
        <p:spPr>
          <a:xfrm rot="5400000" flipH="1" flipV="1">
            <a:off x="1831505" y="2324385"/>
            <a:ext cx="711079" cy="672243"/>
          </a:xfrm>
          <a:prstGeom prst="curvedConnector3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72627869-2918-C817-CB77-69DEB7F62BA0}"/>
              </a:ext>
            </a:extLst>
          </p:cNvPr>
          <p:cNvCxnSpPr/>
          <p:nvPr/>
        </p:nvCxnSpPr>
        <p:spPr>
          <a:xfrm rot="5400000" flipH="1" flipV="1">
            <a:off x="6660932" y="2399507"/>
            <a:ext cx="711079" cy="672243"/>
          </a:xfrm>
          <a:prstGeom prst="curvedConnector3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5B2BB4C-04D7-3D19-799D-BF3A33F7E08B}"/>
              </a:ext>
            </a:extLst>
          </p:cNvPr>
          <p:cNvCxnSpPr>
            <a:cxnSpLocks/>
          </p:cNvCxnSpPr>
          <p:nvPr/>
        </p:nvCxnSpPr>
        <p:spPr>
          <a:xfrm rot="5400000">
            <a:off x="3781514" y="3302501"/>
            <a:ext cx="669677" cy="529811"/>
          </a:xfrm>
          <a:prstGeom prst="curvedConnector3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157F16-31DC-2267-4F62-FF56DE42467D}"/>
              </a:ext>
            </a:extLst>
          </p:cNvPr>
          <p:cNvSpPr txBox="1"/>
          <p:nvPr/>
        </p:nvSpPr>
        <p:spPr>
          <a:xfrm>
            <a:off x="840837" y="4542232"/>
            <a:ext cx="7537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Self-contained JSON object, used for stateless </a:t>
            </a:r>
            <a:r>
              <a:rPr lang="en-AU" b="1" i="1" dirty="0"/>
              <a:t>authorization</a:t>
            </a:r>
            <a:r>
              <a:rPr lang="en-AU" dirty="0"/>
              <a:t> and information exchange in web applications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7D45054-DBB9-70E1-5B9D-81FDF34D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>
            <a:extLst>
              <a:ext uri="{FF2B5EF4-FFF2-40B4-BE49-F238E27FC236}">
                <a16:creationId xmlns:a16="http://schemas.microsoft.com/office/drawing/2014/main" id="{DC265D5B-927A-B95F-0972-F5A925387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543725"/>
            <a:ext cx="81456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OAuth2 Authorization Code Flow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18">
            <a:extLst>
              <a:ext uri="{FF2B5EF4-FFF2-40B4-BE49-F238E27FC236}">
                <a16:creationId xmlns:a16="http://schemas.microsoft.com/office/drawing/2014/main" id="{DD223020-7408-046F-2061-CB72D4A34C4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29" name="Google Shape;129;p18">
            <a:extLst>
              <a:ext uri="{FF2B5EF4-FFF2-40B4-BE49-F238E27FC236}">
                <a16:creationId xmlns:a16="http://schemas.microsoft.com/office/drawing/2014/main" id="{322B93A0-78C4-067B-2465-202C1B974F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0" name="Google Shape;130;p18">
            <a:extLst>
              <a:ext uri="{FF2B5EF4-FFF2-40B4-BE49-F238E27FC236}">
                <a16:creationId xmlns:a16="http://schemas.microsoft.com/office/drawing/2014/main" id="{6029A3E2-8B3A-AF96-C8CB-68D9BD934D65}"/>
              </a:ext>
            </a:extLst>
          </p:cNvPr>
          <p:cNvSpPr txBox="1"/>
          <p:nvPr/>
        </p:nvSpPr>
        <p:spPr>
          <a:xfrm>
            <a:off x="617923" y="5453869"/>
            <a:ext cx="7164541" cy="67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User logs in &amp; grants consent; authorization server sends authorization code to </a:t>
            </a:r>
            <a:r>
              <a:rPr lang="en-US" sz="1200" dirty="0" err="1">
                <a:solidFill>
                  <a:schemeClr val="dk1"/>
                </a:solidFill>
              </a:rPr>
              <a:t>redirect_uri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Client exchanges the code for an access token at the token endpoint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Client uses the access token to call the resource server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A1052-AA4B-2ACF-7F4D-84E10D4A5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56" y="1225183"/>
            <a:ext cx="5691648" cy="411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0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355776" y="537275"/>
            <a:ext cx="81456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Implementing Authentication &amp; Authorization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0" name="Google Shape;110;p16"/>
          <p:cNvSpPr txBox="1">
            <a:spLocks noGrp="1"/>
          </p:cNvSpPr>
          <p:nvPr>
            <p:ph type="body" idx="1"/>
          </p:nvPr>
        </p:nvSpPr>
        <p:spPr>
          <a:xfrm>
            <a:off x="2466436" y="1522475"/>
            <a:ext cx="5180603" cy="73866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b="0" dirty="0"/>
              <a:t>Configure a </a:t>
            </a:r>
            <a:r>
              <a:rPr lang="en-US" sz="1600" i="1" dirty="0"/>
              <a:t>SecurityFilterChain</a:t>
            </a:r>
            <a:endParaRPr sz="1600" i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b="0" dirty="0"/>
              <a:t>Disable CSRF &amp; enforce stateless sessions for APIs</a:t>
            </a:r>
            <a:endParaRPr sz="16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600" b="0" dirty="0"/>
              <a:t>Require authentication for all endpoints</a:t>
            </a:r>
            <a:endParaRPr sz="1600" b="0" dirty="0"/>
          </a:p>
        </p:txBody>
      </p:sp>
      <p:sp>
        <p:nvSpPr>
          <p:cNvPr id="111" name="Google Shape;111;p16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840" y="2563631"/>
            <a:ext cx="7556320" cy="27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FF7827-C93B-5D88-4C1B-FC26040F5973}"/>
              </a:ext>
            </a:extLst>
          </p:cNvPr>
          <p:cNvSpPr txBox="1"/>
          <p:nvPr/>
        </p:nvSpPr>
        <p:spPr>
          <a:xfrm>
            <a:off x="2702410" y="5543315"/>
            <a:ext cx="3447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dirty="0"/>
              <a:t>Define user details &amp; passwords</a:t>
            </a:r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E32A6485-6A1A-45F0-DAB0-8652AAB960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00951" y="2359742"/>
            <a:ext cx="1246237" cy="671050"/>
          </a:xfrm>
          <a:prstGeom prst="curvedConnector3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F6C49B32-B8C7-3A67-503A-BB34DE0E8A43}"/>
              </a:ext>
            </a:extLst>
          </p:cNvPr>
          <p:cNvCxnSpPr>
            <a:cxnSpLocks/>
          </p:cNvCxnSpPr>
          <p:nvPr/>
        </p:nvCxnSpPr>
        <p:spPr>
          <a:xfrm>
            <a:off x="3554361" y="5206181"/>
            <a:ext cx="582562" cy="337134"/>
          </a:xfrm>
          <a:prstGeom prst="curvedConnector3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536575" y="543725"/>
            <a:ext cx="81456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Securing REST APIs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751188" y="1601806"/>
            <a:ext cx="6947700" cy="116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Use stateless sessions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Validate JWTs on every request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Enforce least privilege through roles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Apply method-level security with annotations</a:t>
            </a:r>
            <a:endParaRPr sz="1900" b="0" dirty="0"/>
          </a:p>
        </p:txBody>
      </p:sp>
      <p:sp>
        <p:nvSpPr>
          <p:cNvPr id="138" name="Google Shape;138;p19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254" y="3032312"/>
            <a:ext cx="64293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536575" y="543725"/>
            <a:ext cx="8145600" cy="4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JWT Resource Server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828690" y="1497705"/>
            <a:ext cx="6947700" cy="1169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Include spring-boot-starter-oauth2-resource-server dependency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Disable CSRF &amp; require authorization for all requests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Enable JWT via oauth2ResourceServer and use stateless sessions</a:t>
            </a:r>
            <a:endParaRPr sz="19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900" b="0" dirty="0"/>
              <a:t>Define a </a:t>
            </a:r>
            <a:r>
              <a:rPr lang="en-US" sz="1900" b="0" dirty="0" err="1"/>
              <a:t>JwtDecoder</a:t>
            </a:r>
            <a:r>
              <a:rPr lang="en-US" sz="1900" b="0" dirty="0"/>
              <a:t> bean using your RSA public key</a:t>
            </a:r>
            <a:endParaRPr sz="1900" b="0" dirty="0"/>
          </a:p>
        </p:txBody>
      </p:sp>
      <p:sp>
        <p:nvSpPr>
          <p:cNvPr id="147" name="Google Shape;147;p20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631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853" y="2989440"/>
            <a:ext cx="64293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ctrTitle"/>
          </p:nvPr>
        </p:nvSpPr>
        <p:spPr>
          <a:xfrm>
            <a:off x="536575" y="414337"/>
            <a:ext cx="526097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1128677" y="3236977"/>
            <a:ext cx="3586906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Software Testing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/>
            <a:r>
              <a:rPr lang="en-US" dirty="0"/>
              <a:t>Testing Strategies in OOAD</a:t>
            </a:r>
            <a:endParaRPr dirty="0"/>
          </a:p>
        </p:txBody>
      </p:sp>
      <p:sp>
        <p:nvSpPr>
          <p:cNvPr id="163" name="Google Shape;163;p22"/>
          <p:cNvSpPr txBox="1"/>
          <p:nvPr/>
        </p:nvSpPr>
        <p:spPr>
          <a:xfrm>
            <a:off x="274954" y="1533184"/>
            <a:ext cx="832290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When testing takes place in the SDLC (what, how)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274954" y="1798486"/>
            <a:ext cx="5589297" cy="161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075" rIns="0" bIns="0" anchor="t" anchorCtr="0">
            <a:spAutoFit/>
          </a:bodyPr>
          <a:lstStyle/>
          <a:p>
            <a:pPr marL="12700" lvl="0" algn="l" rtl="0">
              <a:lnSpc>
                <a:spcPct val="114791"/>
              </a:lnSpc>
              <a:spcBef>
                <a:spcPts val="280"/>
              </a:spcBef>
              <a:spcAft>
                <a:spcPts val="0"/>
              </a:spcAft>
              <a:buSzPts val="24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The strategies and tools associated with testing practice: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4835" lvl="1" algn="l" rtl="0">
              <a:lnSpc>
                <a:spcPct val="10875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Unit Tests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4835" lvl="1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Service Tests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4835" lvl="1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Integration/System Tests/end to end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4835" lvl="1" algn="l" rtl="0">
              <a:lnSpc>
                <a:spcPct val="114500"/>
              </a:lnSpc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- UAT Tests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2"/>
          <p:cNvSpPr txBox="1">
            <a:spLocks noGrp="1"/>
          </p:cNvSpPr>
          <p:nvPr>
            <p:ph type="ftr" idx="11"/>
          </p:nvPr>
        </p:nvSpPr>
        <p:spPr>
          <a:xfrm>
            <a:off x="407290" y="6452206"/>
            <a:ext cx="1612791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4CA02-7217-D5EC-D0E9-B375DDF5ECBA}"/>
              </a:ext>
            </a:extLst>
          </p:cNvPr>
          <p:cNvSpPr txBox="1"/>
          <p:nvPr/>
        </p:nvSpPr>
        <p:spPr>
          <a:xfrm>
            <a:off x="274954" y="4303326"/>
            <a:ext cx="6435684" cy="1951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12700" indent="0">
              <a:buNone/>
              <a:defRPr sz="2400">
                <a:latin typeface="Times New Roman"/>
                <a:ea typeface="Times New Roman"/>
                <a:cs typeface="Times New Roman"/>
              </a:defRPr>
            </a:lvl1pPr>
          </a:lstStyle>
          <a:p>
            <a:pPr marL="355600" indent="-342900">
              <a:buFontTx/>
              <a:buChar char="-"/>
            </a:pPr>
            <a:r>
              <a:rPr lang="en-US" sz="1800" dirty="0">
                <a:sym typeface="Times New Roman"/>
              </a:rPr>
              <a:t>The process to perform testing practice (Testing lifecycle)</a:t>
            </a:r>
          </a:p>
          <a:p>
            <a:r>
              <a:rPr lang="en-US" sz="1800" dirty="0">
                <a:sym typeface="Times New Roman"/>
              </a:rPr>
              <a:t>        - requirement analysis</a:t>
            </a:r>
          </a:p>
          <a:p>
            <a:r>
              <a:rPr lang="en-US" sz="1800" dirty="0">
                <a:sym typeface="Times New Roman"/>
              </a:rPr>
              <a:t>        - Test plan</a:t>
            </a:r>
          </a:p>
          <a:p>
            <a:r>
              <a:rPr lang="en-US" sz="1800" dirty="0">
                <a:sym typeface="Times New Roman"/>
              </a:rPr>
              <a:t>        - Test case development</a:t>
            </a:r>
          </a:p>
          <a:p>
            <a:r>
              <a:rPr lang="en-US" sz="1800" dirty="0">
                <a:sym typeface="Times New Roman"/>
              </a:rPr>
              <a:t>        - Test environment setup</a:t>
            </a:r>
          </a:p>
          <a:p>
            <a:r>
              <a:rPr lang="en-US" sz="1800" dirty="0">
                <a:sym typeface="Times New Roman"/>
              </a:rPr>
              <a:t>        - Test execution</a:t>
            </a:r>
          </a:p>
          <a:p>
            <a:r>
              <a:rPr lang="en-US" sz="1800" dirty="0">
                <a:sym typeface="Times New Roman"/>
              </a:rPr>
              <a:t>        - Test closure</a:t>
            </a:r>
          </a:p>
        </p:txBody>
      </p:sp>
      <p:sp>
        <p:nvSpPr>
          <p:cNvPr id="2" name="Google Shape;163;p22">
            <a:extLst>
              <a:ext uri="{FF2B5EF4-FFF2-40B4-BE49-F238E27FC236}">
                <a16:creationId xmlns:a16="http://schemas.microsoft.com/office/drawing/2014/main" id="{7545AFA5-DA8E-555D-8DE9-CDD94ED9252F}"/>
              </a:ext>
            </a:extLst>
          </p:cNvPr>
          <p:cNvSpPr txBox="1"/>
          <p:nvPr/>
        </p:nvSpPr>
        <p:spPr>
          <a:xfrm>
            <a:off x="274954" y="3414239"/>
            <a:ext cx="5857876" cy="8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Test methodology</a:t>
            </a:r>
          </a:p>
          <a:p>
            <a:pPr marL="127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        - Test pyramid (quantity, complexity and cost )</a:t>
            </a:r>
          </a:p>
          <a:p>
            <a:pPr marL="127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        - Shift left testing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D9FA8540-165D-6261-D7C3-4E94E567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D115CBB-3A7A-9455-296A-784B2C619563}"/>
              </a:ext>
            </a:extLst>
          </p:cNvPr>
          <p:cNvCxnSpPr>
            <a:cxnSpLocks/>
          </p:cNvCxnSpPr>
          <p:nvPr/>
        </p:nvCxnSpPr>
        <p:spPr>
          <a:xfrm>
            <a:off x="2525117" y="2557127"/>
            <a:ext cx="1586324" cy="2962612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F3BCF07B-5434-51A5-B4CD-FC5AC10F31C9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4800898" y="2575212"/>
            <a:ext cx="1722454" cy="2944527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ata 46">
            <a:extLst>
              <a:ext uri="{FF2B5EF4-FFF2-40B4-BE49-F238E27FC236}">
                <a16:creationId xmlns:a16="http://schemas.microsoft.com/office/drawing/2014/main" id="{1C6406AE-A508-504E-D407-C886F719C694}"/>
              </a:ext>
            </a:extLst>
          </p:cNvPr>
          <p:cNvSpPr/>
          <p:nvPr/>
        </p:nvSpPr>
        <p:spPr>
          <a:xfrm>
            <a:off x="5859530" y="2055045"/>
            <a:ext cx="1659555" cy="520167"/>
          </a:xfrm>
          <a:prstGeom prst="flowChartInputOutpu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ata 45">
            <a:extLst>
              <a:ext uri="{FF2B5EF4-FFF2-40B4-BE49-F238E27FC236}">
                <a16:creationId xmlns:a16="http://schemas.microsoft.com/office/drawing/2014/main" id="{6397341C-188A-7A4D-488C-97845F49B7F4}"/>
              </a:ext>
            </a:extLst>
          </p:cNvPr>
          <p:cNvSpPr/>
          <p:nvPr/>
        </p:nvSpPr>
        <p:spPr>
          <a:xfrm>
            <a:off x="4567671" y="4438132"/>
            <a:ext cx="1659555" cy="520167"/>
          </a:xfrm>
          <a:prstGeom prst="flowChartInputOutpu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ata 44">
            <a:extLst>
              <a:ext uri="{FF2B5EF4-FFF2-40B4-BE49-F238E27FC236}">
                <a16:creationId xmlns:a16="http://schemas.microsoft.com/office/drawing/2014/main" id="{F6647FCF-6052-A23D-FDE0-51DEA56F6352}"/>
              </a:ext>
            </a:extLst>
          </p:cNvPr>
          <p:cNvSpPr/>
          <p:nvPr/>
        </p:nvSpPr>
        <p:spPr>
          <a:xfrm>
            <a:off x="5045808" y="3613725"/>
            <a:ext cx="1659555" cy="520167"/>
          </a:xfrm>
          <a:prstGeom prst="flowChartInputOutpu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5C92CCA1-5B95-A830-D89D-53521F1BBCB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FAF7EDA3-37F4-1BEB-BF1E-4DC10A68D8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FE95AA-EE18-CA1F-E697-79AEB9FE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414337"/>
            <a:ext cx="5596255" cy="492443"/>
          </a:xfrm>
        </p:spPr>
        <p:txBody>
          <a:bodyPr/>
          <a:lstStyle/>
          <a:p>
            <a:r>
              <a:rPr lang="en-US" dirty="0"/>
              <a:t>SLDC V-Model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F25AA5-08C7-953A-28C1-766CA02EF896}"/>
              </a:ext>
            </a:extLst>
          </p:cNvPr>
          <p:cNvCxnSpPr>
            <a:cxnSpLocks/>
            <a:stCxn id="53" idx="2"/>
            <a:endCxn id="34" idx="1"/>
          </p:cNvCxnSpPr>
          <p:nvPr/>
        </p:nvCxnSpPr>
        <p:spPr>
          <a:xfrm>
            <a:off x="3338489" y="3085779"/>
            <a:ext cx="2311982" cy="1160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562D98-E1AD-0B52-E431-E191775EF9E5}"/>
              </a:ext>
            </a:extLst>
          </p:cNvPr>
          <p:cNvCxnSpPr>
            <a:cxnSpLocks/>
            <a:stCxn id="52" idx="2"/>
            <a:endCxn id="45" idx="2"/>
          </p:cNvCxnSpPr>
          <p:nvPr/>
        </p:nvCxnSpPr>
        <p:spPr>
          <a:xfrm>
            <a:off x="3760002" y="3858999"/>
            <a:ext cx="1451762" cy="14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8F0FC7-BC47-D210-9C7A-E9862F155655}"/>
              </a:ext>
            </a:extLst>
          </p:cNvPr>
          <p:cNvCxnSpPr>
            <a:cxnSpLocks/>
            <a:stCxn id="51" idx="2"/>
            <a:endCxn id="46" idx="2"/>
          </p:cNvCxnSpPr>
          <p:nvPr/>
        </p:nvCxnSpPr>
        <p:spPr>
          <a:xfrm>
            <a:off x="4188039" y="4698216"/>
            <a:ext cx="545588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7A220F-1E1D-6C40-3B89-70505D196947}"/>
              </a:ext>
            </a:extLst>
          </p:cNvPr>
          <p:cNvCxnSpPr>
            <a:cxnSpLocks/>
            <a:stCxn id="54" idx="2"/>
            <a:endCxn id="47" idx="2"/>
          </p:cNvCxnSpPr>
          <p:nvPr/>
        </p:nvCxnSpPr>
        <p:spPr>
          <a:xfrm>
            <a:off x="3005313" y="2315128"/>
            <a:ext cx="3020173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a 3">
            <a:extLst>
              <a:ext uri="{FF2B5EF4-FFF2-40B4-BE49-F238E27FC236}">
                <a16:creationId xmlns:a16="http://schemas.microsoft.com/office/drawing/2014/main" id="{284862B0-BF7A-79B3-A896-BE3E42A66A1D}"/>
              </a:ext>
            </a:extLst>
          </p:cNvPr>
          <p:cNvSpPr/>
          <p:nvPr/>
        </p:nvSpPr>
        <p:spPr>
          <a:xfrm>
            <a:off x="5475978" y="2845945"/>
            <a:ext cx="1659555" cy="520167"/>
          </a:xfrm>
          <a:prstGeom prst="flowChartInputOutpu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163DAD-749A-C2FC-533F-2DC00D663B7D}"/>
              </a:ext>
            </a:extLst>
          </p:cNvPr>
          <p:cNvSpPr/>
          <p:nvPr/>
        </p:nvSpPr>
        <p:spPr>
          <a:xfrm>
            <a:off x="3562238" y="5522622"/>
            <a:ext cx="1717431" cy="35976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237B39-328B-94D8-E089-F0F87BA5CF57}"/>
              </a:ext>
            </a:extLst>
          </p:cNvPr>
          <p:cNvSpPr txBox="1"/>
          <p:nvPr/>
        </p:nvSpPr>
        <p:spPr>
          <a:xfrm>
            <a:off x="4966257" y="4602756"/>
            <a:ext cx="824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Unit testing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D49B6E-D1C1-A3C8-292E-38B523FD05D8}"/>
              </a:ext>
            </a:extLst>
          </p:cNvPr>
          <p:cNvSpPr txBox="1"/>
          <p:nvPr/>
        </p:nvSpPr>
        <p:spPr>
          <a:xfrm>
            <a:off x="5475978" y="3698218"/>
            <a:ext cx="87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Service testing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1AE8D1-342F-F1EE-8F97-95E3CE142CC9}"/>
              </a:ext>
            </a:extLst>
          </p:cNvPr>
          <p:cNvSpPr txBox="1"/>
          <p:nvPr/>
        </p:nvSpPr>
        <p:spPr>
          <a:xfrm>
            <a:off x="5650471" y="2897330"/>
            <a:ext cx="12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System / </a:t>
            </a:r>
          </a:p>
          <a:p>
            <a:pPr algn="ctr"/>
            <a:r>
              <a:rPr lang="en-US" sz="1000" dirty="0"/>
              <a:t>integration testing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21A563-45D8-77AE-12FC-8F71B5F02903}"/>
              </a:ext>
            </a:extLst>
          </p:cNvPr>
          <p:cNvSpPr txBox="1"/>
          <p:nvPr/>
        </p:nvSpPr>
        <p:spPr>
          <a:xfrm>
            <a:off x="6167265" y="2099534"/>
            <a:ext cx="87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Acceptance testing</a:t>
            </a:r>
          </a:p>
        </p:txBody>
      </p:sp>
      <p:sp>
        <p:nvSpPr>
          <p:cNvPr id="51" name="Data 50">
            <a:extLst>
              <a:ext uri="{FF2B5EF4-FFF2-40B4-BE49-F238E27FC236}">
                <a16:creationId xmlns:a16="http://schemas.microsoft.com/office/drawing/2014/main" id="{4261AB58-D81E-9B3C-4DF6-EBCE125DD56E}"/>
              </a:ext>
            </a:extLst>
          </p:cNvPr>
          <p:cNvSpPr/>
          <p:nvPr/>
        </p:nvSpPr>
        <p:spPr>
          <a:xfrm flipH="1">
            <a:off x="2782822" y="4453334"/>
            <a:ext cx="1561352" cy="489764"/>
          </a:xfrm>
          <a:prstGeom prst="flowChartInputOutpu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3D0B7093-ABD2-F87F-6C8A-B1DBAE395861}"/>
              </a:ext>
            </a:extLst>
          </p:cNvPr>
          <p:cNvSpPr/>
          <p:nvPr/>
        </p:nvSpPr>
        <p:spPr>
          <a:xfrm flipH="1">
            <a:off x="2354785" y="3614117"/>
            <a:ext cx="1561352" cy="489764"/>
          </a:xfrm>
          <a:prstGeom prst="flowChartInputOutpu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ata 52">
            <a:extLst>
              <a:ext uri="{FF2B5EF4-FFF2-40B4-BE49-F238E27FC236}">
                <a16:creationId xmlns:a16="http://schemas.microsoft.com/office/drawing/2014/main" id="{E3511099-E056-1CD9-C8A6-12D968C8660A}"/>
              </a:ext>
            </a:extLst>
          </p:cNvPr>
          <p:cNvSpPr/>
          <p:nvPr/>
        </p:nvSpPr>
        <p:spPr>
          <a:xfrm flipH="1">
            <a:off x="1933272" y="2840897"/>
            <a:ext cx="1561352" cy="489764"/>
          </a:xfrm>
          <a:prstGeom prst="flowChartInputOutpu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ata 53">
            <a:extLst>
              <a:ext uri="{FF2B5EF4-FFF2-40B4-BE49-F238E27FC236}">
                <a16:creationId xmlns:a16="http://schemas.microsoft.com/office/drawing/2014/main" id="{2B51323D-FBDD-F450-C2AB-BA70F2A0B139}"/>
              </a:ext>
            </a:extLst>
          </p:cNvPr>
          <p:cNvSpPr/>
          <p:nvPr/>
        </p:nvSpPr>
        <p:spPr>
          <a:xfrm flipH="1">
            <a:off x="1600096" y="2070246"/>
            <a:ext cx="1561352" cy="489764"/>
          </a:xfrm>
          <a:prstGeom prst="flowChartInputOutpu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264B2431-8A17-AFB5-AF27-7440689D8ADE}"/>
              </a:ext>
            </a:extLst>
          </p:cNvPr>
          <p:cNvSpPr txBox="1"/>
          <p:nvPr/>
        </p:nvSpPr>
        <p:spPr>
          <a:xfrm>
            <a:off x="4149878" y="5562610"/>
            <a:ext cx="653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Coding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78E16B7A-5490-FA99-ABE8-996612CE5621}"/>
              </a:ext>
            </a:extLst>
          </p:cNvPr>
          <p:cNvSpPr txBox="1"/>
          <p:nvPr/>
        </p:nvSpPr>
        <p:spPr>
          <a:xfrm>
            <a:off x="1894936" y="2115073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Business requirement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A54CA6AC-EE09-D9C9-468E-B9F64CBDF5F0}"/>
              </a:ext>
            </a:extLst>
          </p:cNvPr>
          <p:cNvSpPr txBox="1"/>
          <p:nvPr/>
        </p:nvSpPr>
        <p:spPr>
          <a:xfrm>
            <a:off x="2198649" y="2892953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System requirement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7B37CD-2770-E3B6-4D2D-10564EBC2EC7}"/>
              </a:ext>
            </a:extLst>
          </p:cNvPr>
          <p:cNvSpPr txBox="1"/>
          <p:nvPr/>
        </p:nvSpPr>
        <p:spPr>
          <a:xfrm>
            <a:off x="2656287" y="3661708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High level Design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E73925B1-03CB-9A54-8BCD-FE28313B76BF}"/>
              </a:ext>
            </a:extLst>
          </p:cNvPr>
          <p:cNvSpPr txBox="1"/>
          <p:nvPr/>
        </p:nvSpPr>
        <p:spPr>
          <a:xfrm>
            <a:off x="3092004" y="4516109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Low level Design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03966F31-098A-5827-4FC5-F7428E3B2ABD}"/>
              </a:ext>
            </a:extLst>
          </p:cNvPr>
          <p:cNvSpPr txBox="1"/>
          <p:nvPr/>
        </p:nvSpPr>
        <p:spPr>
          <a:xfrm>
            <a:off x="955554" y="1592522"/>
            <a:ext cx="267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Development lifecycle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AC735B12-0DDC-6B5C-92DE-2CFAA9730AE5}"/>
              </a:ext>
            </a:extLst>
          </p:cNvPr>
          <p:cNvSpPr txBox="1"/>
          <p:nvPr/>
        </p:nvSpPr>
        <p:spPr>
          <a:xfrm>
            <a:off x="5526467" y="1591489"/>
            <a:ext cx="267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Testing lifecycle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E16D17B-E3E5-688B-36CD-FF8DBA527919}"/>
              </a:ext>
            </a:extLst>
          </p:cNvPr>
          <p:cNvSpPr txBox="1"/>
          <p:nvPr/>
        </p:nvSpPr>
        <p:spPr>
          <a:xfrm rot="18092234">
            <a:off x="5575119" y="3689141"/>
            <a:ext cx="267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Validation phase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BF449176-8FD3-A48E-B4A3-CB036BF1DB33}"/>
              </a:ext>
            </a:extLst>
          </p:cNvPr>
          <p:cNvSpPr txBox="1"/>
          <p:nvPr/>
        </p:nvSpPr>
        <p:spPr>
          <a:xfrm rot="3562963">
            <a:off x="746793" y="3634545"/>
            <a:ext cx="267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Verification phase</a:t>
            </a:r>
          </a:p>
        </p:txBody>
      </p:sp>
    </p:spTree>
    <p:extLst>
      <p:ext uri="{BB962C8B-B14F-4D97-AF65-F5344CB8AC3E}">
        <p14:creationId xmlns:p14="http://schemas.microsoft.com/office/powerpoint/2010/main" val="255922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>
            <a:spLocks noGrp="1"/>
          </p:cNvSpPr>
          <p:nvPr>
            <p:ph type="title"/>
          </p:nvPr>
        </p:nvSpPr>
        <p:spPr>
          <a:xfrm>
            <a:off x="916900" y="3092801"/>
            <a:ext cx="5629556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Unit Testing</a:t>
            </a:r>
            <a:endParaRPr dirty="0"/>
          </a:p>
        </p:txBody>
      </p:sp>
      <p:sp>
        <p:nvSpPr>
          <p:cNvPr id="275" name="Google Shape;275;p28"/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276" name="Google Shape;276;p28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6FB0C751-4528-C620-AB64-5C813020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>
            <a:extLst>
              <a:ext uri="{FF2B5EF4-FFF2-40B4-BE49-F238E27FC236}">
                <a16:creationId xmlns:a16="http://schemas.microsoft.com/office/drawing/2014/main" id="{0273CE25-853D-2B74-DE8F-975F540F6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629556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Unit Testing</a:t>
            </a:r>
            <a:endParaRPr dirty="0"/>
          </a:p>
        </p:txBody>
      </p:sp>
      <p:sp>
        <p:nvSpPr>
          <p:cNvPr id="275" name="Google Shape;275;p28">
            <a:extLst>
              <a:ext uri="{FF2B5EF4-FFF2-40B4-BE49-F238E27FC236}">
                <a16:creationId xmlns:a16="http://schemas.microsoft.com/office/drawing/2014/main" id="{376AEECA-6C44-5F90-68E6-FFE3AB494D9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67881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276" name="Google Shape;276;p28">
            <a:extLst>
              <a:ext uri="{FF2B5EF4-FFF2-40B4-BE49-F238E27FC236}">
                <a16:creationId xmlns:a16="http://schemas.microsoft.com/office/drawing/2014/main" id="{E386ADAB-4600-BE7E-4249-7F3314714D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77" name="Google Shape;277;p28">
            <a:extLst>
              <a:ext uri="{FF2B5EF4-FFF2-40B4-BE49-F238E27FC236}">
                <a16:creationId xmlns:a16="http://schemas.microsoft.com/office/drawing/2014/main" id="{59CCF520-8A3C-74B7-96E6-006AF3C6037A}"/>
              </a:ext>
            </a:extLst>
          </p:cNvPr>
          <p:cNvSpPr txBox="1"/>
          <p:nvPr/>
        </p:nvSpPr>
        <p:spPr>
          <a:xfrm>
            <a:off x="390540" y="1579883"/>
            <a:ext cx="8613818" cy="1842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150" rIns="0" bIns="0" anchor="t" anchorCtr="0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Smallest testable unit </a:t>
            </a:r>
          </a:p>
          <a:p>
            <a:pPr marL="3556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AU" sz="1800" dirty="0">
                <a:latin typeface="Times New Roman"/>
                <a:ea typeface="Times New Roman"/>
                <a:cs typeface="Times New Roman"/>
                <a:sym typeface="Times New Roman"/>
              </a:rPr>
              <a:t>A white box testing, drafted by developers, </a:t>
            </a:r>
          </a:p>
          <a:p>
            <a:pPr marL="355600" marR="1127760" indent="-343535">
              <a:lnSpc>
                <a:spcPct val="106250"/>
              </a:lnSpc>
              <a:spcBef>
                <a:spcPts val="710"/>
              </a:spcBef>
              <a:buSzPts val="2400"/>
              <a:buFont typeface="Times New Roman"/>
              <a:buChar char="–"/>
            </a:pPr>
            <a:r>
              <a:rPr lang="en-AU" sz="1800" dirty="0">
                <a:latin typeface="Times New Roman"/>
                <a:cs typeface="Times New Roman"/>
              </a:rPr>
              <a:t>Code coverage, a measurement of the amount of code that is run by unit tests - either lines, branches, and methods, is </a:t>
            </a:r>
            <a:r>
              <a:rPr lang="en-AU" sz="1800" dirty="0">
                <a:latin typeface="Times New Roman"/>
                <a:cs typeface="Times New Roman"/>
                <a:sym typeface="Times New Roman"/>
              </a:rPr>
              <a:t>often &gt; 95%</a:t>
            </a:r>
            <a:endParaRPr sz="1800" dirty="0">
              <a:latin typeface="Times New Roman"/>
              <a:cs typeface="Times New Roman"/>
              <a:sym typeface="Times New Roman"/>
            </a:endParaRPr>
          </a:p>
          <a:p>
            <a:pPr marL="355600" indent="-342900">
              <a:buSzPts val="2400"/>
              <a:buFont typeface="Times New Roman"/>
              <a:buChar char="–"/>
            </a:pPr>
            <a:r>
              <a:rPr lang="en-AU" sz="1800" dirty="0">
                <a:latin typeface="Times New Roman"/>
                <a:cs typeface="Times New Roman"/>
              </a:rPr>
              <a:t>TDD,  the methodology where we create test cases before and in ongoing implementation. </a:t>
            </a:r>
            <a:endParaRPr sz="18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0D1DB-0C92-88B7-881F-7D9465EEE343}"/>
              </a:ext>
            </a:extLst>
          </p:cNvPr>
          <p:cNvSpPr txBox="1"/>
          <p:nvPr/>
        </p:nvSpPr>
        <p:spPr>
          <a:xfrm>
            <a:off x="265091" y="3553725"/>
            <a:ext cx="8613818" cy="858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lvl="0" indent="-3429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1600" i="1" dirty="0">
                <a:latin typeface="Times New Roman"/>
                <a:ea typeface="Times New Roman"/>
                <a:cs typeface="Times New Roman"/>
                <a:sym typeface="Times New Roman"/>
              </a:rPr>
              <a:t>How is class testing different from conventional testing?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3535" algn="l" rtl="0">
              <a:lnSpc>
                <a:spcPct val="90000"/>
              </a:lnSpc>
              <a:spcBef>
                <a:spcPts val="565"/>
              </a:spcBef>
              <a:spcAft>
                <a:spcPts val="0"/>
              </a:spcAft>
              <a:buSzPts val="2400"/>
              <a:buFont typeface="Times New Roman"/>
              <a:buChar char="–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Conventional testing focuses on input-process-output, whereas unit testing focuses on each method, then designing sequences of methods to exercise states of a class</a:t>
            </a:r>
          </a:p>
        </p:txBody>
      </p:sp>
    </p:spTree>
    <p:extLst>
      <p:ext uri="{BB962C8B-B14F-4D97-AF65-F5344CB8AC3E}">
        <p14:creationId xmlns:p14="http://schemas.microsoft.com/office/powerpoint/2010/main" val="64492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Unit Test Case Best Practices</a:t>
            </a:r>
            <a:endParaRPr dirty="0"/>
          </a:p>
        </p:txBody>
      </p:sp>
      <p:sp>
        <p:nvSpPr>
          <p:cNvPr id="317" name="Google Shape;317;p30"/>
          <p:cNvSpPr txBox="1">
            <a:spLocks noGrp="1"/>
          </p:cNvSpPr>
          <p:nvPr>
            <p:ph type="ftr" idx="11"/>
          </p:nvPr>
        </p:nvSpPr>
        <p:spPr>
          <a:xfrm>
            <a:off x="460375" y="6443663"/>
            <a:ext cx="1752986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18" name="Google Shape;318;p30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536575" y="1399476"/>
            <a:ext cx="8181900" cy="2700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900" lvl="0" indent="-4572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Follow naming convention (name should be insightful)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>
                <a:latin typeface="Times New Roman"/>
                <a:cs typeface="Times New Roman"/>
              </a:rPr>
              <a:t>"Arrange, Act, Assert" pattern – common approach</a:t>
            </a:r>
          </a:p>
          <a:p>
            <a:r>
              <a:rPr lang="en-AU" sz="2400" dirty="0">
                <a:latin typeface="Times New Roman"/>
                <a:cs typeface="Times New Roman"/>
              </a:rPr>
              <a:t>     - Arrange your objects, create, and configure them as necessary</a:t>
            </a:r>
          </a:p>
          <a:p>
            <a:r>
              <a:rPr lang="en-AU" sz="2400" dirty="0">
                <a:latin typeface="Times New Roman"/>
                <a:cs typeface="Times New Roman"/>
              </a:rPr>
              <a:t>     - Act on an object</a:t>
            </a:r>
          </a:p>
          <a:p>
            <a:r>
              <a:rPr lang="en-AU" sz="2400" dirty="0">
                <a:latin typeface="Times New Roman"/>
                <a:cs typeface="Times New Roman"/>
              </a:rPr>
              <a:t>    - Assert that something is as expected</a:t>
            </a:r>
          </a:p>
          <a:p>
            <a:pPr marL="469900" lvl="0" indent="-45720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SzPts val="2400"/>
              <a:buFont typeface="+mj-lt"/>
              <a:buAutoNum type="arabicPeriod" startAt="3"/>
            </a:pPr>
            <a:r>
              <a:rPr lang="en-AU" sz="2400" dirty="0">
                <a:latin typeface="Times New Roman"/>
                <a:ea typeface="Times New Roman"/>
                <a:cs typeface="Times New Roman"/>
                <a:sym typeface="Times New Roman"/>
              </a:rPr>
              <a:t>Mock external service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572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Font typeface="+mj-lt"/>
              <a:buAutoNum type="arabicPeriod" startAt="4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Automated unit testing tools facilitate these requirements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63B59C07-7FE6-A77C-AA1F-6E932E2D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>
            <a:extLst>
              <a:ext uri="{FF2B5EF4-FFF2-40B4-BE49-F238E27FC236}">
                <a16:creationId xmlns:a16="http://schemas.microsoft.com/office/drawing/2014/main" id="{40D98D67-1E67-1E59-869D-C1F2CF4F4BB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4" y="6473779"/>
            <a:ext cx="1510315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University of Sydney</a:t>
            </a:r>
            <a:endParaRPr dirty="0"/>
          </a:p>
        </p:txBody>
      </p:sp>
      <p:sp>
        <p:nvSpPr>
          <p:cNvPr id="276" name="Google Shape;276;p28">
            <a:extLst>
              <a:ext uri="{FF2B5EF4-FFF2-40B4-BE49-F238E27FC236}">
                <a16:creationId xmlns:a16="http://schemas.microsoft.com/office/drawing/2014/main" id="{0DED9439-380E-9050-A2D3-E9E05A94DE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A750D2-6D36-36C1-C639-00AB00A93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414337"/>
            <a:ext cx="7582666" cy="492443"/>
          </a:xfrm>
        </p:spPr>
        <p:txBody>
          <a:bodyPr/>
          <a:lstStyle/>
          <a:p>
            <a:r>
              <a:rPr lang="en-US" dirty="0"/>
              <a:t>Unit testing framework for Spring boot</a:t>
            </a:r>
          </a:p>
        </p:txBody>
      </p:sp>
      <p:pic>
        <p:nvPicPr>
          <p:cNvPr id="6" name="Picture 5" descr="A diagram of a test&#10;&#10;AI-generated content may be incorrect.">
            <a:extLst>
              <a:ext uri="{FF2B5EF4-FFF2-40B4-BE49-F238E27FC236}">
                <a16:creationId xmlns:a16="http://schemas.microsoft.com/office/drawing/2014/main" id="{98D82CE1-CA7D-547C-BBC0-E37C93884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27" y="1289991"/>
            <a:ext cx="2721002" cy="4800576"/>
          </a:xfrm>
          <a:prstGeom prst="rect">
            <a:avLst/>
          </a:prstGeom>
        </p:spPr>
      </p:pic>
      <p:pic>
        <p:nvPicPr>
          <p:cNvPr id="12290" name="Picture 2" descr="Spring batch junit mockito example discount">
            <a:extLst>
              <a:ext uri="{FF2B5EF4-FFF2-40B4-BE49-F238E27FC236}">
                <a16:creationId xmlns:a16="http://schemas.microsoft.com/office/drawing/2014/main" id="{E31D75CD-8E7C-76F9-639E-DE3774AB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857" y="2686591"/>
            <a:ext cx="2610737" cy="130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870EC3F7-1E4E-5BA0-245B-D4C3B08199AA}"/>
              </a:ext>
            </a:extLst>
          </p:cNvPr>
          <p:cNvSpPr/>
          <p:nvPr/>
        </p:nvSpPr>
        <p:spPr>
          <a:xfrm>
            <a:off x="5652210" y="2574426"/>
            <a:ext cx="615297" cy="1529697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2" name="Picture 4" descr="Customizing the Spring Boot Banner | by Leo Gutiérrez | The Startup | Medium">
            <a:extLst>
              <a:ext uri="{FF2B5EF4-FFF2-40B4-BE49-F238E27FC236}">
                <a16:creationId xmlns:a16="http://schemas.microsoft.com/office/drawing/2014/main" id="{10368A74-2EFC-8F9A-5EE1-A9D2DAA9A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709" y="2800177"/>
            <a:ext cx="2515786" cy="107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29195C71-2D7F-9C6B-0611-28242A1A2EE1}"/>
              </a:ext>
            </a:extLst>
          </p:cNvPr>
          <p:cNvCxnSpPr/>
          <p:nvPr/>
        </p:nvCxnSpPr>
        <p:spPr>
          <a:xfrm flipV="1">
            <a:off x="3063240" y="1792224"/>
            <a:ext cx="1325880" cy="782202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86BF3BE-3D33-E1D1-ED44-8C74F0925810}"/>
              </a:ext>
            </a:extLst>
          </p:cNvPr>
          <p:cNvSpPr txBox="1"/>
          <p:nvPr/>
        </p:nvSpPr>
        <p:spPr>
          <a:xfrm>
            <a:off x="4572000" y="1645920"/>
            <a:ext cx="2341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 Unit test framework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DB59387-C51B-9D55-0D3B-D9219F52D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23360" y="3749040"/>
            <a:ext cx="1088136" cy="667512"/>
          </a:xfrm>
          <a:prstGeom prst="curvedConnector3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4286A9-E859-62AE-37D2-0F9CE689876E}"/>
              </a:ext>
            </a:extLst>
          </p:cNvPr>
          <p:cNvSpPr txBox="1"/>
          <p:nvPr/>
        </p:nvSpPr>
        <p:spPr>
          <a:xfrm>
            <a:off x="4042517" y="4610102"/>
            <a:ext cx="3781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Mock dependencies (e.g. database)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EBBDE-63B0-C8D5-92CE-DD1DA98337FB}"/>
              </a:ext>
            </a:extLst>
          </p:cNvPr>
          <p:cNvSpPr txBox="1"/>
          <p:nvPr/>
        </p:nvSpPr>
        <p:spPr>
          <a:xfrm>
            <a:off x="4042517" y="4917879"/>
            <a:ext cx="2468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Define stubbing behavio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77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57A0B21B-B1A8-402B-15B7-3FA1A0129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>
            <a:extLst>
              <a:ext uri="{FF2B5EF4-FFF2-40B4-BE49-F238E27FC236}">
                <a16:creationId xmlns:a16="http://schemas.microsoft.com/office/drawing/2014/main" id="{7D272908-4F4E-EC55-337D-17BFFF257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00" y="3092801"/>
            <a:ext cx="5629556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Service Testing</a:t>
            </a:r>
            <a:endParaRPr dirty="0"/>
          </a:p>
        </p:txBody>
      </p:sp>
      <p:sp>
        <p:nvSpPr>
          <p:cNvPr id="275" name="Google Shape;275;p28">
            <a:extLst>
              <a:ext uri="{FF2B5EF4-FFF2-40B4-BE49-F238E27FC236}">
                <a16:creationId xmlns:a16="http://schemas.microsoft.com/office/drawing/2014/main" id="{FF9E9969-ABF7-4A12-B02F-DD56DF1E2C2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276" name="Google Shape;276;p28">
            <a:extLst>
              <a:ext uri="{FF2B5EF4-FFF2-40B4-BE49-F238E27FC236}">
                <a16:creationId xmlns:a16="http://schemas.microsoft.com/office/drawing/2014/main" id="{4DEB7879-C56A-E258-CBF6-01F6887BEB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345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98826076-E8EE-B87B-3BA9-D7613108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D49950-C587-4C6C-0426-EC112D4F7246}"/>
              </a:ext>
            </a:extLst>
          </p:cNvPr>
          <p:cNvSpPr/>
          <p:nvPr/>
        </p:nvSpPr>
        <p:spPr>
          <a:xfrm>
            <a:off x="2562848" y="2051594"/>
            <a:ext cx="3753468" cy="318733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5" name="Google Shape;275;p28">
            <a:extLst>
              <a:ext uri="{FF2B5EF4-FFF2-40B4-BE49-F238E27FC236}">
                <a16:creationId xmlns:a16="http://schemas.microsoft.com/office/drawing/2014/main" id="{88DBCFB6-AA1F-C77A-249A-D879065124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64578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University of Sydney</a:t>
            </a:r>
            <a:endParaRPr dirty="0"/>
          </a:p>
        </p:txBody>
      </p:sp>
      <p:sp>
        <p:nvSpPr>
          <p:cNvPr id="276" name="Google Shape;276;p28">
            <a:extLst>
              <a:ext uri="{FF2B5EF4-FFF2-40B4-BE49-F238E27FC236}">
                <a16:creationId xmlns:a16="http://schemas.microsoft.com/office/drawing/2014/main" id="{F9F07AE0-6AB6-C38F-AB62-1B52405A74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02E360-2058-CD8D-AA4C-18CEA17F3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414337"/>
            <a:ext cx="5596255" cy="492443"/>
          </a:xfrm>
        </p:spPr>
        <p:txBody>
          <a:bodyPr/>
          <a:lstStyle/>
          <a:p>
            <a:r>
              <a:rPr lang="en-US" dirty="0"/>
              <a:t>Functional test primarily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EFBCB0-75FB-7026-9EE9-050E91CE45CD}"/>
              </a:ext>
            </a:extLst>
          </p:cNvPr>
          <p:cNvSpPr/>
          <p:nvPr/>
        </p:nvSpPr>
        <p:spPr>
          <a:xfrm>
            <a:off x="2363802" y="2268131"/>
            <a:ext cx="362740" cy="24761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CD3456-6EDA-F392-3812-EE6B01FCC47E}"/>
              </a:ext>
            </a:extLst>
          </p:cNvPr>
          <p:cNvSpPr/>
          <p:nvPr/>
        </p:nvSpPr>
        <p:spPr>
          <a:xfrm>
            <a:off x="3970759" y="2536912"/>
            <a:ext cx="923610" cy="19150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920E9-C31F-882D-97C3-C1C9553DD002}"/>
              </a:ext>
            </a:extLst>
          </p:cNvPr>
          <p:cNvSpPr/>
          <p:nvPr/>
        </p:nvSpPr>
        <p:spPr>
          <a:xfrm>
            <a:off x="222218" y="1398362"/>
            <a:ext cx="21467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bg1">
                    <a:lumMod val="50000"/>
                  </a:schemeClr>
                </a:solidFill>
              </a:rPr>
              <a:t>API</a:t>
            </a:r>
            <a:r>
              <a:rPr lang="en-AU" sz="1400" b="1" i="1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en-AU" sz="1400" dirty="0">
                <a:solidFill>
                  <a:schemeClr val="bg1">
                    <a:lumMod val="50000"/>
                  </a:schemeClr>
                </a:solidFill>
              </a:rPr>
              <a:t>service contract</a:t>
            </a:r>
          </a:p>
        </p:txBody>
      </p:sp>
      <p:pic>
        <p:nvPicPr>
          <p:cNvPr id="9" name="Graphic 8" descr="Gears outline">
            <a:extLst>
              <a:ext uri="{FF2B5EF4-FFF2-40B4-BE49-F238E27FC236}">
                <a16:creationId xmlns:a16="http://schemas.microsoft.com/office/drawing/2014/main" id="{A6C7DDB3-BB11-A1FD-01A0-5D38F451A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9692" y="3016656"/>
            <a:ext cx="992224" cy="9922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3EA775-CA6D-9AC9-CB0E-36560B596906}"/>
              </a:ext>
            </a:extLst>
          </p:cNvPr>
          <p:cNvSpPr/>
          <p:nvPr/>
        </p:nvSpPr>
        <p:spPr>
          <a:xfrm>
            <a:off x="6067210" y="2268131"/>
            <a:ext cx="437041" cy="247616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CAEAB-2E26-A493-D153-C93DDB6982CA}"/>
              </a:ext>
            </a:extLst>
          </p:cNvPr>
          <p:cNvSpPr/>
          <p:nvPr/>
        </p:nvSpPr>
        <p:spPr>
          <a:xfrm>
            <a:off x="4238957" y="5365297"/>
            <a:ext cx="130817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tx1"/>
                </a:solidFill>
              </a:rPr>
              <a:t>service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EB623C-55F4-77CC-FAD3-87ED3A6A01B6}"/>
              </a:ext>
            </a:extLst>
          </p:cNvPr>
          <p:cNvSpPr/>
          <p:nvPr/>
        </p:nvSpPr>
        <p:spPr>
          <a:xfrm>
            <a:off x="6106868" y="5365296"/>
            <a:ext cx="16595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tx1"/>
                </a:solidFill>
              </a:rPr>
              <a:t>integration layer</a:t>
            </a:r>
          </a:p>
        </p:txBody>
      </p:sp>
      <p:sp>
        <p:nvSpPr>
          <p:cNvPr id="13" name="Magnetic Disk 12">
            <a:extLst>
              <a:ext uri="{FF2B5EF4-FFF2-40B4-BE49-F238E27FC236}">
                <a16:creationId xmlns:a16="http://schemas.microsoft.com/office/drawing/2014/main" id="{A3FA203C-710E-775E-4052-A726EC78F68E}"/>
              </a:ext>
            </a:extLst>
          </p:cNvPr>
          <p:cNvSpPr/>
          <p:nvPr/>
        </p:nvSpPr>
        <p:spPr>
          <a:xfrm>
            <a:off x="6874937" y="2508926"/>
            <a:ext cx="526764" cy="347957"/>
          </a:xfrm>
          <a:prstGeom prst="flowChartMagneticDisk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1F7562-E3A0-CC47-478F-72DA58162EE2}"/>
              </a:ext>
            </a:extLst>
          </p:cNvPr>
          <p:cNvSpPr/>
          <p:nvPr/>
        </p:nvSpPr>
        <p:spPr>
          <a:xfrm>
            <a:off x="1440161" y="5357520"/>
            <a:ext cx="15235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tx1"/>
                </a:solidFill>
              </a:rPr>
              <a:t>interface layer</a:t>
            </a:r>
          </a:p>
        </p:txBody>
      </p:sp>
      <p:pic>
        <p:nvPicPr>
          <p:cNvPr id="15" name="Graphic 14" descr="Document outline">
            <a:extLst>
              <a:ext uri="{FF2B5EF4-FFF2-40B4-BE49-F238E27FC236}">
                <a16:creationId xmlns:a16="http://schemas.microsoft.com/office/drawing/2014/main" id="{3D32655C-D467-0A49-C9D5-CD3EA8A7B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7502" y="3042099"/>
            <a:ext cx="711800" cy="4523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6184F9D-6A01-B302-E440-E6090BF5F179}"/>
              </a:ext>
            </a:extLst>
          </p:cNvPr>
          <p:cNvSpPr/>
          <p:nvPr/>
        </p:nvSpPr>
        <p:spPr>
          <a:xfrm>
            <a:off x="8418734" y="4068223"/>
            <a:ext cx="563777" cy="56142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191802-E147-212B-1EDB-03ED1282448C}"/>
              </a:ext>
            </a:extLst>
          </p:cNvPr>
          <p:cNvSpPr/>
          <p:nvPr/>
        </p:nvSpPr>
        <p:spPr>
          <a:xfrm>
            <a:off x="7777946" y="4751514"/>
            <a:ext cx="165951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002060"/>
                </a:solidFill>
              </a:rPr>
              <a:t>Remote system</a:t>
            </a:r>
            <a:endParaRPr lang="en-A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201752-52CA-93BA-5430-BE7F8F831BD5}"/>
              </a:ext>
            </a:extLst>
          </p:cNvPr>
          <p:cNvSpPr/>
          <p:nvPr/>
        </p:nvSpPr>
        <p:spPr>
          <a:xfrm>
            <a:off x="2216772" y="2694496"/>
            <a:ext cx="295634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F1450C-D9A8-C638-C7E6-301F947F5209}"/>
              </a:ext>
            </a:extLst>
          </p:cNvPr>
          <p:cNvSpPr/>
          <p:nvPr/>
        </p:nvSpPr>
        <p:spPr>
          <a:xfrm>
            <a:off x="2223262" y="3357798"/>
            <a:ext cx="295634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68F353-400C-3DA9-8771-68473B7621AB}"/>
              </a:ext>
            </a:extLst>
          </p:cNvPr>
          <p:cNvSpPr/>
          <p:nvPr/>
        </p:nvSpPr>
        <p:spPr>
          <a:xfrm>
            <a:off x="2216772" y="4008880"/>
            <a:ext cx="31114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89608BA-1257-3134-E6BB-7821B5B41C7E}"/>
              </a:ext>
            </a:extLst>
          </p:cNvPr>
          <p:cNvCxnSpPr>
            <a:cxnSpLocks/>
          </p:cNvCxnSpPr>
          <p:nvPr/>
        </p:nvCxnSpPr>
        <p:spPr>
          <a:xfrm>
            <a:off x="2918649" y="3506212"/>
            <a:ext cx="990269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184276-56BC-D106-89EB-B8724C081137}"/>
              </a:ext>
            </a:extLst>
          </p:cNvPr>
          <p:cNvCxnSpPr>
            <a:cxnSpLocks/>
          </p:cNvCxnSpPr>
          <p:nvPr/>
        </p:nvCxnSpPr>
        <p:spPr>
          <a:xfrm>
            <a:off x="4850060" y="3506212"/>
            <a:ext cx="697067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53F350-A8C3-0F1D-4F4F-E5D2920C449C}"/>
              </a:ext>
            </a:extLst>
          </p:cNvPr>
          <p:cNvCxnSpPr>
            <a:cxnSpLocks/>
            <a:stCxn id="33" idx="6"/>
            <a:endCxn id="13" idx="2"/>
          </p:cNvCxnSpPr>
          <p:nvPr/>
        </p:nvCxnSpPr>
        <p:spPr>
          <a:xfrm flipV="1">
            <a:off x="6418600" y="2682905"/>
            <a:ext cx="456337" cy="641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802C04-8B6D-E9A8-D5F7-F7DCCBB37FDB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6411215" y="3238758"/>
            <a:ext cx="52541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859674-3EA3-6662-F506-7CA8C6517177}"/>
              </a:ext>
            </a:extLst>
          </p:cNvPr>
          <p:cNvCxnSpPr>
            <a:cxnSpLocks/>
            <a:stCxn id="35" idx="6"/>
          </p:cNvCxnSpPr>
          <p:nvPr/>
        </p:nvCxnSpPr>
        <p:spPr>
          <a:xfrm>
            <a:off x="6409341" y="3828934"/>
            <a:ext cx="52309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94A4C5-70CC-F6C2-44FB-DD7BEC44ECA7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456796" y="4337853"/>
            <a:ext cx="1859055" cy="612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C29ADFB2-AF50-4E93-155D-CA4C0AA5AB76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rot="16200000" flipV="1">
            <a:off x="1639395" y="1362353"/>
            <a:ext cx="561992" cy="1249563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F7F7AE7E-3AAB-A8A3-0FBD-7CC6B2299271}"/>
              </a:ext>
            </a:extLst>
          </p:cNvPr>
          <p:cNvCxnSpPr>
            <a:cxnSpLocks/>
            <a:stCxn id="14" idx="0"/>
            <a:endCxn id="4" idx="2"/>
          </p:cNvCxnSpPr>
          <p:nvPr/>
        </p:nvCxnSpPr>
        <p:spPr>
          <a:xfrm rot="5400000" flipH="1" flipV="1">
            <a:off x="2066946" y="4879294"/>
            <a:ext cx="613226" cy="343226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C62C1F78-1AB3-7F2C-6DD4-F077A7716CBE}"/>
              </a:ext>
            </a:extLst>
          </p:cNvPr>
          <p:cNvCxnSpPr>
            <a:cxnSpLocks/>
            <a:stCxn id="11" idx="0"/>
            <a:endCxn id="6" idx="2"/>
          </p:cNvCxnSpPr>
          <p:nvPr/>
        </p:nvCxnSpPr>
        <p:spPr>
          <a:xfrm rot="16200000" flipV="1">
            <a:off x="4206154" y="4678409"/>
            <a:ext cx="913299" cy="460478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D9488C9E-DCE1-A802-0C67-9EF1B3AC684E}"/>
              </a:ext>
            </a:extLst>
          </p:cNvPr>
          <p:cNvCxnSpPr>
            <a:cxnSpLocks/>
            <a:endCxn id="10" idx="2"/>
          </p:cNvCxnSpPr>
          <p:nvPr/>
        </p:nvCxnSpPr>
        <p:spPr>
          <a:xfrm rot="16200000" flipV="1">
            <a:off x="6213701" y="4816325"/>
            <a:ext cx="626637" cy="482575"/>
          </a:xfrm>
          <a:prstGeom prst="curved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B278004-99DB-A87F-B430-B169D41BB5A7}"/>
              </a:ext>
            </a:extLst>
          </p:cNvPr>
          <p:cNvSpPr/>
          <p:nvPr/>
        </p:nvSpPr>
        <p:spPr>
          <a:xfrm>
            <a:off x="1749971" y="4337854"/>
            <a:ext cx="138978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tx1"/>
                </a:solidFill>
              </a:rPr>
              <a:t>API endpoints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F99E957-C402-760E-6AC6-F97CBCFC5806}"/>
              </a:ext>
            </a:extLst>
          </p:cNvPr>
          <p:cNvSpPr/>
          <p:nvPr/>
        </p:nvSpPr>
        <p:spPr>
          <a:xfrm>
            <a:off x="8315851" y="4190086"/>
            <a:ext cx="205765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CB77A4-3FB5-66EB-671C-47BC8EB48AA5}"/>
              </a:ext>
            </a:extLst>
          </p:cNvPr>
          <p:cNvSpPr/>
          <p:nvPr/>
        </p:nvSpPr>
        <p:spPr>
          <a:xfrm>
            <a:off x="6175839" y="2559849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1FEAA26-B74D-D5F5-CDEF-43B290938341}"/>
              </a:ext>
            </a:extLst>
          </p:cNvPr>
          <p:cNvSpPr/>
          <p:nvPr/>
        </p:nvSpPr>
        <p:spPr>
          <a:xfrm>
            <a:off x="6168454" y="3109285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7CAC2FE-9E82-F7C8-187D-EBC27D11C69C}"/>
              </a:ext>
            </a:extLst>
          </p:cNvPr>
          <p:cNvSpPr/>
          <p:nvPr/>
        </p:nvSpPr>
        <p:spPr>
          <a:xfrm>
            <a:off x="6166580" y="3699461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D535AF-558A-D2DD-6AD5-41CB3ECC65A1}"/>
              </a:ext>
            </a:extLst>
          </p:cNvPr>
          <p:cNvSpPr/>
          <p:nvPr/>
        </p:nvSpPr>
        <p:spPr>
          <a:xfrm>
            <a:off x="6186383" y="4192147"/>
            <a:ext cx="242761" cy="2589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C54D25E-BE27-C906-4CC7-C6FFB9A142D6}"/>
              </a:ext>
            </a:extLst>
          </p:cNvPr>
          <p:cNvCxnSpPr>
            <a:cxnSpLocks/>
          </p:cNvCxnSpPr>
          <p:nvPr/>
        </p:nvCxnSpPr>
        <p:spPr>
          <a:xfrm>
            <a:off x="7302785" y="3676444"/>
            <a:ext cx="16984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999BC7-5848-FBA1-A560-BC9A234F2613}"/>
              </a:ext>
            </a:extLst>
          </p:cNvPr>
          <p:cNvCxnSpPr>
            <a:cxnSpLocks/>
          </p:cNvCxnSpPr>
          <p:nvPr/>
        </p:nvCxnSpPr>
        <p:spPr>
          <a:xfrm>
            <a:off x="7042996" y="3679499"/>
            <a:ext cx="1240" cy="303319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3720C7-E953-B0A8-0DC9-74FDCB6EC52D}"/>
              </a:ext>
            </a:extLst>
          </p:cNvPr>
          <p:cNvCxnSpPr>
            <a:cxnSpLocks/>
          </p:cNvCxnSpPr>
          <p:nvPr/>
        </p:nvCxnSpPr>
        <p:spPr>
          <a:xfrm>
            <a:off x="7301545" y="3679499"/>
            <a:ext cx="1240" cy="303319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08D8C8-C16F-7B4D-1E25-3E920E0185A5}"/>
              </a:ext>
            </a:extLst>
          </p:cNvPr>
          <p:cNvCxnSpPr>
            <a:cxnSpLocks/>
          </p:cNvCxnSpPr>
          <p:nvPr/>
        </p:nvCxnSpPr>
        <p:spPr>
          <a:xfrm>
            <a:off x="7036586" y="3983525"/>
            <a:ext cx="26339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FA8636E-00E3-AA40-0DE6-BED5AAD19AE9}"/>
              </a:ext>
            </a:extLst>
          </p:cNvPr>
          <p:cNvCxnSpPr>
            <a:cxnSpLocks/>
          </p:cNvCxnSpPr>
          <p:nvPr/>
        </p:nvCxnSpPr>
        <p:spPr>
          <a:xfrm>
            <a:off x="7042996" y="3771845"/>
            <a:ext cx="2621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91E0F0-233A-C0AF-E504-0F27C9C7E218}"/>
              </a:ext>
            </a:extLst>
          </p:cNvPr>
          <p:cNvCxnSpPr>
            <a:cxnSpLocks/>
          </p:cNvCxnSpPr>
          <p:nvPr/>
        </p:nvCxnSpPr>
        <p:spPr>
          <a:xfrm>
            <a:off x="7025464" y="3875693"/>
            <a:ext cx="2621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3ECF1C0-1086-F7CD-DD0A-F7237643AA72}"/>
              </a:ext>
            </a:extLst>
          </p:cNvPr>
          <p:cNvCxnSpPr>
            <a:cxnSpLocks/>
          </p:cNvCxnSpPr>
          <p:nvPr/>
        </p:nvCxnSpPr>
        <p:spPr>
          <a:xfrm>
            <a:off x="6848285" y="3683188"/>
            <a:ext cx="16984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Arrow 47">
            <a:extLst>
              <a:ext uri="{FF2B5EF4-FFF2-40B4-BE49-F238E27FC236}">
                <a16:creationId xmlns:a16="http://schemas.microsoft.com/office/drawing/2014/main" id="{864E983B-3969-28DC-4E3E-A0268C2F028E}"/>
              </a:ext>
            </a:extLst>
          </p:cNvPr>
          <p:cNvSpPr/>
          <p:nvPr/>
        </p:nvSpPr>
        <p:spPr>
          <a:xfrm>
            <a:off x="1107049" y="2961618"/>
            <a:ext cx="397029" cy="956133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48EB46-C3DD-D881-6C3B-FCC04FE2E45C}"/>
              </a:ext>
            </a:extLst>
          </p:cNvPr>
          <p:cNvSpPr/>
          <p:nvPr/>
        </p:nvSpPr>
        <p:spPr>
          <a:xfrm>
            <a:off x="194604" y="3831158"/>
            <a:ext cx="16457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Traffic from clients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30FA193-7BAE-B9D6-B82B-1E36D92541E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512406" y="2848385"/>
            <a:ext cx="406243" cy="657827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993CBA16-A7BA-66C9-796E-9B4553E9AB78}"/>
              </a:ext>
            </a:extLst>
          </p:cNvPr>
          <p:cNvCxnSpPr>
            <a:cxnSpLocks/>
          </p:cNvCxnSpPr>
          <p:nvPr/>
        </p:nvCxnSpPr>
        <p:spPr>
          <a:xfrm>
            <a:off x="2536428" y="3506212"/>
            <a:ext cx="382221" cy="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A7013C4D-555D-7DB0-3F19-405053BCDD1F}"/>
              </a:ext>
            </a:extLst>
          </p:cNvPr>
          <p:cNvCxnSpPr>
            <a:cxnSpLocks/>
          </p:cNvCxnSpPr>
          <p:nvPr/>
        </p:nvCxnSpPr>
        <p:spPr>
          <a:xfrm flipV="1">
            <a:off x="2536428" y="3506212"/>
            <a:ext cx="367813" cy="632723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0488EE57-1FCF-F532-58A5-1C60EA8E4274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5478772" y="2689322"/>
            <a:ext cx="697067" cy="816890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3F6CCDB9-6B73-4425-D170-D92170136BB9}"/>
              </a:ext>
            </a:extLst>
          </p:cNvPr>
          <p:cNvCxnSpPr>
            <a:cxnSpLocks/>
          </p:cNvCxnSpPr>
          <p:nvPr/>
        </p:nvCxnSpPr>
        <p:spPr>
          <a:xfrm>
            <a:off x="5470354" y="3506212"/>
            <a:ext cx="705485" cy="890432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9B857983-509C-D893-06FE-2BC4C9784308}"/>
              </a:ext>
            </a:extLst>
          </p:cNvPr>
          <p:cNvCxnSpPr>
            <a:cxnSpLocks/>
          </p:cNvCxnSpPr>
          <p:nvPr/>
        </p:nvCxnSpPr>
        <p:spPr>
          <a:xfrm flipV="1">
            <a:off x="5502210" y="3238758"/>
            <a:ext cx="654374" cy="267454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CC7C0282-A3F9-2173-1D0A-9F38E8DFEBC0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5528465" y="3506212"/>
            <a:ext cx="638115" cy="322722"/>
          </a:xfrm>
          <a:prstGeom prst="straightConnector1">
            <a:avLst/>
          </a:prstGeom>
          <a:ln w="38100">
            <a:solidFill>
              <a:srgbClr val="00206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1B3194FC-C689-69FD-02F8-66161C562365}"/>
              </a:ext>
            </a:extLst>
          </p:cNvPr>
          <p:cNvCxnSpPr>
            <a:cxnSpLocks/>
          </p:cNvCxnSpPr>
          <p:nvPr/>
        </p:nvCxnSpPr>
        <p:spPr>
          <a:xfrm>
            <a:off x="2178161" y="6022845"/>
            <a:ext cx="5121820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276ECDFF-1D5E-0B0C-4667-3E51554AAC40}"/>
              </a:ext>
            </a:extLst>
          </p:cNvPr>
          <p:cNvSpPr txBox="1"/>
          <p:nvPr/>
        </p:nvSpPr>
        <p:spPr>
          <a:xfrm>
            <a:off x="3838384" y="5868956"/>
            <a:ext cx="164883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bg1">
                    <a:lumMod val="50000"/>
                  </a:schemeClr>
                </a:solidFill>
              </a:rPr>
              <a:t>TESTING SCOPE</a:t>
            </a:r>
          </a:p>
        </p:txBody>
      </p:sp>
    </p:spTree>
    <p:extLst>
      <p:ext uri="{BB962C8B-B14F-4D97-AF65-F5344CB8AC3E}">
        <p14:creationId xmlns:p14="http://schemas.microsoft.com/office/powerpoint/2010/main" val="311780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DF28D43F-E8A6-1384-8F7F-86323A97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>
            <a:extLst>
              <a:ext uri="{FF2B5EF4-FFF2-40B4-BE49-F238E27FC236}">
                <a16:creationId xmlns:a16="http://schemas.microsoft.com/office/drawing/2014/main" id="{C62771D0-D97B-D912-D7A2-A383E3FE0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00" y="3092801"/>
            <a:ext cx="5629556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Integration Testing</a:t>
            </a:r>
            <a:endParaRPr dirty="0"/>
          </a:p>
        </p:txBody>
      </p:sp>
      <p:sp>
        <p:nvSpPr>
          <p:cNvPr id="275" name="Google Shape;275;p28">
            <a:extLst>
              <a:ext uri="{FF2B5EF4-FFF2-40B4-BE49-F238E27FC236}">
                <a16:creationId xmlns:a16="http://schemas.microsoft.com/office/drawing/2014/main" id="{2FA7609F-0EB3-F12B-A62E-436F6AC458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276" name="Google Shape;276;p28">
            <a:extLst>
              <a:ext uri="{FF2B5EF4-FFF2-40B4-BE49-F238E27FC236}">
                <a16:creationId xmlns:a16="http://schemas.microsoft.com/office/drawing/2014/main" id="{4892754E-1216-662E-E23A-93AD4D726E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0133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872614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Integration Testing?</a:t>
            </a:r>
            <a:endParaRPr dirty="0"/>
          </a:p>
        </p:txBody>
      </p:sp>
      <p:sp>
        <p:nvSpPr>
          <p:cNvPr id="344" name="Google Shape;344;p33"/>
          <p:cNvSpPr txBox="1">
            <a:spLocks noGrp="1"/>
          </p:cNvSpPr>
          <p:nvPr>
            <p:ph type="ftr" idx="11"/>
          </p:nvPr>
        </p:nvSpPr>
        <p:spPr>
          <a:xfrm>
            <a:off x="460375" y="6383709"/>
            <a:ext cx="150515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45" name="Google Shape;345;p33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2305D-D196-14A7-0453-6D07572F5A9C}"/>
              </a:ext>
            </a:extLst>
          </p:cNvPr>
          <p:cNvSpPr/>
          <p:nvPr/>
        </p:nvSpPr>
        <p:spPr>
          <a:xfrm>
            <a:off x="1766560" y="3175569"/>
            <a:ext cx="1993590" cy="3931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F3CCE-59D4-BD92-D7CB-FC9A610C584B}"/>
              </a:ext>
            </a:extLst>
          </p:cNvPr>
          <p:cNvSpPr/>
          <p:nvPr/>
        </p:nvSpPr>
        <p:spPr>
          <a:xfrm>
            <a:off x="4486546" y="3175569"/>
            <a:ext cx="1993590" cy="3931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SERVICE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44910B50-EEB9-BE66-4C2E-4A80AC10935C}"/>
              </a:ext>
            </a:extLst>
          </p:cNvPr>
          <p:cNvSpPr/>
          <p:nvPr/>
        </p:nvSpPr>
        <p:spPr>
          <a:xfrm>
            <a:off x="6978209" y="3086460"/>
            <a:ext cx="405360" cy="571324"/>
          </a:xfrm>
          <a:prstGeom prst="ca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009636-8C24-3294-A080-0C478E008CCD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6480136" y="3372122"/>
            <a:ext cx="498073" cy="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1E2096-6CA8-8D44-8439-7C6224A90838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3760150" y="3372123"/>
            <a:ext cx="72639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43F5D80-CCE3-E633-BD5F-18679A154D04}"/>
              </a:ext>
            </a:extLst>
          </p:cNvPr>
          <p:cNvSpPr txBox="1"/>
          <p:nvPr/>
        </p:nvSpPr>
        <p:spPr>
          <a:xfrm>
            <a:off x="1838364" y="4103512"/>
            <a:ext cx="529636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chemeClr val="bg1">
                    <a:lumMod val="50000"/>
                  </a:schemeClr>
                </a:solidFill>
              </a:rPr>
              <a:t>CONCEPTUAL MODEL OF A SIGNLE WEB APPLICATION</a:t>
            </a:r>
            <a:endParaRPr lang="en-AU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F3DAE2F-4F7B-5029-4F74-9F38AA05A0DD}"/>
              </a:ext>
            </a:extLst>
          </p:cNvPr>
          <p:cNvCxnSpPr/>
          <p:nvPr/>
        </p:nvCxnSpPr>
        <p:spPr>
          <a:xfrm rot="5400000" flipH="1" flipV="1">
            <a:off x="4234069" y="2126974"/>
            <a:ext cx="874644" cy="866692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422507-FCFC-5DDD-EB54-B3ED7FD33397}"/>
              </a:ext>
            </a:extLst>
          </p:cNvPr>
          <p:cNvSpPr txBox="1"/>
          <p:nvPr/>
        </p:nvSpPr>
        <p:spPr>
          <a:xfrm>
            <a:off x="4238045" y="1749287"/>
            <a:ext cx="2740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Monolithic architecture style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370C90D-0BFE-7E74-B964-A89AF3ED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6EF5D16-C82A-74D5-B15B-EFAFAB4CA3F9}"/>
              </a:ext>
            </a:extLst>
          </p:cNvPr>
          <p:cNvSpPr/>
          <p:nvPr/>
        </p:nvSpPr>
        <p:spPr>
          <a:xfrm>
            <a:off x="8104690" y="5172483"/>
            <a:ext cx="632020" cy="3704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23EFFF5-C2BB-BE70-8183-50EC4A73CD42}"/>
              </a:ext>
            </a:extLst>
          </p:cNvPr>
          <p:cNvSpPr/>
          <p:nvPr/>
        </p:nvSpPr>
        <p:spPr>
          <a:xfrm>
            <a:off x="8104690" y="1852296"/>
            <a:ext cx="632020" cy="3704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5CF8F-1058-5D26-6585-233DF8E2B5F9}"/>
              </a:ext>
            </a:extLst>
          </p:cNvPr>
          <p:cNvSpPr/>
          <p:nvPr/>
        </p:nvSpPr>
        <p:spPr>
          <a:xfrm>
            <a:off x="957378" y="1794615"/>
            <a:ext cx="6003396" cy="378842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23672DA-A6FA-3DFE-2CCA-E6F46629B6A3}"/>
              </a:ext>
            </a:extLst>
          </p:cNvPr>
          <p:cNvSpPr/>
          <p:nvPr/>
        </p:nvSpPr>
        <p:spPr>
          <a:xfrm>
            <a:off x="318939" y="3034930"/>
            <a:ext cx="1398146" cy="48427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WEB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APPLICATION</a:t>
            </a:r>
          </a:p>
        </p:txBody>
      </p:sp>
      <p:sp>
        <p:nvSpPr>
          <p:cNvPr id="340" name="Google Shape;340;p33">
            <a:extLst>
              <a:ext uri="{FF2B5EF4-FFF2-40B4-BE49-F238E27FC236}">
                <a16:creationId xmlns:a16="http://schemas.microsoft.com/office/drawing/2014/main" id="{847799BF-432E-22B0-E79C-3F0A0CA539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6535344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Integration Testing?</a:t>
            </a:r>
            <a:endParaRPr dirty="0"/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3C7A53C7-6216-607F-DE14-F4C8291B52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383709"/>
            <a:ext cx="150515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139CE0AB-F0E5-8006-0A85-3E0AE80999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7" name="Regular Pentagon 6">
            <a:extLst>
              <a:ext uri="{FF2B5EF4-FFF2-40B4-BE49-F238E27FC236}">
                <a16:creationId xmlns:a16="http://schemas.microsoft.com/office/drawing/2014/main" id="{263D9F33-522C-2D23-CC68-0FE868DC00D7}"/>
              </a:ext>
            </a:extLst>
          </p:cNvPr>
          <p:cNvSpPr/>
          <p:nvPr/>
        </p:nvSpPr>
        <p:spPr>
          <a:xfrm flipH="1">
            <a:off x="5532426" y="2344713"/>
            <a:ext cx="563562" cy="501650"/>
          </a:xfrm>
          <a:prstGeom prst="pentagon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8" name="Regular Pentagon 7">
            <a:extLst>
              <a:ext uri="{FF2B5EF4-FFF2-40B4-BE49-F238E27FC236}">
                <a16:creationId xmlns:a16="http://schemas.microsoft.com/office/drawing/2014/main" id="{CE9BB7B7-BBB2-8F11-82F3-4DBFC4CBAE78}"/>
              </a:ext>
            </a:extLst>
          </p:cNvPr>
          <p:cNvSpPr/>
          <p:nvPr/>
        </p:nvSpPr>
        <p:spPr>
          <a:xfrm flipH="1">
            <a:off x="5590325" y="3519648"/>
            <a:ext cx="563562" cy="501650"/>
          </a:xfrm>
          <a:prstGeom prst="pentagon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11" name="Regular Pentagon 10">
            <a:extLst>
              <a:ext uri="{FF2B5EF4-FFF2-40B4-BE49-F238E27FC236}">
                <a16:creationId xmlns:a16="http://schemas.microsoft.com/office/drawing/2014/main" id="{66AF5B4A-B8EE-0874-A6DC-6AD1153800AB}"/>
              </a:ext>
            </a:extLst>
          </p:cNvPr>
          <p:cNvSpPr/>
          <p:nvPr/>
        </p:nvSpPr>
        <p:spPr>
          <a:xfrm flipH="1">
            <a:off x="5613344" y="4537753"/>
            <a:ext cx="563563" cy="501650"/>
          </a:xfrm>
          <a:prstGeom prst="pentagon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57845B-9DBE-08AD-3222-4DEA7E61C1A9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4355558" y="2547754"/>
            <a:ext cx="1151851" cy="984519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1520F2-33EF-C9E6-D68C-228A214B258F}"/>
              </a:ext>
            </a:extLst>
          </p:cNvPr>
          <p:cNvCxnSpPr>
            <a:cxnSpLocks/>
          </p:cNvCxnSpPr>
          <p:nvPr/>
        </p:nvCxnSpPr>
        <p:spPr>
          <a:xfrm>
            <a:off x="4398589" y="3774113"/>
            <a:ext cx="1028222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E2EB78-ADDE-D8C9-1683-0147EA85F735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4440479" y="3985793"/>
            <a:ext cx="1086194" cy="807202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3D882-854E-8DF7-D81F-F7854F7449A9}"/>
              </a:ext>
            </a:extLst>
          </p:cNvPr>
          <p:cNvSpPr/>
          <p:nvPr/>
        </p:nvSpPr>
        <p:spPr>
          <a:xfrm>
            <a:off x="8008129" y="5254706"/>
            <a:ext cx="156383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06575781-9D9B-AB73-8497-3A823CA1053A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rot="10800000">
            <a:off x="5895125" y="5039404"/>
            <a:ext cx="2113004" cy="319949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loud 17">
            <a:extLst>
              <a:ext uri="{FF2B5EF4-FFF2-40B4-BE49-F238E27FC236}">
                <a16:creationId xmlns:a16="http://schemas.microsoft.com/office/drawing/2014/main" id="{CB747420-27E2-6C63-B711-64FDC25C92CE}"/>
              </a:ext>
            </a:extLst>
          </p:cNvPr>
          <p:cNvSpPr/>
          <p:nvPr/>
        </p:nvSpPr>
        <p:spPr>
          <a:xfrm>
            <a:off x="7177752" y="5171414"/>
            <a:ext cx="553577" cy="384949"/>
          </a:xfrm>
          <a:prstGeom prst="cloud">
            <a:avLst/>
          </a:prstGeom>
          <a:solidFill>
            <a:schemeClr val="bg1"/>
          </a:solid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46A442-3BA2-126C-6780-2E0BB9C1B42E}"/>
              </a:ext>
            </a:extLst>
          </p:cNvPr>
          <p:cNvSpPr txBox="1"/>
          <p:nvPr/>
        </p:nvSpPr>
        <p:spPr>
          <a:xfrm>
            <a:off x="4932738" y="5019741"/>
            <a:ext cx="18580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Customer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91E6A-197F-D44F-4B5A-2D84D1E3E394}"/>
              </a:ext>
            </a:extLst>
          </p:cNvPr>
          <p:cNvSpPr txBox="1"/>
          <p:nvPr/>
        </p:nvSpPr>
        <p:spPr>
          <a:xfrm>
            <a:off x="7343139" y="4782409"/>
            <a:ext cx="1484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checking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2E0D15-B750-72E1-A7E0-EB34DAF4E23B}"/>
              </a:ext>
            </a:extLst>
          </p:cNvPr>
          <p:cNvSpPr txBox="1"/>
          <p:nvPr/>
        </p:nvSpPr>
        <p:spPr>
          <a:xfrm>
            <a:off x="5381385" y="4023493"/>
            <a:ext cx="1796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Inventory management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082D24-B2D4-4BCE-F072-526169415E63}"/>
              </a:ext>
            </a:extLst>
          </p:cNvPr>
          <p:cNvSpPr txBox="1"/>
          <p:nvPr/>
        </p:nvSpPr>
        <p:spPr>
          <a:xfrm>
            <a:off x="5248314" y="2838027"/>
            <a:ext cx="1911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Account management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F050E2-4CF0-6EBA-E790-B1CD6CBEE2E0}"/>
              </a:ext>
            </a:extLst>
          </p:cNvPr>
          <p:cNvSpPr/>
          <p:nvPr/>
        </p:nvSpPr>
        <p:spPr>
          <a:xfrm>
            <a:off x="8033173" y="1953498"/>
            <a:ext cx="139885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F5AC2F-5E0C-7CB0-EB92-23024731BC2B}"/>
              </a:ext>
            </a:extLst>
          </p:cNvPr>
          <p:cNvSpPr txBox="1"/>
          <p:nvPr/>
        </p:nvSpPr>
        <p:spPr>
          <a:xfrm>
            <a:off x="7856152" y="2227861"/>
            <a:ext cx="1129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Credit card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B98A6F5E-ADD1-2585-0FBC-1503A0AE656B}"/>
              </a:ext>
            </a:extLst>
          </p:cNvPr>
          <p:cNvCxnSpPr>
            <a:cxnSpLocks/>
            <a:stCxn id="26" idx="1"/>
            <a:endCxn id="7" idx="0"/>
          </p:cNvCxnSpPr>
          <p:nvPr/>
        </p:nvCxnSpPr>
        <p:spPr>
          <a:xfrm rot="10800000" flipV="1">
            <a:off x="5814207" y="2058143"/>
            <a:ext cx="2218966" cy="286569"/>
          </a:xfrm>
          <a:prstGeom prst="bentConnector2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loud 28">
            <a:extLst>
              <a:ext uri="{FF2B5EF4-FFF2-40B4-BE49-F238E27FC236}">
                <a16:creationId xmlns:a16="http://schemas.microsoft.com/office/drawing/2014/main" id="{66C44850-6CF2-2EF6-82FE-C04EE41F2D90}"/>
              </a:ext>
            </a:extLst>
          </p:cNvPr>
          <p:cNvSpPr/>
          <p:nvPr/>
        </p:nvSpPr>
        <p:spPr>
          <a:xfrm>
            <a:off x="7133610" y="1908573"/>
            <a:ext cx="471093" cy="307777"/>
          </a:xfrm>
          <a:prstGeom prst="cloud">
            <a:avLst/>
          </a:prstGeom>
          <a:solidFill>
            <a:schemeClr val="bg1"/>
          </a:solid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Flowchart: Magnetic Disk 12">
            <a:extLst>
              <a:ext uri="{FF2B5EF4-FFF2-40B4-BE49-F238E27FC236}">
                <a16:creationId xmlns:a16="http://schemas.microsoft.com/office/drawing/2014/main" id="{41AB483D-5858-B435-53DC-3AA0427A551D}"/>
              </a:ext>
            </a:extLst>
          </p:cNvPr>
          <p:cNvSpPr/>
          <p:nvPr/>
        </p:nvSpPr>
        <p:spPr>
          <a:xfrm>
            <a:off x="6365177" y="2443108"/>
            <a:ext cx="282196" cy="319105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2" name="Flowchart: Magnetic Disk 13">
            <a:extLst>
              <a:ext uri="{FF2B5EF4-FFF2-40B4-BE49-F238E27FC236}">
                <a16:creationId xmlns:a16="http://schemas.microsoft.com/office/drawing/2014/main" id="{7691FC81-8944-01AC-179F-312BC35CB626}"/>
              </a:ext>
            </a:extLst>
          </p:cNvPr>
          <p:cNvSpPr/>
          <p:nvPr/>
        </p:nvSpPr>
        <p:spPr>
          <a:xfrm>
            <a:off x="6408151" y="3630158"/>
            <a:ext cx="251056" cy="383504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3" name="Flowchart: Magnetic Disk 14">
            <a:extLst>
              <a:ext uri="{FF2B5EF4-FFF2-40B4-BE49-F238E27FC236}">
                <a16:creationId xmlns:a16="http://schemas.microsoft.com/office/drawing/2014/main" id="{B0A1887D-E863-10EE-AB85-8351BA2F045B}"/>
              </a:ext>
            </a:extLst>
          </p:cNvPr>
          <p:cNvSpPr/>
          <p:nvPr/>
        </p:nvSpPr>
        <p:spPr>
          <a:xfrm>
            <a:off x="6455566" y="4659582"/>
            <a:ext cx="281782" cy="383504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EBF2A2A-8324-8F8A-3B18-12EF1EF05310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6095987" y="2536326"/>
            <a:ext cx="3020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30F0C3F-9BB4-3241-8FB1-48A1E63C8569}"/>
              </a:ext>
            </a:extLst>
          </p:cNvPr>
          <p:cNvCxnSpPr>
            <a:cxnSpLocks/>
            <a:stCxn id="8" idx="1"/>
          </p:cNvCxnSpPr>
          <p:nvPr/>
        </p:nvCxnSpPr>
        <p:spPr>
          <a:xfrm>
            <a:off x="6153886" y="3711261"/>
            <a:ext cx="1431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4A874E-BD23-AC15-A2BC-70884720C844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6176906" y="4729366"/>
            <a:ext cx="446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97F528-95E8-3E8E-9D5C-81D50848BB57}"/>
              </a:ext>
            </a:extLst>
          </p:cNvPr>
          <p:cNvCxnSpPr>
            <a:cxnSpLocks/>
          </p:cNvCxnSpPr>
          <p:nvPr/>
        </p:nvCxnSpPr>
        <p:spPr>
          <a:xfrm>
            <a:off x="4193723" y="3648551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5D23F7-A47B-4A3C-DAB3-9AB4CC08E34A}"/>
              </a:ext>
            </a:extLst>
          </p:cNvPr>
          <p:cNvCxnSpPr>
            <a:cxnSpLocks/>
          </p:cNvCxnSpPr>
          <p:nvPr/>
        </p:nvCxnSpPr>
        <p:spPr>
          <a:xfrm>
            <a:off x="3933934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D09459-6A1D-FBB3-BE18-E0AA65DAB872}"/>
              </a:ext>
            </a:extLst>
          </p:cNvPr>
          <p:cNvCxnSpPr>
            <a:cxnSpLocks/>
          </p:cNvCxnSpPr>
          <p:nvPr/>
        </p:nvCxnSpPr>
        <p:spPr>
          <a:xfrm>
            <a:off x="4192483" y="3651606"/>
            <a:ext cx="1240" cy="3033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62A265-5130-A946-8101-88D5C4C6F87E}"/>
              </a:ext>
            </a:extLst>
          </p:cNvPr>
          <p:cNvCxnSpPr>
            <a:cxnSpLocks/>
          </p:cNvCxnSpPr>
          <p:nvPr/>
        </p:nvCxnSpPr>
        <p:spPr>
          <a:xfrm>
            <a:off x="3927524" y="3955632"/>
            <a:ext cx="26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2C66B08-147C-072A-DA8D-E13B3BFF1276}"/>
              </a:ext>
            </a:extLst>
          </p:cNvPr>
          <p:cNvCxnSpPr>
            <a:cxnSpLocks/>
          </p:cNvCxnSpPr>
          <p:nvPr/>
        </p:nvCxnSpPr>
        <p:spPr>
          <a:xfrm>
            <a:off x="3933934" y="3743952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D79FEBF-CEA0-BD36-37F4-369641E4314C}"/>
              </a:ext>
            </a:extLst>
          </p:cNvPr>
          <p:cNvCxnSpPr>
            <a:cxnSpLocks/>
          </p:cNvCxnSpPr>
          <p:nvPr/>
        </p:nvCxnSpPr>
        <p:spPr>
          <a:xfrm>
            <a:off x="3916402" y="3847800"/>
            <a:ext cx="2621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9364E-96EF-E1EB-C316-E37434768F9E}"/>
              </a:ext>
            </a:extLst>
          </p:cNvPr>
          <p:cNvCxnSpPr>
            <a:cxnSpLocks/>
          </p:cNvCxnSpPr>
          <p:nvPr/>
        </p:nvCxnSpPr>
        <p:spPr>
          <a:xfrm>
            <a:off x="3739223" y="3655295"/>
            <a:ext cx="1698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Line arrow: Clockwise curve with solid fill">
            <a:extLst>
              <a:ext uri="{FF2B5EF4-FFF2-40B4-BE49-F238E27FC236}">
                <a16:creationId xmlns:a16="http://schemas.microsoft.com/office/drawing/2014/main" id="{F3DC247E-2C85-5D55-5E44-72D3CA904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363779">
            <a:off x="3537240" y="3198447"/>
            <a:ext cx="689205" cy="379383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744F95-E2C0-16E6-F9A6-5C235B9F9ED5}"/>
              </a:ext>
            </a:extLst>
          </p:cNvPr>
          <p:cNvCxnSpPr>
            <a:cxnSpLocks/>
          </p:cNvCxnSpPr>
          <p:nvPr/>
        </p:nvCxnSpPr>
        <p:spPr>
          <a:xfrm>
            <a:off x="1717085" y="3271096"/>
            <a:ext cx="284103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Magnetic Disk 12">
            <a:extLst>
              <a:ext uri="{FF2B5EF4-FFF2-40B4-BE49-F238E27FC236}">
                <a16:creationId xmlns:a16="http://schemas.microsoft.com/office/drawing/2014/main" id="{FB41D490-F138-C109-9FB4-DF5BF9633A58}"/>
              </a:ext>
            </a:extLst>
          </p:cNvPr>
          <p:cNvSpPr/>
          <p:nvPr/>
        </p:nvSpPr>
        <p:spPr>
          <a:xfrm>
            <a:off x="2183226" y="3821910"/>
            <a:ext cx="415293" cy="383504"/>
          </a:xfrm>
          <a:prstGeom prst="flowChartMagneticDisk">
            <a:avLst/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0051608-6C5E-0BAB-B58B-71F3F1EA8742}"/>
              </a:ext>
            </a:extLst>
          </p:cNvPr>
          <p:cNvSpPr/>
          <p:nvPr/>
        </p:nvSpPr>
        <p:spPr>
          <a:xfrm>
            <a:off x="5507409" y="2443108"/>
            <a:ext cx="182849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C00E30-8FAA-FBD5-5466-5F2732C3CE4E}"/>
              </a:ext>
            </a:extLst>
          </p:cNvPr>
          <p:cNvSpPr/>
          <p:nvPr/>
        </p:nvSpPr>
        <p:spPr>
          <a:xfrm>
            <a:off x="5542079" y="3648075"/>
            <a:ext cx="192667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7AB7BF-A74A-775D-1E9B-0BDB943783C5}"/>
              </a:ext>
            </a:extLst>
          </p:cNvPr>
          <p:cNvSpPr/>
          <p:nvPr/>
        </p:nvSpPr>
        <p:spPr>
          <a:xfrm>
            <a:off x="5526673" y="4688349"/>
            <a:ext cx="190981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58D8937-146F-2221-957B-F5B78374EE21}"/>
              </a:ext>
            </a:extLst>
          </p:cNvPr>
          <p:cNvCxnSpPr/>
          <p:nvPr/>
        </p:nvCxnSpPr>
        <p:spPr>
          <a:xfrm flipV="1">
            <a:off x="905854" y="5938747"/>
            <a:ext cx="7338722" cy="68366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295DFAF-259F-37BF-3A1F-CDA6F1116D6C}"/>
              </a:ext>
            </a:extLst>
          </p:cNvPr>
          <p:cNvSpPr/>
          <p:nvPr/>
        </p:nvSpPr>
        <p:spPr>
          <a:xfrm>
            <a:off x="2157432" y="2997030"/>
            <a:ext cx="1504939" cy="563678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ORDER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D85B89-2EFC-934D-C820-B58FC247BDA3}"/>
              </a:ext>
            </a:extLst>
          </p:cNvPr>
          <p:cNvSpPr txBox="1"/>
          <p:nvPr/>
        </p:nvSpPr>
        <p:spPr>
          <a:xfrm>
            <a:off x="3574170" y="5824881"/>
            <a:ext cx="164883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bg1">
                    <a:lumMod val="50000"/>
                  </a:schemeClr>
                </a:solidFill>
              </a:rPr>
              <a:t>TESTING SCOPE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AA49A-9747-D519-F2FF-4BB240B47580}"/>
              </a:ext>
            </a:extLst>
          </p:cNvPr>
          <p:cNvSpPr/>
          <p:nvPr/>
        </p:nvSpPr>
        <p:spPr>
          <a:xfrm>
            <a:off x="2067461" y="3171680"/>
            <a:ext cx="115765" cy="209291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E638D7B1-F955-D2F4-C756-F0328C27B985}"/>
              </a:ext>
            </a:extLst>
          </p:cNvPr>
          <p:cNvSpPr txBox="1"/>
          <p:nvPr/>
        </p:nvSpPr>
        <p:spPr>
          <a:xfrm>
            <a:off x="3162678" y="4023492"/>
            <a:ext cx="1438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Messaging server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A61B9191-24EA-175C-E5D7-2F9DA3454C82}"/>
              </a:ext>
            </a:extLst>
          </p:cNvPr>
          <p:cNvCxnSpPr>
            <a:cxnSpLocks/>
          </p:cNvCxnSpPr>
          <p:nvPr/>
        </p:nvCxnSpPr>
        <p:spPr>
          <a:xfrm>
            <a:off x="2390872" y="3541275"/>
            <a:ext cx="0" cy="339972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FE795ACF-0E86-5C74-D0D2-479037228CA6}"/>
              </a:ext>
            </a:extLst>
          </p:cNvPr>
          <p:cNvCxnSpPr>
            <a:cxnSpLocks/>
          </p:cNvCxnSpPr>
          <p:nvPr/>
        </p:nvCxnSpPr>
        <p:spPr>
          <a:xfrm flipH="1">
            <a:off x="6044015" y="2547754"/>
            <a:ext cx="354037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D5C151DF-7CBE-A75A-B7D2-665BEEA0846B}"/>
              </a:ext>
            </a:extLst>
          </p:cNvPr>
          <p:cNvCxnSpPr>
            <a:cxnSpLocks/>
          </p:cNvCxnSpPr>
          <p:nvPr/>
        </p:nvCxnSpPr>
        <p:spPr>
          <a:xfrm flipH="1">
            <a:off x="6088809" y="3711261"/>
            <a:ext cx="354037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198D11F8-F891-D453-241F-55797734A4E8}"/>
              </a:ext>
            </a:extLst>
          </p:cNvPr>
          <p:cNvCxnSpPr>
            <a:cxnSpLocks/>
          </p:cNvCxnSpPr>
          <p:nvPr/>
        </p:nvCxnSpPr>
        <p:spPr>
          <a:xfrm flipH="1">
            <a:off x="6135155" y="4729366"/>
            <a:ext cx="354037" cy="0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C37B5C6-9828-22ED-6411-5138A835E4E8}"/>
              </a:ext>
            </a:extLst>
          </p:cNvPr>
          <p:cNvSpPr txBox="1"/>
          <p:nvPr/>
        </p:nvSpPr>
        <p:spPr>
          <a:xfrm>
            <a:off x="3069299" y="1351030"/>
            <a:ext cx="2740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Micro-service architecture style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EABB9DF6-F79C-9746-BC22-45172CCD1950}"/>
              </a:ext>
            </a:extLst>
          </p:cNvPr>
          <p:cNvCxnSpPr/>
          <p:nvPr/>
        </p:nvCxnSpPr>
        <p:spPr>
          <a:xfrm rot="5400000" flipH="1" flipV="1">
            <a:off x="3564342" y="1596159"/>
            <a:ext cx="874644" cy="866692"/>
          </a:xfrm>
          <a:prstGeom prst="curvedConnector3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031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C96476E7-E9AE-EE42-B85E-DF7C270D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>
            <a:extLst>
              <a:ext uri="{FF2B5EF4-FFF2-40B4-BE49-F238E27FC236}">
                <a16:creationId xmlns:a16="http://schemas.microsoft.com/office/drawing/2014/main" id="{B046C1EB-E2C1-D724-134E-751F9F9282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16831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Integration Testing</a:t>
            </a:r>
            <a:endParaRPr dirty="0"/>
          </a:p>
        </p:txBody>
      </p:sp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AD0F833C-F4A5-3DC1-29AF-83CE30E68748}"/>
              </a:ext>
            </a:extLst>
          </p:cNvPr>
          <p:cNvSpPr txBox="1"/>
          <p:nvPr/>
        </p:nvSpPr>
        <p:spPr>
          <a:xfrm>
            <a:off x="452099" y="1481473"/>
            <a:ext cx="8477215" cy="160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>
              <a:lnSpc>
                <a:spcPct val="114791"/>
              </a:lnSpc>
              <a:buSzPts val="2400"/>
            </a:pPr>
            <a:r>
              <a:rPr lang="en-AU" sz="1800" dirty="0"/>
              <a:t>Integration tests verify that different modules or services in your overall application work well together.  It is to test interactions across systems. </a:t>
            </a:r>
          </a:p>
          <a:p>
            <a:pPr marL="12700" lvl="0">
              <a:lnSpc>
                <a:spcPct val="114791"/>
              </a:lnSpc>
              <a:buSzPts val="2400"/>
            </a:pPr>
            <a:endParaRPr lang="en-AU" sz="1800" dirty="0"/>
          </a:p>
          <a:p>
            <a:pPr marL="12700" lvl="0">
              <a:lnSpc>
                <a:spcPct val="114791"/>
              </a:lnSpc>
              <a:buSzPts val="2400"/>
            </a:pPr>
            <a:r>
              <a:rPr lang="en-AU" sz="1800" dirty="0"/>
              <a:t>For example, it can be testing the interaction with the database or making sure that microservices work together as expected. </a:t>
            </a: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7FAF53CF-82AC-56FF-0C65-332275756B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477426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University of Sydney</a:t>
            </a:r>
            <a:endParaRPr dirty="0"/>
          </a:p>
        </p:txBody>
      </p:sp>
      <p:sp>
        <p:nvSpPr>
          <p:cNvPr id="345" name="Google Shape;345;p33">
            <a:extLst>
              <a:ext uri="{FF2B5EF4-FFF2-40B4-BE49-F238E27FC236}">
                <a16:creationId xmlns:a16="http://schemas.microsoft.com/office/drawing/2014/main" id="{5C1B16DA-FC03-EEDD-5387-32B31DB5C2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2E9A1-7EBD-C9A2-4AA6-85ACB89DC898}"/>
              </a:ext>
            </a:extLst>
          </p:cNvPr>
          <p:cNvSpPr txBox="1"/>
          <p:nvPr/>
        </p:nvSpPr>
        <p:spPr>
          <a:xfrm>
            <a:off x="452100" y="3429000"/>
            <a:ext cx="8239799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>
              <a:lnSpc>
                <a:spcPct val="114791"/>
              </a:lnSpc>
              <a:buSzPts val="2400"/>
            </a:pPr>
            <a:r>
              <a:rPr lang="en-AU" sz="1800" dirty="0"/>
              <a:t>These types of tests are more expensive to run as they require multiple parts of the application to be up and running</a:t>
            </a:r>
            <a:endParaRPr lang="en-AU"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2784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>
            <a:spLocks noGrp="1"/>
          </p:cNvSpPr>
          <p:nvPr>
            <p:ph type="title"/>
          </p:nvPr>
        </p:nvSpPr>
        <p:spPr>
          <a:xfrm>
            <a:off x="821800" y="3082036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/>
            <a:r>
              <a:rPr lang="en-US" dirty="0"/>
              <a:t>System /End to End Testing</a:t>
            </a:r>
            <a:endParaRPr dirty="0"/>
          </a:p>
        </p:txBody>
      </p:sp>
      <p:sp>
        <p:nvSpPr>
          <p:cNvPr id="367" name="Google Shape;367;p36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432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3F95CBDA-A53D-569C-C1EA-2C7FED960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>
            <a:extLst>
              <a:ext uri="{FF2B5EF4-FFF2-40B4-BE49-F238E27FC236}">
                <a16:creationId xmlns:a16="http://schemas.microsoft.com/office/drawing/2014/main" id="{EF815BD0-B58D-7F59-7FDC-21BB1D15A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Types of System Testing</a:t>
            </a:r>
            <a:endParaRPr dirty="0"/>
          </a:p>
        </p:txBody>
      </p:sp>
      <p:sp>
        <p:nvSpPr>
          <p:cNvPr id="367" name="Google Shape;367;p36">
            <a:extLst>
              <a:ext uri="{FF2B5EF4-FFF2-40B4-BE49-F238E27FC236}">
                <a16:creationId xmlns:a16="http://schemas.microsoft.com/office/drawing/2014/main" id="{F01922AF-EB81-FF27-4AF1-47F7272C77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432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68" name="Google Shape;368;p36">
            <a:extLst>
              <a:ext uri="{FF2B5EF4-FFF2-40B4-BE49-F238E27FC236}">
                <a16:creationId xmlns:a16="http://schemas.microsoft.com/office/drawing/2014/main" id="{5D4CA879-F7E4-87F6-41B6-1D3EC8F353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4E932-FCE1-44AD-F7B3-981103EDAC6E}"/>
              </a:ext>
            </a:extLst>
          </p:cNvPr>
          <p:cNvSpPr txBox="1"/>
          <p:nvPr/>
        </p:nvSpPr>
        <p:spPr>
          <a:xfrm>
            <a:off x="2806842" y="2735476"/>
            <a:ext cx="60844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Measures how well a system performs under various conditions, including speed, load, and stability. Key metrics include </a:t>
            </a:r>
            <a:r>
              <a:rPr lang="en-AU" sz="18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response time</a:t>
            </a:r>
            <a:r>
              <a:rPr lang="en-A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, </a:t>
            </a:r>
            <a:r>
              <a:rPr lang="en-AU" sz="18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throughput</a:t>
            </a:r>
            <a:r>
              <a:rPr lang="en-A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, </a:t>
            </a:r>
            <a:r>
              <a:rPr lang="en-AU" sz="18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current users</a:t>
            </a:r>
            <a:r>
              <a:rPr lang="en-A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, </a:t>
            </a:r>
            <a:r>
              <a:rPr lang="en-AU" sz="1800" b="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memory usage, CPU usage</a:t>
            </a:r>
            <a:r>
              <a:rPr lang="en-AU" sz="18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rPr>
              <a:t> …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3C89C-214E-4EF7-0ED7-A8F95B60AF2E}"/>
              </a:ext>
            </a:extLst>
          </p:cNvPr>
          <p:cNvSpPr txBox="1"/>
          <p:nvPr/>
        </p:nvSpPr>
        <p:spPr>
          <a:xfrm>
            <a:off x="582297" y="2836185"/>
            <a:ext cx="2091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Performance testing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1A6F08-FA33-2F52-FE4F-AD3276458DC2}"/>
              </a:ext>
            </a:extLst>
          </p:cNvPr>
          <p:cNvCxnSpPr>
            <a:cxnSpLocks/>
          </p:cNvCxnSpPr>
          <p:nvPr/>
        </p:nvCxnSpPr>
        <p:spPr>
          <a:xfrm>
            <a:off x="638510" y="2670048"/>
            <a:ext cx="816716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FF9AD7-EF84-92AC-AFC6-6EB23C0A5445}"/>
              </a:ext>
            </a:extLst>
          </p:cNvPr>
          <p:cNvCxnSpPr>
            <a:cxnSpLocks/>
          </p:cNvCxnSpPr>
          <p:nvPr/>
        </p:nvCxnSpPr>
        <p:spPr>
          <a:xfrm>
            <a:off x="724117" y="3935805"/>
            <a:ext cx="8081555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6B6618-D497-0483-4237-7678BD1D03D5}"/>
              </a:ext>
            </a:extLst>
          </p:cNvPr>
          <p:cNvSpPr txBox="1"/>
          <p:nvPr/>
        </p:nvSpPr>
        <p:spPr>
          <a:xfrm>
            <a:off x="675453" y="4177141"/>
            <a:ext cx="1699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testing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8CF2DF-65FD-8B27-2480-E51D6367EE1B}"/>
              </a:ext>
            </a:extLst>
          </p:cNvPr>
          <p:cNvCxnSpPr>
            <a:cxnSpLocks/>
          </p:cNvCxnSpPr>
          <p:nvPr/>
        </p:nvCxnSpPr>
        <p:spPr>
          <a:xfrm>
            <a:off x="724118" y="5179176"/>
            <a:ext cx="816716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92991E-845E-1842-709F-AA2708EABCD6}"/>
              </a:ext>
            </a:extLst>
          </p:cNvPr>
          <p:cNvSpPr txBox="1"/>
          <p:nvPr/>
        </p:nvSpPr>
        <p:spPr>
          <a:xfrm>
            <a:off x="675453" y="3117940"/>
            <a:ext cx="1699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Load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Stress testing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410A2-AB42-AB9B-9EDE-AAE9400E5510}"/>
              </a:ext>
            </a:extLst>
          </p:cNvPr>
          <p:cNvSpPr txBox="1"/>
          <p:nvPr/>
        </p:nvSpPr>
        <p:spPr>
          <a:xfrm>
            <a:off x="536575" y="2034395"/>
            <a:ext cx="1868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Functional testing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B00E50-C3DF-032C-BD6D-0D5AF62544A3}"/>
              </a:ext>
            </a:extLst>
          </p:cNvPr>
          <p:cNvSpPr txBox="1"/>
          <p:nvPr/>
        </p:nvSpPr>
        <p:spPr>
          <a:xfrm>
            <a:off x="2750627" y="1878205"/>
            <a:ext cx="5986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defRPr>
            </a:lvl1pPr>
          </a:lstStyle>
          <a:p>
            <a:r>
              <a:rPr lang="en-AU" dirty="0"/>
              <a:t> Validates that the system performs its intended functions according to business requirements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009F82-01F3-0C00-58BD-BBE76E61413E}"/>
              </a:ext>
            </a:extLst>
          </p:cNvPr>
          <p:cNvCxnSpPr>
            <a:cxnSpLocks/>
          </p:cNvCxnSpPr>
          <p:nvPr/>
        </p:nvCxnSpPr>
        <p:spPr>
          <a:xfrm>
            <a:off x="604029" y="1856869"/>
            <a:ext cx="816716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733A9E-20AE-5AE6-F5C7-60BB987C800B}"/>
              </a:ext>
            </a:extLst>
          </p:cNvPr>
          <p:cNvSpPr txBox="1"/>
          <p:nvPr/>
        </p:nvSpPr>
        <p:spPr>
          <a:xfrm>
            <a:off x="2806842" y="3978847"/>
            <a:ext cx="58250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Google Sans"/>
              </a:defRPr>
            </a:lvl1pPr>
          </a:lstStyle>
          <a:p>
            <a:r>
              <a:rPr lang="en-AU" dirty="0"/>
              <a:t>evaluating systems, networks, and applications to find vulnerabilities and flaws that attackers could exploit, thereby protecting sensitive data and maintaining system functionality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C270E3-1AC2-03BB-196A-8753A320EA60}"/>
              </a:ext>
            </a:extLst>
          </p:cNvPr>
          <p:cNvCxnSpPr>
            <a:cxnSpLocks/>
          </p:cNvCxnSpPr>
          <p:nvPr/>
        </p:nvCxnSpPr>
        <p:spPr>
          <a:xfrm>
            <a:off x="724118" y="6081384"/>
            <a:ext cx="816716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6A8208A-4165-7454-1D8D-3C611BE069EF}"/>
              </a:ext>
            </a:extLst>
          </p:cNvPr>
          <p:cNvSpPr txBox="1"/>
          <p:nvPr/>
        </p:nvSpPr>
        <p:spPr>
          <a:xfrm>
            <a:off x="779152" y="5280677"/>
            <a:ext cx="74870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i="0" dirty="0">
                <a:solidFill>
                  <a:srgbClr val="001D35"/>
                </a:solidFill>
                <a:effectLst/>
                <a:latin typeface="Google Sans"/>
              </a:rPr>
              <a:t>Regression Testing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               ensures new changes don't break existing functionality </a:t>
            </a:r>
          </a:p>
          <a:p>
            <a:r>
              <a:rPr lang="en-AU" b="1" i="0" dirty="0">
                <a:solidFill>
                  <a:srgbClr val="001D35"/>
                </a:solidFill>
                <a:effectLst/>
                <a:latin typeface="Google Sans"/>
              </a:rPr>
              <a:t>Recovery Testing</a:t>
            </a:r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                  checks system resilience from failures</a:t>
            </a:r>
            <a:endParaRPr lang="en-AU" dirty="0">
              <a:solidFill>
                <a:srgbClr val="001D35"/>
              </a:solidFill>
              <a:latin typeface="Google Sans"/>
            </a:endParaRPr>
          </a:p>
          <a:p>
            <a:r>
              <a:rPr lang="en-AU" b="0" i="0" dirty="0">
                <a:solidFill>
                  <a:srgbClr val="001D35"/>
                </a:solidFill>
                <a:effectLst/>
                <a:latin typeface="Google Sans"/>
              </a:rPr>
              <a:t>and. more …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575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>
            <a:spLocks noGrp="1"/>
          </p:cNvSpPr>
          <p:nvPr>
            <p:ph type="title"/>
          </p:nvPr>
        </p:nvSpPr>
        <p:spPr>
          <a:xfrm>
            <a:off x="751729" y="2911475"/>
            <a:ext cx="488707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/>
            <a:r>
              <a:rPr lang="en-AU" dirty="0"/>
              <a:t>User Acceptance Testing</a:t>
            </a:r>
            <a:endParaRPr dirty="0"/>
          </a:p>
        </p:txBody>
      </p:sp>
      <p:sp>
        <p:nvSpPr>
          <p:cNvPr id="375" name="Google Shape;375;p37"/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8CDCD003-57CE-D3F2-D4A6-C5B05FA2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85227B34-70DE-2D38-C88C-D1F9C4E9651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6CC30978-BF9A-BF6E-550B-F5665F1309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31B93-9B8E-9B0A-7175-13459179B6A7}"/>
              </a:ext>
            </a:extLst>
          </p:cNvPr>
          <p:cNvSpPr txBox="1"/>
          <p:nvPr/>
        </p:nvSpPr>
        <p:spPr>
          <a:xfrm>
            <a:off x="398795" y="1729859"/>
            <a:ext cx="8281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latin typeface="Times New Roman"/>
                <a:cs typeface="Times New Roman"/>
              </a:rPr>
              <a:t>UATs are the final phase of the software development lifecycle. they verify if a system satisfies business requirements. 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626FB-2877-61BA-F4DA-975E28DB5926}"/>
              </a:ext>
            </a:extLst>
          </p:cNvPr>
          <p:cNvSpPr txBox="1"/>
          <p:nvPr/>
        </p:nvSpPr>
        <p:spPr>
          <a:xfrm>
            <a:off x="460374" y="3785914"/>
            <a:ext cx="8459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2400">
                <a:latin typeface="Times New Roman"/>
                <a:cs typeface="Times New Roman"/>
              </a:defRPr>
            </a:lvl1pPr>
          </a:lstStyle>
          <a:p>
            <a:r>
              <a:rPr lang="en-AU" dirty="0"/>
              <a:t>They require the entire application to be running, and deployment environment is very closed to production environment.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04E58-2C0A-DC67-80C4-DA5F783B664D}"/>
              </a:ext>
            </a:extLst>
          </p:cNvPr>
          <p:cNvSpPr txBox="1"/>
          <p:nvPr/>
        </p:nvSpPr>
        <p:spPr>
          <a:xfrm>
            <a:off x="460374" y="2760050"/>
            <a:ext cx="82763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>
                <a:latin typeface="Times New Roman"/>
                <a:cs typeface="Times New Roman"/>
              </a:defRPr>
            </a:lvl1pPr>
          </a:lstStyle>
          <a:p>
            <a:r>
              <a:rPr lang="en-AU" dirty="0"/>
              <a:t>They are normally executed by system owner when system developed by delivery team handles over to owner. </a:t>
            </a:r>
            <a:endParaRPr lang="en-US" dirty="0"/>
          </a:p>
        </p:txBody>
      </p:sp>
      <p:sp>
        <p:nvSpPr>
          <p:cNvPr id="10" name="Google Shape;374;p37">
            <a:extLst>
              <a:ext uri="{FF2B5EF4-FFF2-40B4-BE49-F238E27FC236}">
                <a16:creationId xmlns:a16="http://schemas.microsoft.com/office/drawing/2014/main" id="{7BBE2A4D-B632-A5C8-317E-2786B8B261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375" y="546162"/>
            <a:ext cx="488707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/>
            <a:r>
              <a:rPr lang="en-AU" dirty="0"/>
              <a:t>User Acceptance Testing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0304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2240719E-74D6-532A-695B-D4A09C486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CA03F93B-0E26-FD0D-8175-0B39C8C1F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1729" y="2911475"/>
            <a:ext cx="488707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/>
            <a:r>
              <a:rPr lang="en-US" dirty="0"/>
              <a:t>Testing </a:t>
            </a:r>
            <a:r>
              <a:rPr lang="en-AU" dirty="0"/>
              <a:t>Methodology 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71163564-7987-C5BB-3C45-95F2A3BDA80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932A88B0-A12F-2757-978E-8C1AAE17E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04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0BD2EFD7-5D08-59FC-3AB7-A00D2FA6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>
            <a:extLst>
              <a:ext uri="{FF2B5EF4-FFF2-40B4-BE49-F238E27FC236}">
                <a16:creationId xmlns:a16="http://schemas.microsoft.com/office/drawing/2014/main" id="{906C4D74-E37C-9A58-3142-89DE078654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 pyramid</a:t>
            </a:r>
            <a:endParaRPr dirty="0"/>
          </a:p>
        </p:txBody>
      </p:sp>
      <p:sp>
        <p:nvSpPr>
          <p:cNvPr id="268" name="Google Shape;268;p27">
            <a:extLst>
              <a:ext uri="{FF2B5EF4-FFF2-40B4-BE49-F238E27FC236}">
                <a16:creationId xmlns:a16="http://schemas.microsoft.com/office/drawing/2014/main" id="{5DBD36AB-7C50-64FC-1BE0-5EFCBAD4EB7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4" y="6473779"/>
            <a:ext cx="1592325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University of Sydney</a:t>
            </a:r>
            <a:endParaRPr dirty="0"/>
          </a:p>
        </p:txBody>
      </p:sp>
      <p:sp>
        <p:nvSpPr>
          <p:cNvPr id="269" name="Google Shape;269;p27">
            <a:extLst>
              <a:ext uri="{FF2B5EF4-FFF2-40B4-BE49-F238E27FC236}">
                <a16:creationId xmlns:a16="http://schemas.microsoft.com/office/drawing/2014/main" id="{EA648140-21EF-E54B-D7E8-93D952EC71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B6E7F88-73CF-6EF7-192B-9EA2869AAE06}"/>
              </a:ext>
            </a:extLst>
          </p:cNvPr>
          <p:cNvSpPr/>
          <p:nvPr/>
        </p:nvSpPr>
        <p:spPr>
          <a:xfrm>
            <a:off x="2052699" y="1981732"/>
            <a:ext cx="4164745" cy="3365336"/>
          </a:xfrm>
          <a:prstGeom prst="triangl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C091EC-F1DB-3AD2-CC51-BD94FD186E09}"/>
              </a:ext>
            </a:extLst>
          </p:cNvPr>
          <p:cNvCxnSpPr>
            <a:cxnSpLocks/>
          </p:cNvCxnSpPr>
          <p:nvPr/>
        </p:nvCxnSpPr>
        <p:spPr>
          <a:xfrm>
            <a:off x="2789304" y="3390580"/>
            <a:ext cx="2720148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BA8F3B-3933-6DAC-59D8-9DC9569DF347}"/>
              </a:ext>
            </a:extLst>
          </p:cNvPr>
          <p:cNvCxnSpPr>
            <a:cxnSpLocks/>
          </p:cNvCxnSpPr>
          <p:nvPr/>
        </p:nvCxnSpPr>
        <p:spPr>
          <a:xfrm>
            <a:off x="2288561" y="4365171"/>
            <a:ext cx="345909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C2119B-4ED7-A8D7-6A42-0FB517470D94}"/>
              </a:ext>
            </a:extLst>
          </p:cNvPr>
          <p:cNvSpPr txBox="1"/>
          <p:nvPr/>
        </p:nvSpPr>
        <p:spPr>
          <a:xfrm>
            <a:off x="3677553" y="2654806"/>
            <a:ext cx="958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System/</a:t>
            </a:r>
          </a:p>
          <a:p>
            <a:pPr algn="ctr"/>
            <a:r>
              <a:rPr lang="en-US" sz="1200" b="1" dirty="0"/>
              <a:t>End 2 end 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BE79DE-5519-5EFF-7E51-A5FC6E3A3D74}"/>
              </a:ext>
            </a:extLst>
          </p:cNvPr>
          <p:cNvSpPr txBox="1"/>
          <p:nvPr/>
        </p:nvSpPr>
        <p:spPr>
          <a:xfrm>
            <a:off x="3311181" y="3749618"/>
            <a:ext cx="1690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Integration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C9A07-0928-2E68-CC4C-9E383D0BB3F5}"/>
              </a:ext>
            </a:extLst>
          </p:cNvPr>
          <p:cNvSpPr txBox="1"/>
          <p:nvPr/>
        </p:nvSpPr>
        <p:spPr>
          <a:xfrm>
            <a:off x="3410587" y="4676318"/>
            <a:ext cx="1477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Unit testing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5934CA-7124-1F18-E86B-C37B07232381}"/>
              </a:ext>
            </a:extLst>
          </p:cNvPr>
          <p:cNvCxnSpPr>
            <a:cxnSpLocks/>
          </p:cNvCxnSpPr>
          <p:nvPr/>
        </p:nvCxnSpPr>
        <p:spPr>
          <a:xfrm>
            <a:off x="2042660" y="5795549"/>
            <a:ext cx="4164745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0F97E2-1CBF-3D3C-045F-F04844C3B92B}"/>
              </a:ext>
            </a:extLst>
          </p:cNvPr>
          <p:cNvSpPr txBox="1"/>
          <p:nvPr/>
        </p:nvSpPr>
        <p:spPr>
          <a:xfrm>
            <a:off x="3288264" y="5497021"/>
            <a:ext cx="1962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Quantity of testing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4A1BED-1807-0E10-4E00-DEBAB9944620}"/>
              </a:ext>
            </a:extLst>
          </p:cNvPr>
          <p:cNvCxnSpPr>
            <a:cxnSpLocks/>
          </p:cNvCxnSpPr>
          <p:nvPr/>
        </p:nvCxnSpPr>
        <p:spPr>
          <a:xfrm>
            <a:off x="929769" y="1981732"/>
            <a:ext cx="0" cy="3365336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F8CFB2-C23B-3D84-93B5-B0D79C701B94}"/>
              </a:ext>
            </a:extLst>
          </p:cNvPr>
          <p:cNvCxnSpPr>
            <a:cxnSpLocks/>
          </p:cNvCxnSpPr>
          <p:nvPr/>
        </p:nvCxnSpPr>
        <p:spPr>
          <a:xfrm>
            <a:off x="7490650" y="1981732"/>
            <a:ext cx="0" cy="3365336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B9FC277-19AA-9B27-F2C9-85A456F46464}"/>
              </a:ext>
            </a:extLst>
          </p:cNvPr>
          <p:cNvSpPr txBox="1"/>
          <p:nvPr/>
        </p:nvSpPr>
        <p:spPr>
          <a:xfrm rot="5400000">
            <a:off x="6493273" y="3754764"/>
            <a:ext cx="2355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Larger, more expensive tests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52D8F9-ACFD-2352-D762-644149F8B428}"/>
              </a:ext>
            </a:extLst>
          </p:cNvPr>
          <p:cNvSpPr txBox="1"/>
          <p:nvPr/>
        </p:nvSpPr>
        <p:spPr>
          <a:xfrm rot="16200000">
            <a:off x="-311299" y="3754071"/>
            <a:ext cx="2121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Smaller, cheaper  testing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707DA95-7B09-E659-C941-58E98C7CDBCF}"/>
              </a:ext>
            </a:extLst>
          </p:cNvPr>
          <p:cNvCxnSpPr>
            <a:cxnSpLocks/>
          </p:cNvCxnSpPr>
          <p:nvPr/>
        </p:nvCxnSpPr>
        <p:spPr>
          <a:xfrm>
            <a:off x="1198180" y="4365171"/>
            <a:ext cx="5916770" cy="0"/>
          </a:xfrm>
          <a:prstGeom prst="line">
            <a:avLst/>
          </a:prstGeom>
          <a:ln w="127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15784E9-D671-C2C3-1851-BFEC4976E26A}"/>
              </a:ext>
            </a:extLst>
          </p:cNvPr>
          <p:cNvSpPr txBox="1"/>
          <p:nvPr/>
        </p:nvSpPr>
        <p:spPr>
          <a:xfrm>
            <a:off x="1166648" y="4088172"/>
            <a:ext cx="1477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Black box testing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595CC6-71BB-2854-3C76-20A2E032D145}"/>
              </a:ext>
            </a:extLst>
          </p:cNvPr>
          <p:cNvSpPr txBox="1"/>
          <p:nvPr/>
        </p:nvSpPr>
        <p:spPr>
          <a:xfrm>
            <a:off x="1165632" y="4365171"/>
            <a:ext cx="14775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White box testing</a:t>
            </a:r>
          </a:p>
        </p:txBody>
      </p:sp>
    </p:spTree>
    <p:extLst>
      <p:ext uri="{BB962C8B-B14F-4D97-AF65-F5344CB8AC3E}">
        <p14:creationId xmlns:p14="http://schemas.microsoft.com/office/powerpoint/2010/main" val="81005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9F22F509-77E3-FDB9-E660-0A9A2177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10405BE-4503-D06C-BAAA-DAE8458CE97F}"/>
              </a:ext>
            </a:extLst>
          </p:cNvPr>
          <p:cNvCxnSpPr>
            <a:cxnSpLocks/>
          </p:cNvCxnSpPr>
          <p:nvPr/>
        </p:nvCxnSpPr>
        <p:spPr>
          <a:xfrm flipH="1">
            <a:off x="6110861" y="2892953"/>
            <a:ext cx="1590594" cy="2713202"/>
          </a:xfrm>
          <a:prstGeom prst="straightConnector1">
            <a:avLst/>
          </a:prstGeom>
          <a:ln w="76200">
            <a:solidFill>
              <a:srgbClr val="FFC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6B28F329-8FF1-3A3D-16C6-5ED6A6EE8DBC}"/>
              </a:ext>
            </a:extLst>
          </p:cNvPr>
          <p:cNvCxnSpPr>
            <a:cxnSpLocks/>
          </p:cNvCxnSpPr>
          <p:nvPr/>
        </p:nvCxnSpPr>
        <p:spPr>
          <a:xfrm>
            <a:off x="2525117" y="2557127"/>
            <a:ext cx="1586324" cy="2962612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Straight Arrow Connector 1074">
            <a:extLst>
              <a:ext uri="{FF2B5EF4-FFF2-40B4-BE49-F238E27FC236}">
                <a16:creationId xmlns:a16="http://schemas.microsoft.com/office/drawing/2014/main" id="{C7E31B21-D063-2603-8533-EF36D7795683}"/>
              </a:ext>
            </a:extLst>
          </p:cNvPr>
          <p:cNvCxnSpPr>
            <a:cxnSpLocks/>
          </p:cNvCxnSpPr>
          <p:nvPr/>
        </p:nvCxnSpPr>
        <p:spPr>
          <a:xfrm flipH="1">
            <a:off x="4800898" y="2575212"/>
            <a:ext cx="1717431" cy="2944527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ata 46">
            <a:extLst>
              <a:ext uri="{FF2B5EF4-FFF2-40B4-BE49-F238E27FC236}">
                <a16:creationId xmlns:a16="http://schemas.microsoft.com/office/drawing/2014/main" id="{A0F80501-C3B6-EC2C-A3AA-5D0C3B3AE585}"/>
              </a:ext>
            </a:extLst>
          </p:cNvPr>
          <p:cNvSpPr/>
          <p:nvPr/>
        </p:nvSpPr>
        <p:spPr>
          <a:xfrm>
            <a:off x="5859530" y="2055045"/>
            <a:ext cx="1659555" cy="520167"/>
          </a:xfrm>
          <a:prstGeom prst="flowChartInputOutpu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ata 45">
            <a:extLst>
              <a:ext uri="{FF2B5EF4-FFF2-40B4-BE49-F238E27FC236}">
                <a16:creationId xmlns:a16="http://schemas.microsoft.com/office/drawing/2014/main" id="{2DD81775-2181-BB50-24FD-B0D17DBB0A0E}"/>
              </a:ext>
            </a:extLst>
          </p:cNvPr>
          <p:cNvSpPr/>
          <p:nvPr/>
        </p:nvSpPr>
        <p:spPr>
          <a:xfrm>
            <a:off x="4567671" y="4438132"/>
            <a:ext cx="1659555" cy="520167"/>
          </a:xfrm>
          <a:prstGeom prst="flowChartInputOutpu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ata 44">
            <a:extLst>
              <a:ext uri="{FF2B5EF4-FFF2-40B4-BE49-F238E27FC236}">
                <a16:creationId xmlns:a16="http://schemas.microsoft.com/office/drawing/2014/main" id="{DF463447-60B4-9738-13D5-B9FB7B73F887}"/>
              </a:ext>
            </a:extLst>
          </p:cNvPr>
          <p:cNvSpPr/>
          <p:nvPr/>
        </p:nvSpPr>
        <p:spPr>
          <a:xfrm>
            <a:off x="5045808" y="3613725"/>
            <a:ext cx="1659555" cy="520167"/>
          </a:xfrm>
          <a:prstGeom prst="flowChartInputOutpu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537B7C8D-6821-D88E-1A79-1DE890115F5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A142DE3C-1D9D-1B3C-D0CC-A6E442DF2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27</a:t>
            </a:fld>
            <a:endParaRPr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56876D7-526F-2E23-A0AA-DAD154F28F61}"/>
              </a:ext>
            </a:extLst>
          </p:cNvPr>
          <p:cNvCxnSpPr>
            <a:cxnSpLocks/>
            <a:stCxn id="53" idx="2"/>
            <a:endCxn id="34" idx="1"/>
          </p:cNvCxnSpPr>
          <p:nvPr/>
        </p:nvCxnSpPr>
        <p:spPr>
          <a:xfrm>
            <a:off x="3338489" y="3085779"/>
            <a:ext cx="2311982" cy="11606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70DC3C-C247-6DA0-1DE7-60A4435054F1}"/>
              </a:ext>
            </a:extLst>
          </p:cNvPr>
          <p:cNvCxnSpPr>
            <a:cxnSpLocks/>
            <a:stCxn id="52" idx="2"/>
            <a:endCxn id="45" idx="2"/>
          </p:cNvCxnSpPr>
          <p:nvPr/>
        </p:nvCxnSpPr>
        <p:spPr>
          <a:xfrm>
            <a:off x="3760002" y="3858999"/>
            <a:ext cx="1451762" cy="1481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87288A-C012-DB54-72A0-B1295A2ABBCB}"/>
              </a:ext>
            </a:extLst>
          </p:cNvPr>
          <p:cNvCxnSpPr>
            <a:cxnSpLocks/>
            <a:stCxn id="51" idx="2"/>
            <a:endCxn id="46" idx="2"/>
          </p:cNvCxnSpPr>
          <p:nvPr/>
        </p:nvCxnSpPr>
        <p:spPr>
          <a:xfrm>
            <a:off x="4188039" y="4698216"/>
            <a:ext cx="545588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D5643E-FB54-BCE8-C3B7-AAA07FE01096}"/>
              </a:ext>
            </a:extLst>
          </p:cNvPr>
          <p:cNvCxnSpPr>
            <a:cxnSpLocks/>
            <a:stCxn id="54" idx="2"/>
            <a:endCxn id="47" idx="2"/>
          </p:cNvCxnSpPr>
          <p:nvPr/>
        </p:nvCxnSpPr>
        <p:spPr>
          <a:xfrm>
            <a:off x="3005313" y="2315128"/>
            <a:ext cx="3020173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a 3">
            <a:extLst>
              <a:ext uri="{FF2B5EF4-FFF2-40B4-BE49-F238E27FC236}">
                <a16:creationId xmlns:a16="http://schemas.microsoft.com/office/drawing/2014/main" id="{1552FF83-117D-CAEC-1FEE-CDD28530716A}"/>
              </a:ext>
            </a:extLst>
          </p:cNvPr>
          <p:cNvSpPr/>
          <p:nvPr/>
        </p:nvSpPr>
        <p:spPr>
          <a:xfrm>
            <a:off x="5475978" y="2845945"/>
            <a:ext cx="1659555" cy="520167"/>
          </a:xfrm>
          <a:prstGeom prst="flowChartInputOutpu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C2F740-7549-3A3A-BA97-5A76F45FEC51}"/>
              </a:ext>
            </a:extLst>
          </p:cNvPr>
          <p:cNvSpPr/>
          <p:nvPr/>
        </p:nvSpPr>
        <p:spPr>
          <a:xfrm>
            <a:off x="3562238" y="5522622"/>
            <a:ext cx="1717431" cy="359764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78C14B-243C-3450-B04D-ED9450AC6BDA}"/>
              </a:ext>
            </a:extLst>
          </p:cNvPr>
          <p:cNvSpPr txBox="1"/>
          <p:nvPr/>
        </p:nvSpPr>
        <p:spPr>
          <a:xfrm>
            <a:off x="4966257" y="4602756"/>
            <a:ext cx="824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Unit testing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9B7954-43CE-12C0-5CE0-F3A0313DA539}"/>
              </a:ext>
            </a:extLst>
          </p:cNvPr>
          <p:cNvSpPr txBox="1"/>
          <p:nvPr/>
        </p:nvSpPr>
        <p:spPr>
          <a:xfrm>
            <a:off x="5421404" y="3698218"/>
            <a:ext cx="933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Service testing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44FB28-482D-F748-B19F-1E47EAB5EC0C}"/>
              </a:ext>
            </a:extLst>
          </p:cNvPr>
          <p:cNvSpPr txBox="1"/>
          <p:nvPr/>
        </p:nvSpPr>
        <p:spPr>
          <a:xfrm>
            <a:off x="5650471" y="2897330"/>
            <a:ext cx="12617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System </a:t>
            </a:r>
          </a:p>
          <a:p>
            <a:pPr algn="ctr"/>
            <a:r>
              <a:rPr lang="en-US" sz="1000" dirty="0"/>
              <a:t>integration testing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9DA8C1-4866-6155-0512-5C55EA1C871A}"/>
              </a:ext>
            </a:extLst>
          </p:cNvPr>
          <p:cNvSpPr txBox="1"/>
          <p:nvPr/>
        </p:nvSpPr>
        <p:spPr>
          <a:xfrm>
            <a:off x="6167265" y="2099534"/>
            <a:ext cx="8791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Acceptance testing</a:t>
            </a:r>
          </a:p>
        </p:txBody>
      </p:sp>
      <p:sp>
        <p:nvSpPr>
          <p:cNvPr id="51" name="Data 50">
            <a:extLst>
              <a:ext uri="{FF2B5EF4-FFF2-40B4-BE49-F238E27FC236}">
                <a16:creationId xmlns:a16="http://schemas.microsoft.com/office/drawing/2014/main" id="{1A011116-8B58-3E82-B967-9248302CF3F6}"/>
              </a:ext>
            </a:extLst>
          </p:cNvPr>
          <p:cNvSpPr/>
          <p:nvPr/>
        </p:nvSpPr>
        <p:spPr>
          <a:xfrm flipH="1">
            <a:off x="2782822" y="4453334"/>
            <a:ext cx="1561352" cy="489764"/>
          </a:xfrm>
          <a:prstGeom prst="flowChartInputOutpu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185F8EA0-3AB0-0B33-44F5-E5917B6C1C52}"/>
              </a:ext>
            </a:extLst>
          </p:cNvPr>
          <p:cNvSpPr/>
          <p:nvPr/>
        </p:nvSpPr>
        <p:spPr>
          <a:xfrm flipH="1">
            <a:off x="2354785" y="3614117"/>
            <a:ext cx="1561352" cy="489764"/>
          </a:xfrm>
          <a:prstGeom prst="flowChartInputOutpu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Data 52">
            <a:extLst>
              <a:ext uri="{FF2B5EF4-FFF2-40B4-BE49-F238E27FC236}">
                <a16:creationId xmlns:a16="http://schemas.microsoft.com/office/drawing/2014/main" id="{53DB1B1F-4654-373D-A4D1-328CA1F6E2B8}"/>
              </a:ext>
            </a:extLst>
          </p:cNvPr>
          <p:cNvSpPr/>
          <p:nvPr/>
        </p:nvSpPr>
        <p:spPr>
          <a:xfrm flipH="1">
            <a:off x="1933272" y="2840897"/>
            <a:ext cx="1561352" cy="489764"/>
          </a:xfrm>
          <a:prstGeom prst="flowChartInputOutpu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Data 53">
            <a:extLst>
              <a:ext uri="{FF2B5EF4-FFF2-40B4-BE49-F238E27FC236}">
                <a16:creationId xmlns:a16="http://schemas.microsoft.com/office/drawing/2014/main" id="{7DCF67E9-59E9-4C1A-ADAC-8AE27B4AFB99}"/>
              </a:ext>
            </a:extLst>
          </p:cNvPr>
          <p:cNvSpPr/>
          <p:nvPr/>
        </p:nvSpPr>
        <p:spPr>
          <a:xfrm flipH="1">
            <a:off x="1600096" y="2070246"/>
            <a:ext cx="1561352" cy="489764"/>
          </a:xfrm>
          <a:prstGeom prst="flowChartInputOutpu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93CB33F-FA70-0205-DD43-6A04CCF6CFF6}"/>
              </a:ext>
            </a:extLst>
          </p:cNvPr>
          <p:cNvSpPr txBox="1"/>
          <p:nvPr/>
        </p:nvSpPr>
        <p:spPr>
          <a:xfrm>
            <a:off x="4149878" y="5562610"/>
            <a:ext cx="6537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Coding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5B2CAD6C-9C80-55B7-8E0B-F582A71F13E2}"/>
              </a:ext>
            </a:extLst>
          </p:cNvPr>
          <p:cNvSpPr txBox="1"/>
          <p:nvPr/>
        </p:nvSpPr>
        <p:spPr>
          <a:xfrm>
            <a:off x="1894936" y="2115073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Business requirement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7055C4F3-C0B3-6A1F-B2AB-D4D800EB6FEA}"/>
              </a:ext>
            </a:extLst>
          </p:cNvPr>
          <p:cNvSpPr txBox="1"/>
          <p:nvPr/>
        </p:nvSpPr>
        <p:spPr>
          <a:xfrm>
            <a:off x="2198649" y="2892953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System requirement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D4AD27C4-1CE4-B9AE-0B14-FD606016104D}"/>
              </a:ext>
            </a:extLst>
          </p:cNvPr>
          <p:cNvSpPr txBox="1"/>
          <p:nvPr/>
        </p:nvSpPr>
        <p:spPr>
          <a:xfrm>
            <a:off x="2656287" y="3661708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High level Design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E19876C2-0410-9738-DA7B-13C08795B9E4}"/>
              </a:ext>
            </a:extLst>
          </p:cNvPr>
          <p:cNvSpPr txBox="1"/>
          <p:nvPr/>
        </p:nvSpPr>
        <p:spPr>
          <a:xfrm>
            <a:off x="3092004" y="4516109"/>
            <a:ext cx="1072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Low level Design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93AACBBE-B0EF-3E9F-F616-8FC73BBEA925}"/>
              </a:ext>
            </a:extLst>
          </p:cNvPr>
          <p:cNvSpPr txBox="1"/>
          <p:nvPr/>
        </p:nvSpPr>
        <p:spPr>
          <a:xfrm rot="17964034">
            <a:off x="6365694" y="3996165"/>
            <a:ext cx="11185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accent6"/>
                </a:solidFill>
              </a:rPr>
              <a:t>Shift left</a:t>
            </a:r>
          </a:p>
        </p:txBody>
      </p:sp>
      <p:sp>
        <p:nvSpPr>
          <p:cNvPr id="12" name="Google Shape;374;p37">
            <a:extLst>
              <a:ext uri="{FF2B5EF4-FFF2-40B4-BE49-F238E27FC236}">
                <a16:creationId xmlns:a16="http://schemas.microsoft.com/office/drawing/2014/main" id="{5D237540-6697-4F88-935B-9C067B0A6B00}"/>
              </a:ext>
            </a:extLst>
          </p:cNvPr>
          <p:cNvSpPr txBox="1">
            <a:spLocks/>
          </p:cNvSpPr>
          <p:nvPr/>
        </p:nvSpPr>
        <p:spPr>
          <a:xfrm>
            <a:off x="490127" y="468045"/>
            <a:ext cx="55962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/>
            <a:r>
              <a:rPr lang="en-US"/>
              <a:t>Shift-left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945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D49C4912-ABF5-F013-09C4-4A2AD1DC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41688D90-203D-F594-E863-EFF8AD7831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57A24CC1-3E99-30E7-9572-3C29216B2C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10" name="Google Shape;374;p37">
            <a:extLst>
              <a:ext uri="{FF2B5EF4-FFF2-40B4-BE49-F238E27FC236}">
                <a16:creationId xmlns:a16="http://schemas.microsoft.com/office/drawing/2014/main" id="{A3A393DF-CBB6-567F-4135-AE59C7B42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6575" y="414337"/>
            <a:ext cx="6675258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 Typical Use Case – Contract Testing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8EB9B-46C4-80CC-E7CF-CEB742D42A20}"/>
              </a:ext>
            </a:extLst>
          </p:cNvPr>
          <p:cNvSpPr/>
          <p:nvPr/>
        </p:nvSpPr>
        <p:spPr>
          <a:xfrm>
            <a:off x="5748655" y="3170524"/>
            <a:ext cx="1561883" cy="38762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provider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CF968-2022-CFF7-980D-3C24C6527435}"/>
              </a:ext>
            </a:extLst>
          </p:cNvPr>
          <p:cNvSpPr/>
          <p:nvPr/>
        </p:nvSpPr>
        <p:spPr>
          <a:xfrm>
            <a:off x="3776732" y="1820127"/>
            <a:ext cx="1184744" cy="38762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contract Broker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FC4D8F-12EE-D19A-10B2-1618DF4A9966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5033038" y="1987826"/>
            <a:ext cx="1496559" cy="1182698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DF7F5A-56D8-1C31-E3C7-1D337F5E3C31}"/>
              </a:ext>
            </a:extLst>
          </p:cNvPr>
          <p:cNvCxnSpPr>
            <a:cxnSpLocks/>
            <a:stCxn id="4" idx="1"/>
            <a:endCxn id="2" idx="0"/>
          </p:cNvCxnSpPr>
          <p:nvPr/>
        </p:nvCxnSpPr>
        <p:spPr>
          <a:xfrm flipH="1">
            <a:off x="2312082" y="2013940"/>
            <a:ext cx="1464650" cy="1205754"/>
          </a:xfrm>
          <a:prstGeom prst="straightConnector1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A658F2D-CE44-A03A-8ED3-A055F1DDA964}"/>
              </a:ext>
            </a:extLst>
          </p:cNvPr>
          <p:cNvCxnSpPr>
            <a:cxnSpLocks/>
            <a:stCxn id="2" idx="3"/>
            <a:endCxn id="16" idx="4"/>
          </p:cNvCxnSpPr>
          <p:nvPr/>
        </p:nvCxnSpPr>
        <p:spPr>
          <a:xfrm flipH="1">
            <a:off x="2727708" y="3413507"/>
            <a:ext cx="335274" cy="193813"/>
          </a:xfrm>
          <a:prstGeom prst="curvedConnector4">
            <a:avLst>
              <a:gd name="adj1" fmla="val -68183"/>
              <a:gd name="adj2" fmla="val 21794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4C269EED-A5F9-3D21-4ADB-7AD4BE3BFE7D}"/>
              </a:ext>
            </a:extLst>
          </p:cNvPr>
          <p:cNvSpPr/>
          <p:nvPr/>
        </p:nvSpPr>
        <p:spPr>
          <a:xfrm>
            <a:off x="2612414" y="3336975"/>
            <a:ext cx="230587" cy="2703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67F9C5-2139-2214-598B-DD3D726A4678}"/>
              </a:ext>
            </a:extLst>
          </p:cNvPr>
          <p:cNvSpPr/>
          <p:nvPr/>
        </p:nvSpPr>
        <p:spPr>
          <a:xfrm>
            <a:off x="1561182" y="3219694"/>
            <a:ext cx="1501800" cy="38762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Service Client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067CD7-4EE1-2D50-CCD6-B15A10BE3BF1}"/>
              </a:ext>
            </a:extLst>
          </p:cNvPr>
          <p:cNvSpPr txBox="1"/>
          <p:nvPr/>
        </p:nvSpPr>
        <p:spPr>
          <a:xfrm>
            <a:off x="5853736" y="2117510"/>
            <a:ext cx="1494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API file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77C734-127E-CF73-65AB-EF6B57825FA7}"/>
              </a:ext>
            </a:extLst>
          </p:cNvPr>
          <p:cNvSpPr txBox="1"/>
          <p:nvPr/>
        </p:nvSpPr>
        <p:spPr>
          <a:xfrm>
            <a:off x="1493099" y="2207753"/>
            <a:ext cx="1866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API file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FBD5F3-4A2A-89B2-5D8E-C75CBB174606}"/>
              </a:ext>
            </a:extLst>
          </p:cNvPr>
          <p:cNvSpPr txBox="1"/>
          <p:nvPr/>
        </p:nvSpPr>
        <p:spPr>
          <a:xfrm>
            <a:off x="1973909" y="3906202"/>
            <a:ext cx="3400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 API compatibility in unit test manner 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E1D1196-6EE7-8E66-7AE7-3B7A5E8F747F}"/>
              </a:ext>
            </a:extLst>
          </p:cNvPr>
          <p:cNvSpPr/>
          <p:nvPr/>
        </p:nvSpPr>
        <p:spPr>
          <a:xfrm>
            <a:off x="5573726" y="2117510"/>
            <a:ext cx="280010" cy="24413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A132AD1-A98D-DA48-D9BD-723B894739A6}"/>
              </a:ext>
            </a:extLst>
          </p:cNvPr>
          <p:cNvSpPr/>
          <p:nvPr/>
        </p:nvSpPr>
        <p:spPr>
          <a:xfrm>
            <a:off x="1213089" y="2270565"/>
            <a:ext cx="280010" cy="24413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C2EF0E-BBC3-AC82-0A82-6F26F74FA8AE}"/>
              </a:ext>
            </a:extLst>
          </p:cNvPr>
          <p:cNvSpPr/>
          <p:nvPr/>
        </p:nvSpPr>
        <p:spPr>
          <a:xfrm>
            <a:off x="1693899" y="3969014"/>
            <a:ext cx="280010" cy="24413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9319C-774B-10E1-B465-95A386E344D0}"/>
              </a:ext>
            </a:extLst>
          </p:cNvPr>
          <p:cNvSpPr txBox="1"/>
          <p:nvPr/>
        </p:nvSpPr>
        <p:spPr>
          <a:xfrm>
            <a:off x="4369104" y="4760467"/>
            <a:ext cx="4584065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sz="1800" b="1" i="0" dirty="0">
                <a:solidFill>
                  <a:srgbClr val="21262C"/>
                </a:solidFill>
                <a:effectLst/>
                <a:latin typeface="Inter"/>
              </a:rPr>
              <a:t>the benefits of shift left testing: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AU" sz="1800" b="0" i="0" dirty="0">
                <a:solidFill>
                  <a:srgbClr val="21262C"/>
                </a:solidFill>
                <a:effectLst/>
                <a:latin typeface="Inter"/>
              </a:rPr>
              <a:t>Reduced costs involved in fixing bugs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AU" sz="1800" b="0" i="0" dirty="0">
                <a:solidFill>
                  <a:srgbClr val="21262C"/>
                </a:solidFill>
                <a:effectLst/>
                <a:latin typeface="Inter"/>
              </a:rPr>
              <a:t>Improved efficiency and reduced time in the overall software development lifecycle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D5266C-3A4B-7041-A6BC-777AC65D3078}"/>
              </a:ext>
            </a:extLst>
          </p:cNvPr>
          <p:cNvSpPr txBox="1"/>
          <p:nvPr/>
        </p:nvSpPr>
        <p:spPr>
          <a:xfrm>
            <a:off x="276788" y="4760468"/>
            <a:ext cx="3908204" cy="124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AU" sz="1800" b="1" i="0" dirty="0">
                <a:solidFill>
                  <a:srgbClr val="21262C"/>
                </a:solidFill>
                <a:effectLst/>
                <a:latin typeface="Inter"/>
              </a:rPr>
              <a:t>late testing in the cycle leads to: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AU" sz="1800" b="0" i="0" dirty="0">
                <a:solidFill>
                  <a:srgbClr val="21262C"/>
                </a:solidFill>
                <a:effectLst/>
                <a:latin typeface="Inter"/>
              </a:rPr>
              <a:t>Increased costs owing to bug discovery at a later stage</a:t>
            </a:r>
          </a:p>
          <a:p>
            <a:pPr marL="285750" indent="-285750" algn="l">
              <a:lnSpc>
                <a:spcPts val="2250"/>
              </a:lnSpc>
              <a:buFont typeface="Arial" panose="020B0604020202020204" pitchFamily="34" charset="0"/>
              <a:buChar char="•"/>
            </a:pPr>
            <a:r>
              <a:rPr lang="en-AU" sz="1800" b="0" i="0" dirty="0">
                <a:solidFill>
                  <a:srgbClr val="21262C"/>
                </a:solidFill>
                <a:effectLst/>
                <a:latin typeface="Inter"/>
              </a:rPr>
              <a:t>Longer bug fix times</a:t>
            </a:r>
          </a:p>
        </p:txBody>
      </p:sp>
    </p:spTree>
    <p:extLst>
      <p:ext uri="{BB962C8B-B14F-4D97-AF65-F5344CB8AC3E}">
        <p14:creationId xmlns:p14="http://schemas.microsoft.com/office/powerpoint/2010/main" val="34189331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07FF2C15-1B35-56AD-7AD1-7B97443D4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>
            <a:extLst>
              <a:ext uri="{FF2B5EF4-FFF2-40B4-BE49-F238E27FC236}">
                <a16:creationId xmlns:a16="http://schemas.microsoft.com/office/drawing/2014/main" id="{04A3CF53-7718-394D-63D4-BB10B416B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084" y="3049039"/>
            <a:ext cx="6713192" cy="50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Software Test life cycle - STLC</a:t>
            </a:r>
            <a:endParaRPr dirty="0"/>
          </a:p>
        </p:txBody>
      </p:sp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CC239FE8-C89F-009A-AA1B-A92352A4B54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DC05C12A-2657-3F3F-FEC8-AA89B1663F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2773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C88FAE41-4B12-13D2-AF20-56BCB389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">
            <a:extLst>
              <a:ext uri="{FF2B5EF4-FFF2-40B4-BE49-F238E27FC236}">
                <a16:creationId xmlns:a16="http://schemas.microsoft.com/office/drawing/2014/main" id="{DC2D5F61-CF5F-9E44-B39E-3DB7C23EFEF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5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76" name="Google Shape;376;p37">
            <a:extLst>
              <a:ext uri="{FF2B5EF4-FFF2-40B4-BE49-F238E27FC236}">
                <a16:creationId xmlns:a16="http://schemas.microsoft.com/office/drawing/2014/main" id="{5E5B4C6F-5292-F0E4-17B0-677FD61D80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30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FEB34-6EAA-79BD-B4BD-FBBBA143BDF6}"/>
              </a:ext>
            </a:extLst>
          </p:cNvPr>
          <p:cNvSpPr txBox="1"/>
          <p:nvPr/>
        </p:nvSpPr>
        <p:spPr>
          <a:xfrm>
            <a:off x="3622128" y="1247444"/>
            <a:ext cx="3241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273239"/>
                </a:solidFill>
                <a:latin typeface="Nunito" panose="020F0502020204030204" pitchFamily="34" charset="0"/>
              </a:rPr>
              <a:t>U</a:t>
            </a:r>
            <a:r>
              <a:rPr lang="en-AU" b="0" i="0" dirty="0">
                <a:solidFill>
                  <a:srgbClr val="273239"/>
                </a:solidFill>
                <a:effectLst/>
                <a:latin typeface="Nunito" panose="020F0502020204030204" pitchFamily="34" charset="0"/>
              </a:rPr>
              <a:t>nderstands the requirements like what is to be tested.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83870-4DAE-B5AE-333C-D1BA498057F0}"/>
              </a:ext>
            </a:extLst>
          </p:cNvPr>
          <p:cNvSpPr/>
          <p:nvPr/>
        </p:nvSpPr>
        <p:spPr>
          <a:xfrm>
            <a:off x="717331" y="2175640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Requirement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B891D-0B1B-64F7-2CBD-BE2F3A882047}"/>
              </a:ext>
            </a:extLst>
          </p:cNvPr>
          <p:cNvSpPr/>
          <p:nvPr/>
        </p:nvSpPr>
        <p:spPr>
          <a:xfrm>
            <a:off x="1631416" y="2747465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Plan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3648FE-A2EB-0E18-EA5C-EF2F57420596}"/>
              </a:ext>
            </a:extLst>
          </p:cNvPr>
          <p:cNvSpPr/>
          <p:nvPr/>
        </p:nvSpPr>
        <p:spPr>
          <a:xfrm>
            <a:off x="2372710" y="3298760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Case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4A2B7D-AABD-B64F-A4BF-705EC4436312}"/>
              </a:ext>
            </a:extLst>
          </p:cNvPr>
          <p:cNvSpPr/>
          <p:nvPr/>
        </p:nvSpPr>
        <p:spPr>
          <a:xfrm>
            <a:off x="3369879" y="3878362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Environment Setup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57DEC-0C36-B5E9-5428-EFB1D36BC0F8}"/>
              </a:ext>
            </a:extLst>
          </p:cNvPr>
          <p:cNvSpPr/>
          <p:nvPr/>
        </p:nvSpPr>
        <p:spPr>
          <a:xfrm>
            <a:off x="4444562" y="4445153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Execution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ECCA5-FC54-BCA5-9D28-D3D508B3F615}"/>
              </a:ext>
            </a:extLst>
          </p:cNvPr>
          <p:cNvSpPr/>
          <p:nvPr/>
        </p:nvSpPr>
        <p:spPr>
          <a:xfrm>
            <a:off x="5471948" y="5041169"/>
            <a:ext cx="2199290" cy="30777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Closure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C9E33C9-354B-AED2-FBC6-64DD7721515C}"/>
              </a:ext>
            </a:extLst>
          </p:cNvPr>
          <p:cNvSpPr/>
          <p:nvPr/>
        </p:nvSpPr>
        <p:spPr>
          <a:xfrm>
            <a:off x="1927020" y="2539170"/>
            <a:ext cx="804041" cy="18095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74C81FD3-7033-61E6-F2AB-04DD86EDE874}"/>
              </a:ext>
            </a:extLst>
          </p:cNvPr>
          <p:cNvSpPr/>
          <p:nvPr/>
        </p:nvSpPr>
        <p:spPr>
          <a:xfrm>
            <a:off x="2916621" y="3094156"/>
            <a:ext cx="804041" cy="18095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F79566AD-B7F7-E175-7653-C1982CE46032}"/>
              </a:ext>
            </a:extLst>
          </p:cNvPr>
          <p:cNvSpPr/>
          <p:nvPr/>
        </p:nvSpPr>
        <p:spPr>
          <a:xfrm>
            <a:off x="3640521" y="3649717"/>
            <a:ext cx="804041" cy="18095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B7F5C914-D5AF-BB82-62E4-2812D86A68C7}"/>
              </a:ext>
            </a:extLst>
          </p:cNvPr>
          <p:cNvSpPr/>
          <p:nvPr/>
        </p:nvSpPr>
        <p:spPr>
          <a:xfrm>
            <a:off x="4575138" y="4217716"/>
            <a:ext cx="804041" cy="18095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79465EC6-7046-28CA-340B-B432F986690D}"/>
              </a:ext>
            </a:extLst>
          </p:cNvPr>
          <p:cNvSpPr/>
          <p:nvPr/>
        </p:nvSpPr>
        <p:spPr>
          <a:xfrm>
            <a:off x="5767552" y="4806572"/>
            <a:ext cx="804041" cy="180955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4022E73-788A-500C-EBE0-4222656AFBFF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2916621" y="1509054"/>
            <a:ext cx="705507" cy="82047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C004DB-A76C-7A9E-8A61-347F4582FBD8}"/>
              </a:ext>
            </a:extLst>
          </p:cNvPr>
          <p:cNvSpPr txBox="1"/>
          <p:nvPr/>
        </p:nvSpPr>
        <p:spPr>
          <a:xfrm>
            <a:off x="4445876" y="1835419"/>
            <a:ext cx="44695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rgbClr val="273239"/>
                </a:solidFill>
                <a:effectLst/>
                <a:latin typeface="Nunito" panose="020F0502020204030204" pitchFamily="34" charset="0"/>
              </a:defRPr>
            </a:lvl1pPr>
          </a:lstStyle>
          <a:p>
            <a:r>
              <a:rPr lang="en-AU" dirty="0"/>
              <a:t>Define a detailed plan for the testing activities that will be performed, and a clear understanding of the testing objectives, scope, and deliverables.</a:t>
            </a:r>
            <a:endParaRPr lang="en-US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EB0EB317-4A89-009B-64C5-BB9E2D2E2BCB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 flipV="1">
            <a:off x="3830706" y="2204751"/>
            <a:ext cx="615170" cy="69660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98D7A80-610E-3B22-5084-0B65386E165E}"/>
              </a:ext>
            </a:extLst>
          </p:cNvPr>
          <p:cNvSpPr txBox="1"/>
          <p:nvPr/>
        </p:nvSpPr>
        <p:spPr>
          <a:xfrm>
            <a:off x="4930351" y="2721295"/>
            <a:ext cx="4091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273239"/>
                </a:solidFill>
                <a:effectLst/>
                <a:latin typeface="Nunito" pitchFamily="2" charset="77"/>
              </a:rPr>
              <a:t>Prepare the detailed test cases and test data</a:t>
            </a:r>
            <a:endParaRPr lang="en-US" dirty="0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E56033C7-D70A-BBD9-325A-BA3FFAE7A452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 flipV="1">
            <a:off x="4572000" y="2875184"/>
            <a:ext cx="358351" cy="577465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C3053B-1F43-E29F-BF58-FC9DA7ABC563}"/>
              </a:ext>
            </a:extLst>
          </p:cNvPr>
          <p:cNvSpPr txBox="1"/>
          <p:nvPr/>
        </p:nvSpPr>
        <p:spPr>
          <a:xfrm>
            <a:off x="1" y="3897530"/>
            <a:ext cx="27310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273239"/>
                </a:solidFill>
                <a:effectLst/>
                <a:latin typeface="Nunito" pitchFamily="2" charset="77"/>
              </a:rPr>
              <a:t>Setup right testing environment, equipped with various related tools, server, hardware, and network. </a:t>
            </a:r>
            <a:endParaRPr lang="en-US" dirty="0"/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7B69DE2A-2456-6762-3D47-48B79774AFF7}"/>
              </a:ext>
            </a:extLst>
          </p:cNvPr>
          <p:cNvCxnSpPr>
            <a:cxnSpLocks/>
            <a:stCxn id="6" idx="1"/>
            <a:endCxn id="36" idx="3"/>
          </p:cNvCxnSpPr>
          <p:nvPr/>
        </p:nvCxnSpPr>
        <p:spPr>
          <a:xfrm rot="10800000" flipV="1">
            <a:off x="2731061" y="4032250"/>
            <a:ext cx="638818" cy="34233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DAAF638-6A50-AC22-8C0A-C95FA3771EA6}"/>
              </a:ext>
            </a:extLst>
          </p:cNvPr>
          <p:cNvSpPr txBox="1"/>
          <p:nvPr/>
        </p:nvSpPr>
        <p:spPr>
          <a:xfrm>
            <a:off x="5928904" y="3237205"/>
            <a:ext cx="33723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test cases/scripts are run against the software application to identify any defects or issues</a:t>
            </a:r>
            <a:endParaRPr lang="en-US" dirty="0"/>
          </a:p>
        </p:txBody>
      </p:sp>
      <p:cxnSp>
        <p:nvCxnSpPr>
          <p:cNvPr id="44" name="Curved Connector 43">
            <a:extLst>
              <a:ext uri="{FF2B5EF4-FFF2-40B4-BE49-F238E27FC236}">
                <a16:creationId xmlns:a16="http://schemas.microsoft.com/office/drawing/2014/main" id="{CB4C23BF-1265-C5A1-85FF-1D160F01809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643852" y="3975869"/>
            <a:ext cx="821120" cy="62317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FF46533-9EB6-D0F7-4FC2-9F2658C2BE78}"/>
              </a:ext>
            </a:extLst>
          </p:cNvPr>
          <p:cNvSpPr txBox="1"/>
          <p:nvPr/>
        </p:nvSpPr>
        <p:spPr>
          <a:xfrm>
            <a:off x="1437022" y="5452810"/>
            <a:ext cx="3032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273239"/>
                </a:solidFill>
                <a:effectLst/>
                <a:latin typeface="Nunito" pitchFamily="2" charset="77"/>
              </a:rPr>
              <a:t>all testing-related activities are completed and documented</a:t>
            </a:r>
            <a:endParaRPr lang="en-US" dirty="0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7382525D-D288-BA12-9343-E257BDEECFF8}"/>
              </a:ext>
            </a:extLst>
          </p:cNvPr>
          <p:cNvCxnSpPr>
            <a:cxnSpLocks/>
            <a:stCxn id="8" idx="1"/>
            <a:endCxn id="52" idx="3"/>
          </p:cNvCxnSpPr>
          <p:nvPr/>
        </p:nvCxnSpPr>
        <p:spPr>
          <a:xfrm rot="10800000" flipV="1">
            <a:off x="4469524" y="5195058"/>
            <a:ext cx="1002424" cy="519362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894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228424" y="555697"/>
            <a:ext cx="4362108" cy="577082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8B627-8F4D-9143-A76F-B08D1DE8E453}"/>
              </a:ext>
            </a:extLst>
          </p:cNvPr>
          <p:cNvSpPr txBox="1"/>
          <p:nvPr/>
        </p:nvSpPr>
        <p:spPr>
          <a:xfrm>
            <a:off x="1873807" y="1837652"/>
            <a:ext cx="457354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Identify customer needs and types of tests.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Gather details about requirements.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Prepare Requirement Traceability Matrix (RTM).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Identify test environment details.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Automation feasibility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A16C5-DB15-776E-B60E-1F265610DDFD}"/>
              </a:ext>
            </a:extLst>
          </p:cNvPr>
          <p:cNvSpPr txBox="1"/>
          <p:nvPr/>
        </p:nvSpPr>
        <p:spPr>
          <a:xfrm>
            <a:off x="1873807" y="3697894"/>
            <a:ext cx="4573543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Requirement Traceability Matrix (RTM).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Automation feasibility report (if applicable).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ADA86-74BD-5ABA-1748-55D56E718C07}"/>
              </a:ext>
            </a:extLst>
          </p:cNvPr>
          <p:cNvSpPr txBox="1"/>
          <p:nvPr/>
        </p:nvSpPr>
        <p:spPr>
          <a:xfrm>
            <a:off x="793213" y="5237222"/>
            <a:ext cx="34950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client requirements, 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acceptance criteria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intended product architecture to be documented.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751679D3-2B13-F30F-61ED-8D71851FA87B}"/>
              </a:ext>
            </a:extLst>
          </p:cNvPr>
          <p:cNvSpPr/>
          <p:nvPr/>
        </p:nvSpPr>
        <p:spPr>
          <a:xfrm>
            <a:off x="228424" y="3314980"/>
            <a:ext cx="1334530" cy="332510"/>
          </a:xfrm>
          <a:prstGeom prst="wedgeRectCallout">
            <a:avLst>
              <a:gd name="adj1" fmla="val 71200"/>
              <a:gd name="adj2" fmla="val 1383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05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AC9C3302-B818-C4A1-0C67-0FC57E12946C}"/>
              </a:ext>
            </a:extLst>
          </p:cNvPr>
          <p:cNvSpPr/>
          <p:nvPr/>
        </p:nvSpPr>
        <p:spPr>
          <a:xfrm>
            <a:off x="6660186" y="1671397"/>
            <a:ext cx="1334530" cy="332510"/>
          </a:xfrm>
          <a:prstGeom prst="wedgeRectCallout">
            <a:avLst>
              <a:gd name="adj1" fmla="val -66427"/>
              <a:gd name="adj2" fmla="val 14304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0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BBC1F-40D2-FC5D-4AB5-2B11975B2B34}"/>
              </a:ext>
            </a:extLst>
          </p:cNvPr>
          <p:cNvSpPr txBox="1"/>
          <p:nvPr/>
        </p:nvSpPr>
        <p:spPr>
          <a:xfrm>
            <a:off x="4718303" y="5237222"/>
            <a:ext cx="43153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aim for a requirement traceability matrix (RTM)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decision of automation.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2256E-3A20-F347-D1AC-9CD220C1D184}"/>
              </a:ext>
            </a:extLst>
          </p:cNvPr>
          <p:cNvSpPr txBox="1"/>
          <p:nvPr/>
        </p:nvSpPr>
        <p:spPr>
          <a:xfrm>
            <a:off x="793213" y="4929445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976D1-B6AA-5340-2EEC-D3FCBF1DF3D4}"/>
              </a:ext>
            </a:extLst>
          </p:cNvPr>
          <p:cNvSpPr txBox="1"/>
          <p:nvPr/>
        </p:nvSpPr>
        <p:spPr>
          <a:xfrm>
            <a:off x="4763656" y="4929445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6" name="Arrow: Chevron 10">
            <a:extLst>
              <a:ext uri="{FF2B5EF4-FFF2-40B4-BE49-F238E27FC236}">
                <a16:creationId xmlns:a16="http://schemas.microsoft.com/office/drawing/2014/main" id="{9BD46FC8-5CC9-04D5-D263-6E17C8E11407}"/>
              </a:ext>
            </a:extLst>
          </p:cNvPr>
          <p:cNvSpPr/>
          <p:nvPr/>
        </p:nvSpPr>
        <p:spPr>
          <a:xfrm rot="16200000">
            <a:off x="361609" y="4922129"/>
            <a:ext cx="332509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8" name="Arrow: Chevron 10">
            <a:extLst>
              <a:ext uri="{FF2B5EF4-FFF2-40B4-BE49-F238E27FC236}">
                <a16:creationId xmlns:a16="http://schemas.microsoft.com/office/drawing/2014/main" id="{12815A40-0FE3-F726-2BA8-51F6B4593CD7}"/>
              </a:ext>
            </a:extLst>
          </p:cNvPr>
          <p:cNvSpPr/>
          <p:nvPr/>
        </p:nvSpPr>
        <p:spPr>
          <a:xfrm rot="5400000">
            <a:off x="4330363" y="4963630"/>
            <a:ext cx="41551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0" name="Google Shape;375;p37">
            <a:extLst>
              <a:ext uri="{FF2B5EF4-FFF2-40B4-BE49-F238E27FC236}">
                <a16:creationId xmlns:a16="http://schemas.microsoft.com/office/drawing/2014/main" id="{0FD6778E-C303-232B-FDF3-EBA9D61D83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1" name="Google Shape;376;p37">
            <a:extLst>
              <a:ext uri="{FF2B5EF4-FFF2-40B4-BE49-F238E27FC236}">
                <a16:creationId xmlns:a16="http://schemas.microsoft.com/office/drawing/2014/main" id="{8185216D-848F-36A3-931D-8BF23B3A70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9833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2898-1663-B519-EBF4-DDE385C8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4AB8474-8269-4F67-3D2C-7D72715A2EB9}"/>
              </a:ext>
            </a:extLst>
          </p:cNvPr>
          <p:cNvSpPr txBox="1">
            <a:spLocks/>
          </p:cNvSpPr>
          <p:nvPr/>
        </p:nvSpPr>
        <p:spPr>
          <a:xfrm>
            <a:off x="228424" y="555697"/>
            <a:ext cx="4362108" cy="577082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0" name="Google Shape;375;p37">
            <a:extLst>
              <a:ext uri="{FF2B5EF4-FFF2-40B4-BE49-F238E27FC236}">
                <a16:creationId xmlns:a16="http://schemas.microsoft.com/office/drawing/2014/main" id="{1659475E-9A4E-F419-2576-D9B3BF6EDD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1" name="Google Shape;376;p37">
            <a:extLst>
              <a:ext uri="{FF2B5EF4-FFF2-40B4-BE49-F238E27FC236}">
                <a16:creationId xmlns:a16="http://schemas.microsoft.com/office/drawing/2014/main" id="{3A0BB682-B59E-22D5-F99E-BB43230092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32</a:t>
            </a:fld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8CA50-AF07-5BEB-937A-4A366D9427C1}"/>
              </a:ext>
            </a:extLst>
          </p:cNvPr>
          <p:cNvSpPr/>
          <p:nvPr/>
        </p:nvSpPr>
        <p:spPr>
          <a:xfrm>
            <a:off x="1946470" y="2153539"/>
            <a:ext cx="1546789" cy="3674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Epic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04ED95-C9F5-3987-99E9-0F4297BA1E29}"/>
              </a:ext>
            </a:extLst>
          </p:cNvPr>
          <p:cNvSpPr/>
          <p:nvPr/>
        </p:nvSpPr>
        <p:spPr>
          <a:xfrm>
            <a:off x="3064839" y="2878145"/>
            <a:ext cx="1546789" cy="3674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BA8183-EFFE-BB11-6BBD-DF67B049288E}"/>
              </a:ext>
            </a:extLst>
          </p:cNvPr>
          <p:cNvSpPr/>
          <p:nvPr/>
        </p:nvSpPr>
        <p:spPr>
          <a:xfrm>
            <a:off x="4439288" y="3612401"/>
            <a:ext cx="1546789" cy="3674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4DDC7-F3DD-7507-69DC-6031D1C50C06}"/>
              </a:ext>
            </a:extLst>
          </p:cNvPr>
          <p:cNvSpPr/>
          <p:nvPr/>
        </p:nvSpPr>
        <p:spPr>
          <a:xfrm>
            <a:off x="5547665" y="4346657"/>
            <a:ext cx="1546789" cy="3674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Task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5F20413-A5AE-2974-7D56-48C080CB1FB7}"/>
              </a:ext>
            </a:extLst>
          </p:cNvPr>
          <p:cNvCxnSpPr>
            <a:stCxn id="14" idx="2"/>
            <a:endCxn id="16" idx="1"/>
          </p:cNvCxnSpPr>
          <p:nvPr/>
        </p:nvCxnSpPr>
        <p:spPr>
          <a:xfrm rot="16200000" flipH="1">
            <a:off x="2621916" y="2618957"/>
            <a:ext cx="540872" cy="344974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72BA9EAB-332E-09C1-0CCF-4E14556B121A}"/>
              </a:ext>
            </a:extLst>
          </p:cNvPr>
          <p:cNvCxnSpPr>
            <a:cxnSpLocks/>
            <a:stCxn id="16" idx="2"/>
            <a:endCxn id="17" idx="1"/>
          </p:cNvCxnSpPr>
          <p:nvPr/>
        </p:nvCxnSpPr>
        <p:spPr>
          <a:xfrm rot="16200000" flipH="1">
            <a:off x="3863500" y="3220348"/>
            <a:ext cx="550522" cy="601054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9653D28D-0D5E-BC9E-7D29-EFD304D1BF24}"/>
              </a:ext>
            </a:extLst>
          </p:cNvPr>
          <p:cNvCxnSpPr>
            <a:cxnSpLocks/>
            <a:stCxn id="17" idx="2"/>
            <a:endCxn id="18" idx="1"/>
          </p:cNvCxnSpPr>
          <p:nvPr/>
        </p:nvCxnSpPr>
        <p:spPr>
          <a:xfrm rot="16200000" flipH="1">
            <a:off x="5104913" y="4087640"/>
            <a:ext cx="550522" cy="334982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F0EFEE-124E-997D-A23F-124D7194E0B5}"/>
              </a:ext>
            </a:extLst>
          </p:cNvPr>
          <p:cNvCxnSpPr/>
          <p:nvPr/>
        </p:nvCxnSpPr>
        <p:spPr>
          <a:xfrm>
            <a:off x="7195563" y="1985109"/>
            <a:ext cx="0" cy="1862983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CDF525F-5479-A7F3-4AC9-FD176E2D2C72}"/>
              </a:ext>
            </a:extLst>
          </p:cNvPr>
          <p:cNvSpPr txBox="1"/>
          <p:nvPr/>
        </p:nvSpPr>
        <p:spPr>
          <a:xfrm rot="5400000">
            <a:off x="6307784" y="2778100"/>
            <a:ext cx="2355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Requirement organization</a:t>
            </a: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1E3E1BA6-0B51-CBEF-9BBE-301D4CC43D68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47005" y="2529833"/>
            <a:ext cx="696009" cy="55223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8FB6334-32CA-7475-7449-E91577E65E62}"/>
              </a:ext>
            </a:extLst>
          </p:cNvPr>
          <p:cNvSpPr txBox="1"/>
          <p:nvPr/>
        </p:nvSpPr>
        <p:spPr>
          <a:xfrm>
            <a:off x="128156" y="3030799"/>
            <a:ext cx="27643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14313" indent="-214313" algn="just"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0" indent="0" algn="l">
              <a:buNone/>
            </a:pPr>
            <a:r>
              <a:rPr lang="en-AU" dirty="0"/>
              <a:t>represents the highest level of requirement, representing business initiatives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1B4BB-3FC1-A670-D35B-19C12D1676DB}"/>
              </a:ext>
            </a:extLst>
          </p:cNvPr>
          <p:cNvSpPr txBox="1"/>
          <p:nvPr/>
        </p:nvSpPr>
        <p:spPr>
          <a:xfrm>
            <a:off x="242729" y="4190155"/>
            <a:ext cx="375265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Font typeface="Arial" panose="020B0604020202020204" pitchFamily="34" charset="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 feature is a concrete, actionable item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Think of a feature as a smaller offshoot of its epic</a:t>
            </a:r>
            <a:endParaRPr lang="en-US" dirty="0"/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2E67E49E-BBD7-EE78-3F7E-AE0B40271FDD}"/>
              </a:ext>
            </a:extLst>
          </p:cNvPr>
          <p:cNvCxnSpPr>
            <a:cxnSpLocks/>
          </p:cNvCxnSpPr>
          <p:nvPr/>
        </p:nvCxnSpPr>
        <p:spPr>
          <a:xfrm rot="5400000">
            <a:off x="2562538" y="3376233"/>
            <a:ext cx="1036223" cy="72157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7D44FA2-E427-AA9E-2AEC-495197E48268}"/>
              </a:ext>
            </a:extLst>
          </p:cNvPr>
          <p:cNvSpPr txBox="1"/>
          <p:nvPr/>
        </p:nvSpPr>
        <p:spPr>
          <a:xfrm>
            <a:off x="1372873" y="5082874"/>
            <a:ext cx="3238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>
                <a:solidFill>
                  <a:srgbClr val="353535"/>
                </a:solidFill>
                <a:effectLst/>
                <a:latin typeface="Open Sans" panose="020B0606030504020204" pitchFamily="34" charset="0"/>
              </a:rPr>
              <a:t>Single, well-defined functionality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420347-3ED0-FFCA-8A3E-299F53CE7B2A}"/>
              </a:ext>
            </a:extLst>
          </p:cNvPr>
          <p:cNvSpPr txBox="1"/>
          <p:nvPr/>
        </p:nvSpPr>
        <p:spPr>
          <a:xfrm>
            <a:off x="1413463" y="5349511"/>
            <a:ext cx="2957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53535"/>
                </a:solidFill>
                <a:effectLst/>
                <a:latin typeface="Open Sans" panose="020B0606030504020204" pitchFamily="34" charset="0"/>
              </a:rPr>
              <a:t>Completed within one sprint</a:t>
            </a:r>
            <a:endParaRPr lang="en-US" dirty="0"/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7AFA1D28-DBE4-EA9E-AE28-E56B5031C705}"/>
              </a:ext>
            </a:extLst>
          </p:cNvPr>
          <p:cNvCxnSpPr>
            <a:cxnSpLocks/>
          </p:cNvCxnSpPr>
          <p:nvPr/>
        </p:nvCxnSpPr>
        <p:spPr>
          <a:xfrm rot="5400000">
            <a:off x="3743152" y="4198702"/>
            <a:ext cx="1036223" cy="721570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D943313-0D32-B41E-89E9-96A7108AEA6A}"/>
              </a:ext>
            </a:extLst>
          </p:cNvPr>
          <p:cNvSpPr txBox="1"/>
          <p:nvPr/>
        </p:nvSpPr>
        <p:spPr>
          <a:xfrm>
            <a:off x="5036951" y="5187337"/>
            <a:ext cx="2587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53535"/>
                </a:solidFill>
                <a:effectLst/>
                <a:latin typeface="Open Sans" panose="020B0606030504020204" pitchFamily="34" charset="0"/>
              </a:rPr>
              <a:t>Shown in your backlog</a:t>
            </a:r>
            <a:endParaRPr lang="en-US" dirty="0"/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D6B587A6-9C52-03D4-FF91-AD2D0999B442}"/>
              </a:ext>
            </a:extLst>
          </p:cNvPr>
          <p:cNvCxnSpPr>
            <a:cxnSpLocks/>
          </p:cNvCxnSpPr>
          <p:nvPr/>
        </p:nvCxnSpPr>
        <p:spPr>
          <a:xfrm rot="5400000">
            <a:off x="5608335" y="4749421"/>
            <a:ext cx="523220" cy="515786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496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430788" y="624353"/>
            <a:ext cx="1886743" cy="52112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FC5D8-1EB3-12DA-3D80-E05C0DE8CD12}"/>
              </a:ext>
            </a:extLst>
          </p:cNvPr>
          <p:cNvSpPr txBox="1"/>
          <p:nvPr/>
        </p:nvSpPr>
        <p:spPr>
          <a:xfrm>
            <a:off x="1281869" y="1720840"/>
            <a:ext cx="5655378" cy="12464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Preparation of test plan documents for all types of testing.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Selection of test tools.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effort estimation.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Resource planning and deciding roles and responsibilities.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Training requirement.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1DDC8D7B-8355-A634-57B9-8193E25927F5}"/>
              </a:ext>
            </a:extLst>
          </p:cNvPr>
          <p:cNvSpPr/>
          <p:nvPr/>
        </p:nvSpPr>
        <p:spPr>
          <a:xfrm>
            <a:off x="7402331" y="1632827"/>
            <a:ext cx="1334530" cy="332510"/>
          </a:xfrm>
          <a:prstGeom prst="wedgeRectCallout">
            <a:avLst>
              <a:gd name="adj1" fmla="val -82966"/>
              <a:gd name="adj2" fmla="val 22601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350" b="1" dirty="0">
              <a:solidFill>
                <a:schemeClr val="accent2"/>
              </a:solidFill>
              <a:latin typeface="open sans" panose="020B0606030504020204" pitchFamily="34" charset="0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E4564931-EBE6-524A-3885-E81C81B75EF1}"/>
              </a:ext>
            </a:extLst>
          </p:cNvPr>
          <p:cNvSpPr/>
          <p:nvPr/>
        </p:nvSpPr>
        <p:spPr>
          <a:xfrm>
            <a:off x="430788" y="3554999"/>
            <a:ext cx="1334530" cy="332510"/>
          </a:xfrm>
          <a:prstGeom prst="wedgeRectCallout">
            <a:avLst>
              <a:gd name="adj1" fmla="val 58206"/>
              <a:gd name="adj2" fmla="val 10274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350" b="1" dirty="0">
              <a:solidFill>
                <a:schemeClr val="accent2"/>
              </a:solidFill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0ACD-D013-6BB3-45CA-9A9AD91DB111}"/>
              </a:ext>
            </a:extLst>
          </p:cNvPr>
          <p:cNvSpPr txBox="1"/>
          <p:nvPr/>
        </p:nvSpPr>
        <p:spPr>
          <a:xfrm>
            <a:off x="1970658" y="3800081"/>
            <a:ext cx="4966587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fr-F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plan document.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fr-F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Effort estimation document.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C1250-7C69-F81D-285D-5FF80BC71F60}"/>
              </a:ext>
            </a:extLst>
          </p:cNvPr>
          <p:cNvSpPr txBox="1"/>
          <p:nvPr/>
        </p:nvSpPr>
        <p:spPr>
          <a:xfrm>
            <a:off x="817043" y="5309435"/>
            <a:ext cx="3037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Report the implemented test strategy.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AC7D-1A91-7373-3854-AA18325A3CF0}"/>
              </a:ext>
            </a:extLst>
          </p:cNvPr>
          <p:cNvSpPr txBox="1"/>
          <p:nvPr/>
        </p:nvSpPr>
        <p:spPr>
          <a:xfrm>
            <a:off x="4308992" y="5406165"/>
            <a:ext cx="4235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Testers should have approval on the test plan’s risks and costs.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0D32B-B7D0-E41F-DF2E-B2D15A8F65D3}"/>
              </a:ext>
            </a:extLst>
          </p:cNvPr>
          <p:cNvSpPr txBox="1"/>
          <p:nvPr/>
        </p:nvSpPr>
        <p:spPr>
          <a:xfrm>
            <a:off x="793213" y="4929445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8" name="Arrow: Chevron 10">
            <a:extLst>
              <a:ext uri="{FF2B5EF4-FFF2-40B4-BE49-F238E27FC236}">
                <a16:creationId xmlns:a16="http://schemas.microsoft.com/office/drawing/2014/main" id="{D1D38358-F456-281A-EBC1-0A50AB4CFBBB}"/>
              </a:ext>
            </a:extLst>
          </p:cNvPr>
          <p:cNvSpPr/>
          <p:nvPr/>
        </p:nvSpPr>
        <p:spPr>
          <a:xfrm rot="16200000">
            <a:off x="395728" y="4910209"/>
            <a:ext cx="307778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2E837-A3B6-D1A9-C0C8-A5735FB89DB3}"/>
              </a:ext>
            </a:extLst>
          </p:cNvPr>
          <p:cNvSpPr txBox="1"/>
          <p:nvPr/>
        </p:nvSpPr>
        <p:spPr>
          <a:xfrm>
            <a:off x="4347067" y="4929445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12" name="Arrow: Chevron 10">
            <a:extLst>
              <a:ext uri="{FF2B5EF4-FFF2-40B4-BE49-F238E27FC236}">
                <a16:creationId xmlns:a16="http://schemas.microsoft.com/office/drawing/2014/main" id="{B1F0D3A8-9AE7-3149-12F7-BE026DF5CC97}"/>
              </a:ext>
            </a:extLst>
          </p:cNvPr>
          <p:cNvSpPr/>
          <p:nvPr/>
        </p:nvSpPr>
        <p:spPr>
          <a:xfrm rot="5400000">
            <a:off x="3875400" y="4946316"/>
            <a:ext cx="37999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05B2B7C7-7181-C1BC-2FDB-B851E9775CA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BE2CE476-778A-4061-E2A6-D458A63612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4477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BB49-DA0D-237E-6473-E18BB80D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8F13253-5B87-AC5D-CB6A-126C861E2595}"/>
              </a:ext>
            </a:extLst>
          </p:cNvPr>
          <p:cNvSpPr txBox="1">
            <a:spLocks/>
          </p:cNvSpPr>
          <p:nvPr/>
        </p:nvSpPr>
        <p:spPr>
          <a:xfrm>
            <a:off x="430788" y="624353"/>
            <a:ext cx="3713922" cy="52112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Plan Attributes</a:t>
            </a: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08E3579A-A0F1-5D7D-3CB4-80E76A4632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32F7D87A-5916-C7B9-C40A-B6C3172F5E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34</a:t>
            </a:fld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AB548-D2F4-ADAB-5F75-53C3C2F024D4}"/>
              </a:ext>
            </a:extLst>
          </p:cNvPr>
          <p:cNvSpPr txBox="1"/>
          <p:nvPr/>
        </p:nvSpPr>
        <p:spPr>
          <a:xfrm>
            <a:off x="4446019" y="1982993"/>
            <a:ext cx="2174904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Backup/Mitigation Plan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264EC9-F8C7-E161-700B-6F6E88B73337}"/>
              </a:ext>
            </a:extLst>
          </p:cNvPr>
          <p:cNvSpPr txBox="1"/>
          <p:nvPr/>
        </p:nvSpPr>
        <p:spPr>
          <a:xfrm>
            <a:off x="3927456" y="3182618"/>
            <a:ext cx="2258173" cy="318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Role and Responsibility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790C9F-9434-F93A-B98B-17458E9B2F69}"/>
              </a:ext>
            </a:extLst>
          </p:cNvPr>
          <p:cNvSpPr txBox="1"/>
          <p:nvPr/>
        </p:nvSpPr>
        <p:spPr>
          <a:xfrm>
            <a:off x="2356006" y="3193438"/>
            <a:ext cx="10074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Schedule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BA2259-EC03-5D5E-5897-391D1E902F93}"/>
              </a:ext>
            </a:extLst>
          </p:cNvPr>
          <p:cNvSpPr txBox="1"/>
          <p:nvPr/>
        </p:nvSpPr>
        <p:spPr>
          <a:xfrm>
            <a:off x="1423782" y="3938152"/>
            <a:ext cx="1539759" cy="318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Defect Tracking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8FD12D-4FC3-F42A-9733-B3D3A6B06F8A}"/>
              </a:ext>
            </a:extLst>
          </p:cNvPr>
          <p:cNvSpPr txBox="1"/>
          <p:nvPr/>
        </p:nvSpPr>
        <p:spPr>
          <a:xfrm>
            <a:off x="3407723" y="3934892"/>
            <a:ext cx="1692068" cy="318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Test Environment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97110E-A237-4903-DE69-971FA50C6819}"/>
              </a:ext>
            </a:extLst>
          </p:cNvPr>
          <p:cNvSpPr txBox="1"/>
          <p:nvPr/>
        </p:nvSpPr>
        <p:spPr>
          <a:xfrm>
            <a:off x="2076302" y="1675216"/>
            <a:ext cx="11243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Objectives</a:t>
            </a:r>
            <a:endParaRPr lang="en-US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DF3CD4-77BC-0CF0-ECBA-62F857421C92}"/>
              </a:ext>
            </a:extLst>
          </p:cNvPr>
          <p:cNvSpPr txBox="1"/>
          <p:nvPr/>
        </p:nvSpPr>
        <p:spPr>
          <a:xfrm>
            <a:off x="2074424" y="1880361"/>
            <a:ext cx="1176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Scope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9520C9-4CAA-B6DB-0B16-DEC7D614F420}"/>
              </a:ext>
            </a:extLst>
          </p:cNvPr>
          <p:cNvSpPr txBox="1"/>
          <p:nvPr/>
        </p:nvSpPr>
        <p:spPr>
          <a:xfrm>
            <a:off x="2074423" y="2109803"/>
            <a:ext cx="1358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Methodology</a:t>
            </a:r>
            <a:endParaRPr 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6A3DDA-AA57-CF63-48DD-AA9753B8AD82}"/>
              </a:ext>
            </a:extLst>
          </p:cNvPr>
          <p:cNvSpPr txBox="1"/>
          <p:nvPr/>
        </p:nvSpPr>
        <p:spPr>
          <a:xfrm>
            <a:off x="2074424" y="2349044"/>
            <a:ext cx="1176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Approach</a:t>
            </a:r>
            <a:endParaRPr 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9411D-4B7A-554F-FF0D-D07C65BF61AB}"/>
              </a:ext>
            </a:extLst>
          </p:cNvPr>
          <p:cNvSpPr txBox="1"/>
          <p:nvPr/>
        </p:nvSpPr>
        <p:spPr>
          <a:xfrm>
            <a:off x="2064918" y="2571469"/>
            <a:ext cx="12626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Assumption</a:t>
            </a:r>
            <a:endParaRPr lang="en-US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C51EFF-E874-377A-BA80-5D3D0A5A8055}"/>
              </a:ext>
            </a:extLst>
          </p:cNvPr>
          <p:cNvSpPr txBox="1"/>
          <p:nvPr/>
        </p:nvSpPr>
        <p:spPr>
          <a:xfrm>
            <a:off x="4472351" y="1774007"/>
            <a:ext cx="619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Risk</a:t>
            </a:r>
            <a:endParaRPr lang="en-US" b="1" dirty="0"/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96155F7E-4DBF-C460-1D70-E6656A854547}"/>
              </a:ext>
            </a:extLst>
          </p:cNvPr>
          <p:cNvCxnSpPr>
            <a:cxnSpLocks/>
          </p:cNvCxnSpPr>
          <p:nvPr/>
        </p:nvCxnSpPr>
        <p:spPr>
          <a:xfrm flipH="1">
            <a:off x="5056543" y="2412187"/>
            <a:ext cx="464140" cy="753972"/>
          </a:xfrm>
          <a:prstGeom prst="curvedConnector4">
            <a:avLst>
              <a:gd name="adj1" fmla="val -49252"/>
              <a:gd name="adj2" fmla="val 6020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EF85239E-8AB0-4928-AD76-962D7AA018A4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2313843" y="3392256"/>
            <a:ext cx="425716" cy="66607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1CC32C2-C17A-E4F9-ABC9-CFD0906B8CCC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3363472" y="3342117"/>
            <a:ext cx="563984" cy="1082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2DE23FB-8B61-2B4D-3441-9E7190F8427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2963541" y="4094391"/>
            <a:ext cx="444182" cy="326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857C173-0779-E053-0D25-5C18996D2137}"/>
              </a:ext>
            </a:extLst>
          </p:cNvPr>
          <p:cNvCxnSpPr>
            <a:cxnSpLocks/>
            <a:stCxn id="22" idx="3"/>
            <a:endCxn id="197" idx="1"/>
          </p:cNvCxnSpPr>
          <p:nvPr/>
        </p:nvCxnSpPr>
        <p:spPr>
          <a:xfrm>
            <a:off x="5099791" y="4094391"/>
            <a:ext cx="346351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6ACEE87-F15D-A886-FA28-FD5363A14B70}"/>
              </a:ext>
            </a:extLst>
          </p:cNvPr>
          <p:cNvCxnSpPr>
            <a:cxnSpLocks/>
            <a:stCxn id="197" idx="2"/>
            <a:endCxn id="242" idx="0"/>
          </p:cNvCxnSpPr>
          <p:nvPr/>
        </p:nvCxnSpPr>
        <p:spPr>
          <a:xfrm rot="5400000">
            <a:off x="5674017" y="4247479"/>
            <a:ext cx="563251" cy="57607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290F39B4-0B98-6572-3662-19733ED46F33}"/>
              </a:ext>
            </a:extLst>
          </p:cNvPr>
          <p:cNvCxnSpPr>
            <a:cxnSpLocks/>
            <a:stCxn id="242" idx="1"/>
            <a:endCxn id="250" idx="3"/>
          </p:cNvCxnSpPr>
          <p:nvPr/>
        </p:nvCxnSpPr>
        <p:spPr>
          <a:xfrm flipH="1">
            <a:off x="4343782" y="4971030"/>
            <a:ext cx="476858" cy="4278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A3A4CC30-8196-21B9-7C60-E146BCB40F86}"/>
              </a:ext>
            </a:extLst>
          </p:cNvPr>
          <p:cNvCxnSpPr>
            <a:cxnSpLocks/>
            <a:stCxn id="250" idx="1"/>
            <a:endCxn id="255" idx="3"/>
          </p:cNvCxnSpPr>
          <p:nvPr/>
        </p:nvCxnSpPr>
        <p:spPr>
          <a:xfrm rot="10800000">
            <a:off x="2649852" y="4975308"/>
            <a:ext cx="436393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51F647F8-9B82-4E44-3DC9-B4D2C7F46AB6}"/>
              </a:ext>
            </a:extLst>
          </p:cNvPr>
          <p:cNvSpPr txBox="1"/>
          <p:nvPr/>
        </p:nvSpPr>
        <p:spPr>
          <a:xfrm>
            <a:off x="5446142" y="3934892"/>
            <a:ext cx="1595072" cy="318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AU" sz="14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DengXian Light" panose="02010600030101010101" pitchFamily="2" charset="-122"/>
                <a:cs typeface="Times New Roman" panose="02020603050405020304" pitchFamily="18" charset="0"/>
              </a:rPr>
              <a:t>Test Automation</a:t>
            </a:r>
            <a:endParaRPr lang="en-AU" sz="1800" b="1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lt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DA4DCC39-3576-A207-7B72-974CA3802679}"/>
              </a:ext>
            </a:extLst>
          </p:cNvPr>
          <p:cNvSpPr txBox="1"/>
          <p:nvPr/>
        </p:nvSpPr>
        <p:spPr>
          <a:xfrm>
            <a:off x="4820640" y="4817141"/>
            <a:ext cx="1693931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AU" b="1" dirty="0"/>
              <a:t>Effort Estimation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07036A95-586A-B79E-6CF9-A7267ECA3696}"/>
              </a:ext>
            </a:extLst>
          </p:cNvPr>
          <p:cNvSpPr txBox="1"/>
          <p:nvPr/>
        </p:nvSpPr>
        <p:spPr>
          <a:xfrm>
            <a:off x="3086244" y="4821419"/>
            <a:ext cx="1257538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AU" b="1" dirty="0"/>
              <a:t>Deliverables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AA258567-A385-01F5-D29C-9FA533FBEB73}"/>
              </a:ext>
            </a:extLst>
          </p:cNvPr>
          <p:cNvSpPr txBox="1"/>
          <p:nvPr/>
        </p:nvSpPr>
        <p:spPr>
          <a:xfrm>
            <a:off x="1632119" y="4821418"/>
            <a:ext cx="10177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Template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38408AA-FD75-8806-6F56-128CBC79C646}"/>
              </a:ext>
            </a:extLst>
          </p:cNvPr>
          <p:cNvCxnSpPr>
            <a:cxnSpLocks/>
          </p:cNvCxnSpPr>
          <p:nvPr/>
        </p:nvCxnSpPr>
        <p:spPr>
          <a:xfrm flipV="1">
            <a:off x="3408529" y="2150948"/>
            <a:ext cx="836127" cy="582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378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293933" y="533459"/>
            <a:ext cx="4105846" cy="52283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Case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4998A-1591-0A55-A5B4-C40F0F6132AA}"/>
              </a:ext>
            </a:extLst>
          </p:cNvPr>
          <p:cNvSpPr txBox="1"/>
          <p:nvPr/>
        </p:nvSpPr>
        <p:spPr>
          <a:xfrm>
            <a:off x="1862729" y="2002253"/>
            <a:ext cx="4971623" cy="7848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Creation of test cases and automation scripts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Review test cases and scripts.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Create test data (If Test Environment is available).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3EC28-B3E7-54B7-559C-2894B94696C9}"/>
              </a:ext>
            </a:extLst>
          </p:cNvPr>
          <p:cNvSpPr txBox="1"/>
          <p:nvPr/>
        </p:nvSpPr>
        <p:spPr>
          <a:xfrm>
            <a:off x="1862729" y="3456047"/>
            <a:ext cx="4971622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cases/scripts.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data.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08178045-BC7E-F69D-9C7C-01C7899919FD}"/>
              </a:ext>
            </a:extLst>
          </p:cNvPr>
          <p:cNvSpPr/>
          <p:nvPr/>
        </p:nvSpPr>
        <p:spPr>
          <a:xfrm>
            <a:off x="7166218" y="1804225"/>
            <a:ext cx="1410224" cy="332510"/>
          </a:xfrm>
          <a:prstGeom prst="wedgeRectCallout">
            <a:avLst>
              <a:gd name="adj1" fmla="val -67609"/>
              <a:gd name="adj2" fmla="val 17386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050" dirty="0"/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EC2232F6-8AC1-BDF8-B7B7-5504ACDA2B46}"/>
              </a:ext>
            </a:extLst>
          </p:cNvPr>
          <p:cNvSpPr/>
          <p:nvPr/>
        </p:nvSpPr>
        <p:spPr>
          <a:xfrm>
            <a:off x="91751" y="3289792"/>
            <a:ext cx="1334530" cy="332510"/>
          </a:xfrm>
          <a:prstGeom prst="wedgeRectCallout">
            <a:avLst>
              <a:gd name="adj1" fmla="val 84785"/>
              <a:gd name="adj2" fmla="val 10511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14D3C-6A3E-2266-BF00-C514E648C465}"/>
              </a:ext>
            </a:extLst>
          </p:cNvPr>
          <p:cNvSpPr txBox="1"/>
          <p:nvPr/>
        </p:nvSpPr>
        <p:spPr>
          <a:xfrm>
            <a:off x="818846" y="5067615"/>
            <a:ext cx="3122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Approval of timelines to execute the test plan.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A13DC-559F-277B-2E44-D3A8CCD16F16}"/>
              </a:ext>
            </a:extLst>
          </p:cNvPr>
          <p:cNvSpPr txBox="1"/>
          <p:nvPr/>
        </p:nvSpPr>
        <p:spPr>
          <a:xfrm>
            <a:off x="4708650" y="5075310"/>
            <a:ext cx="4398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Approval of test cases and automation scripts.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43834D-C862-45E5-7074-9D34BD658AB7}"/>
              </a:ext>
            </a:extLst>
          </p:cNvPr>
          <p:cNvSpPr txBox="1"/>
          <p:nvPr/>
        </p:nvSpPr>
        <p:spPr>
          <a:xfrm>
            <a:off x="889317" y="4724839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8" name="Arrow: Chevron 10">
            <a:extLst>
              <a:ext uri="{FF2B5EF4-FFF2-40B4-BE49-F238E27FC236}">
                <a16:creationId xmlns:a16="http://schemas.microsoft.com/office/drawing/2014/main" id="{4F2FA9BE-01DA-A273-7264-818E9112BC67}"/>
              </a:ext>
            </a:extLst>
          </p:cNvPr>
          <p:cNvSpPr/>
          <p:nvPr/>
        </p:nvSpPr>
        <p:spPr>
          <a:xfrm rot="16200000">
            <a:off x="491832" y="4705603"/>
            <a:ext cx="307778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E205-5565-43EA-DCC8-321F8830942E}"/>
              </a:ext>
            </a:extLst>
          </p:cNvPr>
          <p:cNvSpPr txBox="1"/>
          <p:nvPr/>
        </p:nvSpPr>
        <p:spPr>
          <a:xfrm>
            <a:off x="4708650" y="4724839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12" name="Arrow: Chevron 10">
            <a:extLst>
              <a:ext uri="{FF2B5EF4-FFF2-40B4-BE49-F238E27FC236}">
                <a16:creationId xmlns:a16="http://schemas.microsoft.com/office/drawing/2014/main" id="{ED388C16-C621-FDBB-2AF5-0A1E8D21C79E}"/>
              </a:ext>
            </a:extLst>
          </p:cNvPr>
          <p:cNvSpPr/>
          <p:nvPr/>
        </p:nvSpPr>
        <p:spPr>
          <a:xfrm rot="5400000">
            <a:off x="4317753" y="4712190"/>
            <a:ext cx="37999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66C49902-A5FF-94B7-0399-620032B73B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0731D1A7-2A79-A450-9DD3-AE6A0375CD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4245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EC9B2-A4B5-66BF-F286-FC18BD8CB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53AAE7-6E26-4696-A7EA-E1F56205BD75}"/>
              </a:ext>
            </a:extLst>
          </p:cNvPr>
          <p:cNvSpPr txBox="1">
            <a:spLocks/>
          </p:cNvSpPr>
          <p:nvPr/>
        </p:nvSpPr>
        <p:spPr>
          <a:xfrm>
            <a:off x="293933" y="533459"/>
            <a:ext cx="4105846" cy="52283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Case Development</a:t>
            </a: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CB32A443-8990-E23E-2B6A-BEF95FED145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C519E612-C728-76AA-8270-12DE469C2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36</a:t>
            </a:fld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FB4E15-D468-6A5C-10BE-7253B2A3D245}"/>
              </a:ext>
            </a:extLst>
          </p:cNvPr>
          <p:cNvSpPr/>
          <p:nvPr/>
        </p:nvSpPr>
        <p:spPr>
          <a:xfrm>
            <a:off x="477720" y="2088083"/>
            <a:ext cx="1546789" cy="3674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Epic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B12622-54D1-CEBC-77A7-DC9FCBE190ED}"/>
              </a:ext>
            </a:extLst>
          </p:cNvPr>
          <p:cNvSpPr/>
          <p:nvPr/>
        </p:nvSpPr>
        <p:spPr>
          <a:xfrm>
            <a:off x="877114" y="2888477"/>
            <a:ext cx="1546789" cy="3674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Feature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8262D3-6CF3-5AA0-9CA5-46767FAF811E}"/>
              </a:ext>
            </a:extLst>
          </p:cNvPr>
          <p:cNvSpPr/>
          <p:nvPr/>
        </p:nvSpPr>
        <p:spPr>
          <a:xfrm>
            <a:off x="1411091" y="3504207"/>
            <a:ext cx="1546789" cy="36746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C28A9AD8-3747-4022-CFC7-CF855D950F33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468934" y="2664032"/>
            <a:ext cx="616660" cy="199699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9391D1F-3718-5D5D-96F1-E9CCE13CA15D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1050452" y="3327303"/>
            <a:ext cx="454288" cy="266989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EAE6FE5-D5C7-3453-4405-6F16574D369E}"/>
              </a:ext>
            </a:extLst>
          </p:cNvPr>
          <p:cNvSpPr/>
          <p:nvPr/>
        </p:nvSpPr>
        <p:spPr>
          <a:xfrm>
            <a:off x="4826105" y="2088083"/>
            <a:ext cx="1546789" cy="367469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plan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C1F4FAE-B6C1-AE25-D258-F9B61C4EE28B}"/>
              </a:ext>
            </a:extLst>
          </p:cNvPr>
          <p:cNvSpPr/>
          <p:nvPr/>
        </p:nvSpPr>
        <p:spPr>
          <a:xfrm>
            <a:off x="5303245" y="2866184"/>
            <a:ext cx="1546789" cy="367469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 Suit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A583B7-E109-1877-F081-7354BD8E1198}"/>
              </a:ext>
            </a:extLst>
          </p:cNvPr>
          <p:cNvSpPr/>
          <p:nvPr/>
        </p:nvSpPr>
        <p:spPr>
          <a:xfrm>
            <a:off x="5968394" y="3505137"/>
            <a:ext cx="1546789" cy="367469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Case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7446762A-EA57-9A5B-3E7D-FABE29C459CC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4871175" y="2617849"/>
            <a:ext cx="594368" cy="269772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9DFCF32-3485-D368-84B6-9CF587505569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5567483" y="3287961"/>
            <a:ext cx="432926" cy="368895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1284473-5D73-1FD8-6322-D7D15198F364}"/>
              </a:ext>
            </a:extLst>
          </p:cNvPr>
          <p:cNvSpPr txBox="1"/>
          <p:nvPr/>
        </p:nvSpPr>
        <p:spPr>
          <a:xfrm>
            <a:off x="2639073" y="4986209"/>
            <a:ext cx="3253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Behavior Driven Development, BDD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5A53CF-8F87-4F22-AD9A-9E9FCDB85356}"/>
              </a:ext>
            </a:extLst>
          </p:cNvPr>
          <p:cNvCxnSpPr/>
          <p:nvPr/>
        </p:nvCxnSpPr>
        <p:spPr>
          <a:xfrm>
            <a:off x="3228230" y="3687332"/>
            <a:ext cx="2075015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wn Arrow 7">
            <a:extLst>
              <a:ext uri="{FF2B5EF4-FFF2-40B4-BE49-F238E27FC236}">
                <a16:creationId xmlns:a16="http://schemas.microsoft.com/office/drawing/2014/main" id="{DA62652D-818B-1E2D-E464-C599D2B84697}"/>
              </a:ext>
            </a:extLst>
          </p:cNvPr>
          <p:cNvSpPr/>
          <p:nvPr/>
        </p:nvSpPr>
        <p:spPr>
          <a:xfrm rot="19434572">
            <a:off x="2602299" y="4325981"/>
            <a:ext cx="711161" cy="590285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BC087851-B6DB-F08B-122A-91D3F27E980D}"/>
              </a:ext>
            </a:extLst>
          </p:cNvPr>
          <p:cNvSpPr/>
          <p:nvPr/>
        </p:nvSpPr>
        <p:spPr>
          <a:xfrm rot="12734006">
            <a:off x="4994969" y="4296929"/>
            <a:ext cx="627495" cy="565514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27C76-36E4-4EEA-1561-8E7FB9E5376B}"/>
              </a:ext>
            </a:extLst>
          </p:cNvPr>
          <p:cNvSpPr txBox="1"/>
          <p:nvPr/>
        </p:nvSpPr>
        <p:spPr>
          <a:xfrm>
            <a:off x="2784272" y="5293986"/>
            <a:ext cx="50379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 algn="just"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algn="l"/>
            <a:r>
              <a:rPr lang="en-AU" dirty="0"/>
              <a:t>as an evolution of Test-Driven Development (TDD)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689960-1F5A-1B27-79AB-45C9A25E3FAB}"/>
              </a:ext>
            </a:extLst>
          </p:cNvPr>
          <p:cNvSpPr txBox="1"/>
          <p:nvPr/>
        </p:nvSpPr>
        <p:spPr>
          <a:xfrm>
            <a:off x="2747472" y="5572425"/>
            <a:ext cx="59892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r>
              <a:rPr lang="en-AU" dirty="0"/>
              <a:t>BDD emphasizes testing the overall </a:t>
            </a:r>
            <a:r>
              <a:rPr lang="en-AU" dirty="0" err="1"/>
              <a:t>behavior</a:t>
            </a:r>
            <a:r>
              <a:rPr lang="en-AU" dirty="0"/>
              <a:t> of the application from a higher, user-oriented perspective. 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BA3B54-4C04-F62C-30FC-9440AF68BEED}"/>
              </a:ext>
            </a:extLst>
          </p:cNvPr>
          <p:cNvSpPr txBox="1"/>
          <p:nvPr/>
        </p:nvSpPr>
        <p:spPr>
          <a:xfrm>
            <a:off x="2784271" y="6025488"/>
            <a:ext cx="5952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r>
              <a:rPr lang="en-AU" dirty="0"/>
              <a:t>Defining the </a:t>
            </a:r>
            <a:r>
              <a:rPr lang="en-AU" dirty="0" err="1"/>
              <a:t>behavior</a:t>
            </a:r>
            <a:r>
              <a:rPr lang="en-AU" dirty="0"/>
              <a:t> of an application in plain, human-readable language in </a:t>
            </a:r>
            <a:r>
              <a:rPr lang="en-AU" b="1" dirty="0"/>
              <a:t>“Given-When-Then”</a:t>
            </a:r>
            <a:r>
              <a:rPr lang="en-AU" dirty="0"/>
              <a:t> format – Gerkin.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06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C865-E8EA-030D-984D-4E602F90C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6498182-C6A0-85A3-C7F3-06F6ABC23F1C}"/>
              </a:ext>
            </a:extLst>
          </p:cNvPr>
          <p:cNvSpPr txBox="1">
            <a:spLocks/>
          </p:cNvSpPr>
          <p:nvPr/>
        </p:nvSpPr>
        <p:spPr>
          <a:xfrm>
            <a:off x="293933" y="533459"/>
            <a:ext cx="4105846" cy="52283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Sample Test Case</a:t>
            </a: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C4E357FB-EACA-91F6-FC55-3CD397B8CA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30BA563E-CB2E-1474-5F12-25C81AFF7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37</a:t>
            </a:fld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A62DF-9308-8D73-617C-1D45EACC11FC}"/>
              </a:ext>
            </a:extLst>
          </p:cNvPr>
          <p:cNvSpPr txBox="1"/>
          <p:nvPr/>
        </p:nvSpPr>
        <p:spPr>
          <a:xfrm>
            <a:off x="833113" y="1551563"/>
            <a:ext cx="790359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Feature:</a:t>
            </a:r>
            <a:r>
              <a:rPr lang="en-AU" b="1" i="0" dirty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 Login</a:t>
            </a:r>
            <a:endParaRPr lang="en-AU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As a new user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I want to log in to the website 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So that the system can remember my data</a:t>
            </a:r>
          </a:p>
          <a:p>
            <a:pPr algn="l" latinLnBrk="0">
              <a:buNone/>
            </a:pPr>
            <a:endParaRPr lang="en-AU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Scenario #1: Successful Log in to the website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Given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brings up the login pop-up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clicks Sign-in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enters a valid email </a:t>
            </a:r>
            <a:r>
              <a:rPr lang="en-AU" b="0" i="0" dirty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&lt;email&gt;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password </a:t>
            </a:r>
            <a:r>
              <a:rPr lang="en-AU" b="0" i="0" dirty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&lt;password&gt;</a:t>
            </a:r>
            <a:endParaRPr lang="en-AU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clicks Sign-in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should be successfully logged into the site</a:t>
            </a:r>
          </a:p>
          <a:p>
            <a:pPr algn="l" latinLnBrk="0">
              <a:buNone/>
            </a:pPr>
            <a:endParaRPr lang="en-AU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Scenario #2: Unsuccessful Log in to the website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Given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brings up the login pop-up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enters an invalid email </a:t>
            </a:r>
            <a:r>
              <a:rPr lang="en-AU" b="0" i="0" dirty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&lt;email&gt;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password </a:t>
            </a:r>
            <a:r>
              <a:rPr lang="en-AU" b="0" i="0" dirty="0">
                <a:solidFill>
                  <a:srgbClr val="EE9900"/>
                </a:solidFill>
                <a:effectLst/>
                <a:latin typeface="Consolas" panose="020B0609020204030204" pitchFamily="49" charset="0"/>
              </a:rPr>
              <a:t>&lt;password&gt;</a:t>
            </a:r>
            <a:endParaRPr lang="en-AU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clicks Sign-in</a:t>
            </a:r>
          </a:p>
          <a:p>
            <a:pPr algn="l" latinLnBrk="0">
              <a:buNone/>
            </a:pP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AU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user should not be successfully logged into the site</a:t>
            </a:r>
          </a:p>
        </p:txBody>
      </p:sp>
    </p:spTree>
    <p:extLst>
      <p:ext uri="{BB962C8B-B14F-4D97-AF65-F5344CB8AC3E}">
        <p14:creationId xmlns:p14="http://schemas.microsoft.com/office/powerpoint/2010/main" val="3922705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462699" y="517442"/>
            <a:ext cx="4242909" cy="57826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Environment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723C0-6C72-026B-2526-89268A8E045B}"/>
              </a:ext>
            </a:extLst>
          </p:cNvPr>
          <p:cNvSpPr txBox="1"/>
          <p:nvPr/>
        </p:nvSpPr>
        <p:spPr>
          <a:xfrm>
            <a:off x="1558404" y="2021448"/>
            <a:ext cx="5811976" cy="12464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keep the test environment ready by understanding the required architecture, environment setup, and preparing a hardware/software requirement list.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Setup test environment and test data.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Perform a smoke test on the build.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814BA-7F8F-6444-2515-81CFA25D99BA}"/>
              </a:ext>
            </a:extLst>
          </p:cNvPr>
          <p:cNvSpPr txBox="1"/>
          <p:nvPr/>
        </p:nvSpPr>
        <p:spPr>
          <a:xfrm>
            <a:off x="1558404" y="3590058"/>
            <a:ext cx="5811976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Environment ready with the prepared test data.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Smoke Test Results.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6A0123-0BEA-C769-3BA3-973F08863A78}"/>
              </a:ext>
            </a:extLst>
          </p:cNvPr>
          <p:cNvSpPr txBox="1"/>
          <p:nvPr/>
        </p:nvSpPr>
        <p:spPr>
          <a:xfrm>
            <a:off x="825306" y="5168178"/>
            <a:ext cx="3297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Have a defined system design and project architecture.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92ED9E-284A-4160-BEFD-123B6F1BA44A}"/>
              </a:ext>
            </a:extLst>
          </p:cNvPr>
          <p:cNvSpPr txBox="1"/>
          <p:nvPr/>
        </p:nvSpPr>
        <p:spPr>
          <a:xfrm>
            <a:off x="4616861" y="5168178"/>
            <a:ext cx="4243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Have a working QA/Testing environment set up to run test cases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4F5A80C8-53CE-0667-9A57-169001D1EF57}"/>
              </a:ext>
            </a:extLst>
          </p:cNvPr>
          <p:cNvSpPr/>
          <p:nvPr/>
        </p:nvSpPr>
        <p:spPr>
          <a:xfrm>
            <a:off x="7457510" y="1688938"/>
            <a:ext cx="1334530" cy="332510"/>
          </a:xfrm>
          <a:prstGeom prst="wedgeRectCallout">
            <a:avLst>
              <a:gd name="adj1" fmla="val -62883"/>
              <a:gd name="adj2" fmla="val 17623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05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6CAA985-22B0-BED0-8E41-665BEC7BA249}"/>
              </a:ext>
            </a:extLst>
          </p:cNvPr>
          <p:cNvSpPr/>
          <p:nvPr/>
        </p:nvSpPr>
        <p:spPr>
          <a:xfrm>
            <a:off x="-88603" y="3257548"/>
            <a:ext cx="1334530" cy="332510"/>
          </a:xfrm>
          <a:prstGeom prst="wedgeRectCallout">
            <a:avLst>
              <a:gd name="adj1" fmla="val 73563"/>
              <a:gd name="adj2" fmla="val 119336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DD2969-E34A-1808-6F8A-A6490C5E4D4D}"/>
              </a:ext>
            </a:extLst>
          </p:cNvPr>
          <p:cNvSpPr txBox="1"/>
          <p:nvPr/>
        </p:nvSpPr>
        <p:spPr>
          <a:xfrm>
            <a:off x="825305" y="4774023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6" name="Arrow: Chevron 10">
            <a:extLst>
              <a:ext uri="{FF2B5EF4-FFF2-40B4-BE49-F238E27FC236}">
                <a16:creationId xmlns:a16="http://schemas.microsoft.com/office/drawing/2014/main" id="{E8F08B60-B894-2ACD-4918-9CC59F7BC2A1}"/>
              </a:ext>
            </a:extLst>
          </p:cNvPr>
          <p:cNvSpPr/>
          <p:nvPr/>
        </p:nvSpPr>
        <p:spPr>
          <a:xfrm rot="16200000">
            <a:off x="427820" y="4754787"/>
            <a:ext cx="307778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71846-CB99-C710-1C35-F7DB102163BD}"/>
              </a:ext>
            </a:extLst>
          </p:cNvPr>
          <p:cNvSpPr txBox="1"/>
          <p:nvPr/>
        </p:nvSpPr>
        <p:spPr>
          <a:xfrm>
            <a:off x="4644638" y="4774023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12" name="Arrow: Chevron 10">
            <a:extLst>
              <a:ext uri="{FF2B5EF4-FFF2-40B4-BE49-F238E27FC236}">
                <a16:creationId xmlns:a16="http://schemas.microsoft.com/office/drawing/2014/main" id="{24AE751A-6A98-F1CF-A025-7E2450898315}"/>
              </a:ext>
            </a:extLst>
          </p:cNvPr>
          <p:cNvSpPr/>
          <p:nvPr/>
        </p:nvSpPr>
        <p:spPr>
          <a:xfrm rot="5400000">
            <a:off x="4253741" y="4761374"/>
            <a:ext cx="37999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77CB5BE9-4524-B0E1-FD47-4DE9783239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ACB9D35A-3C0F-678B-0D04-B9E678E6A5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688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465738" y="566784"/>
            <a:ext cx="3310103" cy="565876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17169-E912-903F-10B6-782A1A529DFC}"/>
              </a:ext>
            </a:extLst>
          </p:cNvPr>
          <p:cNvSpPr txBox="1"/>
          <p:nvPr/>
        </p:nvSpPr>
        <p:spPr>
          <a:xfrm>
            <a:off x="1498380" y="1798117"/>
            <a:ext cx="5262258" cy="12464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Execute test cases according to plan.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Generate a test report and log defects for failed cases.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Map defects to test cases in RTM.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Perform Retest.</a:t>
            </a:r>
          </a:p>
          <a:p>
            <a:pPr marL="257175" indent="-257175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Track the defects to Complete the test.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FFEB4-8B43-9EB5-72AC-B99A73A8735B}"/>
              </a:ext>
            </a:extLst>
          </p:cNvPr>
          <p:cNvSpPr txBox="1"/>
          <p:nvPr/>
        </p:nvSpPr>
        <p:spPr>
          <a:xfrm>
            <a:off x="1498380" y="3586627"/>
            <a:ext cx="5262258" cy="7848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Completed RTM with the execution status.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cases updated with a pass or fail results.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Defect reports.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C5753-85F8-0212-C714-2DE8DE16152E}"/>
              </a:ext>
            </a:extLst>
          </p:cNvPr>
          <p:cNvSpPr txBox="1"/>
          <p:nvPr/>
        </p:nvSpPr>
        <p:spPr>
          <a:xfrm>
            <a:off x="882460" y="5217510"/>
            <a:ext cx="355553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Have all the previous steps completed, especially the exit criteria.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0E699-1C44-F594-31EA-55F1F91EBEEF}"/>
              </a:ext>
            </a:extLst>
          </p:cNvPr>
          <p:cNvSpPr txBox="1"/>
          <p:nvPr/>
        </p:nvSpPr>
        <p:spPr>
          <a:xfrm>
            <a:off x="4910366" y="5269706"/>
            <a:ext cx="385357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Document test execution and results to report them back.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97B3978-4659-F44C-11BF-F0565DD338AD}"/>
              </a:ext>
            </a:extLst>
          </p:cNvPr>
          <p:cNvSpPr/>
          <p:nvPr/>
        </p:nvSpPr>
        <p:spPr>
          <a:xfrm>
            <a:off x="6992427" y="1770580"/>
            <a:ext cx="1334530" cy="332510"/>
          </a:xfrm>
          <a:prstGeom prst="wedgeRectCallout">
            <a:avLst>
              <a:gd name="adj1" fmla="val -68790"/>
              <a:gd name="adj2" fmla="val 15489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05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E00D9CC-0714-F8C7-014E-A1076F78A60B}"/>
              </a:ext>
            </a:extLst>
          </p:cNvPr>
          <p:cNvSpPr/>
          <p:nvPr/>
        </p:nvSpPr>
        <p:spPr>
          <a:xfrm>
            <a:off x="103753" y="3429000"/>
            <a:ext cx="1334530" cy="332510"/>
          </a:xfrm>
          <a:prstGeom prst="wedgeRectCallout">
            <a:avLst>
              <a:gd name="adj1" fmla="val 48755"/>
              <a:gd name="adj2" fmla="val 140673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D932C7-8100-16E6-CC24-71E63958A62C}"/>
              </a:ext>
            </a:extLst>
          </p:cNvPr>
          <p:cNvSpPr txBox="1"/>
          <p:nvPr/>
        </p:nvSpPr>
        <p:spPr>
          <a:xfrm>
            <a:off x="882459" y="4876161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6" name="Arrow: Chevron 10">
            <a:extLst>
              <a:ext uri="{FF2B5EF4-FFF2-40B4-BE49-F238E27FC236}">
                <a16:creationId xmlns:a16="http://schemas.microsoft.com/office/drawing/2014/main" id="{D53AD08C-B4E8-023D-9C9D-D4DF7D2638B8}"/>
              </a:ext>
            </a:extLst>
          </p:cNvPr>
          <p:cNvSpPr/>
          <p:nvPr/>
        </p:nvSpPr>
        <p:spPr>
          <a:xfrm rot="16200000">
            <a:off x="484974" y="4856925"/>
            <a:ext cx="307778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B47D0-D0DA-4A59-CDF3-66A7FF405ECB}"/>
              </a:ext>
            </a:extLst>
          </p:cNvPr>
          <p:cNvSpPr txBox="1"/>
          <p:nvPr/>
        </p:nvSpPr>
        <p:spPr>
          <a:xfrm>
            <a:off x="4859447" y="4876161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12" name="Arrow: Chevron 10">
            <a:extLst>
              <a:ext uri="{FF2B5EF4-FFF2-40B4-BE49-F238E27FC236}">
                <a16:creationId xmlns:a16="http://schemas.microsoft.com/office/drawing/2014/main" id="{EFF17ECB-DD9A-164A-DE0A-811D74809C64}"/>
              </a:ext>
            </a:extLst>
          </p:cNvPr>
          <p:cNvSpPr/>
          <p:nvPr/>
        </p:nvSpPr>
        <p:spPr>
          <a:xfrm rot="5400000">
            <a:off x="4381709" y="4893031"/>
            <a:ext cx="37999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2B922901-628E-C2E8-0290-3A3E68544F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2DE581C5-136B-4A12-9198-4A1F14EE9B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6668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0991-1EF4-1EE6-7122-413E9BC0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37D9352-73E2-F5B5-80A2-9D0DDD16C74D}"/>
              </a:ext>
            </a:extLst>
          </p:cNvPr>
          <p:cNvSpPr txBox="1">
            <a:spLocks/>
          </p:cNvSpPr>
          <p:nvPr/>
        </p:nvSpPr>
        <p:spPr>
          <a:xfrm>
            <a:off x="465738" y="566784"/>
            <a:ext cx="4627555" cy="565876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Automation Strategy</a:t>
            </a: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020C887B-FA18-C1B6-13AB-BC68922449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5B37D393-CE4B-2411-1549-7CDE03C118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40</a:t>
            </a:fld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16663-8DA3-1710-EE2C-A73E32AA7441}"/>
              </a:ext>
            </a:extLst>
          </p:cNvPr>
          <p:cNvSpPr txBox="1"/>
          <p:nvPr/>
        </p:nvSpPr>
        <p:spPr>
          <a:xfrm>
            <a:off x="901491" y="1671141"/>
            <a:ext cx="5920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 algn="just">
              <a:buFont typeface="Arial" panose="020B0604020202020204" pitchFamily="34" charset="0"/>
              <a:buChar char="•"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r>
              <a:rPr lang="en-AU" sz="1600" dirty="0"/>
              <a:t>Reducing manual testing, hence reducing quality costs  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3D625-2207-457A-F764-90D38E8FF027}"/>
              </a:ext>
            </a:extLst>
          </p:cNvPr>
          <p:cNvSpPr txBox="1"/>
          <p:nvPr/>
        </p:nvSpPr>
        <p:spPr>
          <a:xfrm>
            <a:off x="901491" y="1975125"/>
            <a:ext cx="6143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Font typeface="Arial" panose="020B0604020202020204" pitchFamily="34" charset="0"/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Minimizing maintenance and increasing portability of tests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049CF-4DDA-EA02-C5DC-F228B2F12788}"/>
              </a:ext>
            </a:extLst>
          </p:cNvPr>
          <p:cNvSpPr txBox="1"/>
          <p:nvPr/>
        </p:nvSpPr>
        <p:spPr>
          <a:xfrm>
            <a:off x="2558678" y="3669095"/>
            <a:ext cx="54005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Font typeface="Arial" panose="020B0604020202020204" pitchFamily="34" charset="0"/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Select right tool and test framework:</a:t>
            </a:r>
          </a:p>
          <a:p>
            <a:r>
              <a:rPr lang="en-AU" sz="1600" dirty="0"/>
              <a:t>      -  UI: Selenium, Playrgiht, etc.</a:t>
            </a:r>
          </a:p>
          <a:p>
            <a:r>
              <a:rPr lang="en-AU" sz="1600" dirty="0"/>
              <a:t>      - API: Postman, HttpClient, Karate, etc.</a:t>
            </a:r>
          </a:p>
          <a:p>
            <a:r>
              <a:rPr lang="en-AU" sz="1600" dirty="0"/>
              <a:t>      - Mobile: Apium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41696-BEF3-8D7E-841E-DF7C1F598F2A}"/>
              </a:ext>
            </a:extLst>
          </p:cNvPr>
          <p:cNvSpPr txBox="1"/>
          <p:nvPr/>
        </p:nvSpPr>
        <p:spPr>
          <a:xfrm>
            <a:off x="1726403" y="2773604"/>
            <a:ext cx="45877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Font typeface="Arial" panose="020B0604020202020204" pitchFamily="34" charset="0"/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provision test environment – Staging, UAT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0C587D-3BAE-6C20-F4E4-42B4139D2DEC}"/>
              </a:ext>
            </a:extLst>
          </p:cNvPr>
          <p:cNvSpPr txBox="1"/>
          <p:nvPr/>
        </p:nvSpPr>
        <p:spPr>
          <a:xfrm>
            <a:off x="3139543" y="5303250"/>
            <a:ext cx="3521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Font typeface="Arial" panose="020B0604020202020204" pitchFamily="34" charset="0"/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Automated by CI/CD pipeline</a:t>
            </a:r>
            <a:endParaRPr lang="en-US" sz="1600" dirty="0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BB1D31B0-6F87-0ACC-56BF-482C0B3BA9F1}"/>
              </a:ext>
            </a:extLst>
          </p:cNvPr>
          <p:cNvSpPr/>
          <p:nvPr/>
        </p:nvSpPr>
        <p:spPr>
          <a:xfrm>
            <a:off x="1773274" y="2382674"/>
            <a:ext cx="1280160" cy="276726"/>
          </a:xfrm>
          <a:prstGeom prst="downArrow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320474B4-65FD-15B1-FF3D-9D8F5240B024}"/>
              </a:ext>
            </a:extLst>
          </p:cNvPr>
          <p:cNvSpPr/>
          <p:nvPr/>
        </p:nvSpPr>
        <p:spPr>
          <a:xfrm>
            <a:off x="2749224" y="3201828"/>
            <a:ext cx="1280160" cy="276726"/>
          </a:xfrm>
          <a:prstGeom prst="downArrow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6AC35266-476C-2F61-1922-333B77D1D194}"/>
              </a:ext>
            </a:extLst>
          </p:cNvPr>
          <p:cNvSpPr/>
          <p:nvPr/>
        </p:nvSpPr>
        <p:spPr>
          <a:xfrm>
            <a:off x="3389304" y="4836064"/>
            <a:ext cx="1280160" cy="276726"/>
          </a:xfrm>
          <a:prstGeom prst="downArrow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219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483814" y="617439"/>
            <a:ext cx="2409158" cy="525561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None/>
              <a:defRPr sz="3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marL="742950" indent="-28575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defTabSz="457200" eaLnBrk="1" latinLnBrk="0" hangingPunct="1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Test 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6E4DA-E83E-ADC6-5E7F-94795D55A5B9}"/>
              </a:ext>
            </a:extLst>
          </p:cNvPr>
          <p:cNvSpPr txBox="1"/>
          <p:nvPr/>
        </p:nvSpPr>
        <p:spPr>
          <a:xfrm>
            <a:off x="1723636" y="1802306"/>
            <a:ext cx="5591564" cy="17081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Evaluate test cycle closure completion criteria based on Time, Test coverage, Cost, Software, Critical Business Objectives, and Quality metrics.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Prepare test metrics based on the above parameters.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Prepare Test closure report.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result analysis to find out the defect distribution by type and severity.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F6558-C091-FFC8-AEEF-A91F13B3BCAB}"/>
              </a:ext>
            </a:extLst>
          </p:cNvPr>
          <p:cNvSpPr txBox="1"/>
          <p:nvPr/>
        </p:nvSpPr>
        <p:spPr>
          <a:xfrm>
            <a:off x="1802570" y="3885408"/>
            <a:ext cx="5914651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Closure report.</a:t>
            </a:r>
          </a:p>
          <a:p>
            <a:pPr marL="214313" indent="-214313" algn="just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metrics.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1D091-3D5A-F9A1-E4BD-BAE9D2AC9667}"/>
              </a:ext>
            </a:extLst>
          </p:cNvPr>
          <p:cNvSpPr txBox="1"/>
          <p:nvPr/>
        </p:nvSpPr>
        <p:spPr>
          <a:xfrm>
            <a:off x="594173" y="5183241"/>
            <a:ext cx="4225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Test results and logging from the previous phases..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38773-86DA-3148-F88D-9080C321B426}"/>
              </a:ext>
            </a:extLst>
          </p:cNvPr>
          <p:cNvSpPr txBox="1"/>
          <p:nvPr/>
        </p:nvSpPr>
        <p:spPr>
          <a:xfrm>
            <a:off x="4777350" y="5183241"/>
            <a:ext cx="40592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Delivered planned deliverables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</a:rPr>
              <a:t>approved test closure test summary report</a:t>
            </a:r>
            <a:endParaRPr lang="en-A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6A076E6E-0758-19B7-3578-FA2587DCFDEA}"/>
              </a:ext>
            </a:extLst>
          </p:cNvPr>
          <p:cNvSpPr/>
          <p:nvPr/>
        </p:nvSpPr>
        <p:spPr>
          <a:xfrm>
            <a:off x="7502042" y="1557746"/>
            <a:ext cx="1334530" cy="332510"/>
          </a:xfrm>
          <a:prstGeom prst="wedgeRectCallout">
            <a:avLst>
              <a:gd name="adj1" fmla="val -66427"/>
              <a:gd name="adj2" fmla="val 150155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Activities</a:t>
            </a:r>
            <a:endParaRPr lang="en-AU" sz="105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192312E4-F5BC-3ABB-9E7A-3B659DFAF119}"/>
              </a:ext>
            </a:extLst>
          </p:cNvPr>
          <p:cNvSpPr/>
          <p:nvPr/>
        </p:nvSpPr>
        <p:spPr>
          <a:xfrm>
            <a:off x="92249" y="3694548"/>
            <a:ext cx="1334530" cy="332510"/>
          </a:xfrm>
          <a:prstGeom prst="wedgeRectCallout">
            <a:avLst>
              <a:gd name="adj1" fmla="val 70019"/>
              <a:gd name="adj2" fmla="val 109854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>
                <a:solidFill>
                  <a:schemeClr val="accent2"/>
                </a:solidFill>
                <a:latin typeface="open sans" panose="020B0606030504020204" pitchFamily="34" charset="0"/>
              </a:rPr>
              <a:t>Deliverables</a:t>
            </a:r>
            <a:endParaRPr lang="en-AU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59C8B-EFF2-C763-2D72-03294DC6362E}"/>
              </a:ext>
            </a:extLst>
          </p:cNvPr>
          <p:cNvSpPr txBox="1"/>
          <p:nvPr/>
        </p:nvSpPr>
        <p:spPr>
          <a:xfrm>
            <a:off x="882459" y="4876161"/>
            <a:ext cx="1477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Entry Criteria</a:t>
            </a:r>
            <a:endParaRPr lang="en-AU" dirty="0"/>
          </a:p>
        </p:txBody>
      </p:sp>
      <p:sp>
        <p:nvSpPr>
          <p:cNvPr id="6" name="Arrow: Chevron 10">
            <a:extLst>
              <a:ext uri="{FF2B5EF4-FFF2-40B4-BE49-F238E27FC236}">
                <a16:creationId xmlns:a16="http://schemas.microsoft.com/office/drawing/2014/main" id="{439E0BFA-AA20-7442-1418-A2BEFB0A1504}"/>
              </a:ext>
            </a:extLst>
          </p:cNvPr>
          <p:cNvSpPr/>
          <p:nvPr/>
        </p:nvSpPr>
        <p:spPr>
          <a:xfrm rot="16200000">
            <a:off x="484974" y="4856925"/>
            <a:ext cx="307778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A880A-34FC-2B9B-900C-4C1508FD94A4}"/>
              </a:ext>
            </a:extLst>
          </p:cNvPr>
          <p:cNvSpPr txBox="1"/>
          <p:nvPr/>
        </p:nvSpPr>
        <p:spPr>
          <a:xfrm>
            <a:off x="4859447" y="4876161"/>
            <a:ext cx="151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Exit Criteria</a:t>
            </a:r>
            <a:endParaRPr lang="en-AU" dirty="0"/>
          </a:p>
        </p:txBody>
      </p:sp>
      <p:sp>
        <p:nvSpPr>
          <p:cNvPr id="12" name="Arrow: Chevron 10">
            <a:extLst>
              <a:ext uri="{FF2B5EF4-FFF2-40B4-BE49-F238E27FC236}">
                <a16:creationId xmlns:a16="http://schemas.microsoft.com/office/drawing/2014/main" id="{1331A213-1C8D-F78E-57E9-4A46C7F6C171}"/>
              </a:ext>
            </a:extLst>
          </p:cNvPr>
          <p:cNvSpPr/>
          <p:nvPr/>
        </p:nvSpPr>
        <p:spPr>
          <a:xfrm rot="5400000">
            <a:off x="4455278" y="4905182"/>
            <a:ext cx="379990" cy="346249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050">
              <a:solidFill>
                <a:schemeClr val="tx1"/>
              </a:solidFill>
            </a:endParaRPr>
          </a:p>
        </p:txBody>
      </p:sp>
      <p:sp>
        <p:nvSpPr>
          <p:cNvPr id="13" name="Google Shape;375;p37">
            <a:extLst>
              <a:ext uri="{FF2B5EF4-FFF2-40B4-BE49-F238E27FC236}">
                <a16:creationId xmlns:a16="http://schemas.microsoft.com/office/drawing/2014/main" id="{1BAAEF1E-0E6A-D309-97ED-AAB5F9B94F4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77720" y="6379182"/>
            <a:ext cx="15018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14" name="Google Shape;376;p37">
            <a:extLst>
              <a:ext uri="{FF2B5EF4-FFF2-40B4-BE49-F238E27FC236}">
                <a16:creationId xmlns:a16="http://schemas.microsoft.com/office/drawing/2014/main" id="{C097F8DE-88B2-574B-A8A8-DE3A5E492D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Page </a:t>
            </a:r>
            <a:fld id="{00000000-1234-1234-1234-123412341234}" type="slidenum">
              <a:rPr lang="en-US"/>
              <a:t>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1930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1">
          <a:extLst>
            <a:ext uri="{FF2B5EF4-FFF2-40B4-BE49-F238E27FC236}">
              <a16:creationId xmlns:a16="http://schemas.microsoft.com/office/drawing/2014/main" id="{47C9646F-123C-8AFB-4FFD-180F4C56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>
            <a:extLst>
              <a:ext uri="{FF2B5EF4-FFF2-40B4-BE49-F238E27FC236}">
                <a16:creationId xmlns:a16="http://schemas.microsoft.com/office/drawing/2014/main" id="{4C968D80-8D76-8C53-BD33-AA4A4B93E1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0375" y="6473779"/>
            <a:ext cx="1158240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University of Sydney</a:t>
            </a:r>
            <a:endParaRPr/>
          </a:p>
        </p:txBody>
      </p:sp>
      <p:sp>
        <p:nvSpPr>
          <p:cNvPr id="383" name="Google Shape;383;p38">
            <a:extLst>
              <a:ext uri="{FF2B5EF4-FFF2-40B4-BE49-F238E27FC236}">
                <a16:creationId xmlns:a16="http://schemas.microsoft.com/office/drawing/2014/main" id="{91DCDFDD-FBCB-87D4-4F9F-66430D987B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66176" y="6473779"/>
            <a:ext cx="470534" cy="1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Page </a:t>
            </a: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384" name="Google Shape;384;p38">
            <a:extLst>
              <a:ext uri="{FF2B5EF4-FFF2-40B4-BE49-F238E27FC236}">
                <a16:creationId xmlns:a16="http://schemas.microsoft.com/office/drawing/2014/main" id="{731331D0-C25D-41FB-E8B8-FC14C274079C}"/>
              </a:ext>
            </a:extLst>
          </p:cNvPr>
          <p:cNvSpPr txBox="1"/>
          <p:nvPr/>
        </p:nvSpPr>
        <p:spPr>
          <a:xfrm>
            <a:off x="2938786" y="2499299"/>
            <a:ext cx="2625090" cy="70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E646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905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6462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13322</TotalTime>
  <Words>2174</Words>
  <Application>Microsoft Macintosh PowerPoint</Application>
  <PresentationFormat>On-screen Show (4:3)</PresentationFormat>
  <Paragraphs>443</Paragraphs>
  <Slides>42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Consolas</vt:lpstr>
      <vt:lpstr>Google Sans</vt:lpstr>
      <vt:lpstr>Inter</vt:lpstr>
      <vt:lpstr>Nunito</vt:lpstr>
      <vt:lpstr>Open Sans</vt:lpstr>
      <vt:lpstr>Open Sans</vt:lpstr>
      <vt:lpstr>Times New Roman</vt:lpstr>
      <vt:lpstr>Office Theme</vt:lpstr>
      <vt:lpstr>Office Theme</vt:lpstr>
      <vt:lpstr>ELEC5619 – Object Oriented Application Frameworks</vt:lpstr>
      <vt:lpstr>Authentication vs Authorization</vt:lpstr>
      <vt:lpstr>JWT Structure &amp; Usage </vt:lpstr>
      <vt:lpstr>OAuth2 Authorization Code Flow </vt:lpstr>
      <vt:lpstr>Implementing Authentication &amp; Authorization </vt:lpstr>
      <vt:lpstr>Securing REST APIs </vt:lpstr>
      <vt:lpstr>Configuring JWT Resource Server</vt:lpstr>
      <vt:lpstr>Contents</vt:lpstr>
      <vt:lpstr>Testing Strategies in OOAD</vt:lpstr>
      <vt:lpstr>SLDC V-Model</vt:lpstr>
      <vt:lpstr>Unit Testing</vt:lpstr>
      <vt:lpstr>Unit Testing</vt:lpstr>
      <vt:lpstr>Unit Test Case Best Practices</vt:lpstr>
      <vt:lpstr>Unit testing framework for Spring boot</vt:lpstr>
      <vt:lpstr>Service Testing</vt:lpstr>
      <vt:lpstr>Functional test primarily</vt:lpstr>
      <vt:lpstr>Integration Testing</vt:lpstr>
      <vt:lpstr>Why Integration Testing?</vt:lpstr>
      <vt:lpstr>Why Integration Testing?</vt:lpstr>
      <vt:lpstr>Integration Testing</vt:lpstr>
      <vt:lpstr>System /End to End Testing</vt:lpstr>
      <vt:lpstr>Types of System Testing</vt:lpstr>
      <vt:lpstr>User Acceptance Testing</vt:lpstr>
      <vt:lpstr>User Acceptance Testing</vt:lpstr>
      <vt:lpstr>Testing Methodology </vt:lpstr>
      <vt:lpstr>Test pyramid</vt:lpstr>
      <vt:lpstr>PowerPoint Presentation</vt:lpstr>
      <vt:lpstr>A Typical Use Case – Contract Testing</vt:lpstr>
      <vt:lpstr>Software Test life cycle - STLC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Songqing Gu</cp:lastModifiedBy>
  <cp:revision>422</cp:revision>
  <dcterms:modified xsi:type="dcterms:W3CDTF">2025-10-06T14:09:26Z</dcterms:modified>
</cp:coreProperties>
</file>